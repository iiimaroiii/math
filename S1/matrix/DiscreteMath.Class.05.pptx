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4"/>
  </p:sldMasterIdLst>
  <p:notesMasterIdLst>
    <p:notesMasterId r:id="rId15"/>
  </p:notesMasterIdLst>
  <p:handoutMasterIdLst>
    <p:handoutMasterId r:id="rId16"/>
  </p:handoutMasterIdLst>
  <p:sldIdLst>
    <p:sldId id="2146848185" r:id="rId5"/>
    <p:sldId id="2146848248" r:id="rId6"/>
    <p:sldId id="2146848260" r:id="rId7"/>
    <p:sldId id="2146848261" r:id="rId8"/>
    <p:sldId id="2146848262" r:id="rId9"/>
    <p:sldId id="2146848264" r:id="rId10"/>
    <p:sldId id="2146848293" r:id="rId11"/>
    <p:sldId id="2146848263" r:id="rId12"/>
    <p:sldId id="2146848265" r:id="rId13"/>
    <p:sldId id="2146848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zhalika Levandouskaya" initials="AL" lastIdx="43" clrIdx="0">
    <p:extLst>
      <p:ext uri="{19B8F6BF-5375-455C-9EA6-DF929625EA0E}">
        <p15:presenceInfo xmlns:p15="http://schemas.microsoft.com/office/powerpoint/2012/main" userId="S::Anzhalika_Levandouskaya@epam.com::92adfee3-e19f-494c-b48e-2a057e813db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5EAB"/>
    <a:srgbClr val="ACDCDD"/>
    <a:srgbClr val="F6F6F6"/>
    <a:srgbClr val="FF8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90A05-6C39-5E20-45CE-F75F53743097}" v="3" dt="2025-10-29T17:55:39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aveta Anisenka" userId="S::lizaveta.anisenka@stud.esdc.lt::73e7d378-a881-4b2a-981e-55ddbb947092" providerId="AD" clId="Web-{F1590A05-6C39-5E20-45CE-F75F53743097}"/>
    <pc:docChg chg="sldOrd">
      <pc:chgData name="Lizaveta Anisenka" userId="S::lizaveta.anisenka@stud.esdc.lt::73e7d378-a881-4b2a-981e-55ddbb947092" providerId="AD" clId="Web-{F1590A05-6C39-5E20-45CE-F75F53743097}" dt="2025-10-29T17:55:39.902" v="2"/>
      <pc:docMkLst>
        <pc:docMk/>
      </pc:docMkLst>
      <pc:sldChg chg="ord">
        <pc:chgData name="Lizaveta Anisenka" userId="S::lizaveta.anisenka@stud.esdc.lt::73e7d378-a881-4b2a-981e-55ddbb947092" providerId="AD" clId="Web-{F1590A05-6C39-5E20-45CE-F75F53743097}" dt="2025-10-29T17:55:19.553" v="0"/>
        <pc:sldMkLst>
          <pc:docMk/>
          <pc:sldMk cId="1228163570" sldId="2146848264"/>
        </pc:sldMkLst>
      </pc:sldChg>
      <pc:sldChg chg="ord">
        <pc:chgData name="Lizaveta Anisenka" userId="S::lizaveta.anisenka@stud.esdc.lt::73e7d378-a881-4b2a-981e-55ddbb947092" providerId="AD" clId="Web-{F1590A05-6C39-5E20-45CE-F75F53743097}" dt="2025-10-29T17:55:39.902" v="2"/>
        <pc:sldMkLst>
          <pc:docMk/>
          <pc:sldMk cId="3662683166" sldId="21468482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C3EA8B-9D86-508A-5619-990F69220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66C21-3E35-8E34-2B93-D6474FDAE6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F65F5-4296-0146-B260-D72DA98714BE}" type="datetimeFigureOut">
              <a:rPr lang="en-UA" smtClean="0"/>
              <a:t>10/29/2025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9A2BB-792A-4280-F38A-B88426761C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1C3C9-B78A-DF42-0EBA-E83B01D5EE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20728-0225-194E-8550-38F500DE678F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12507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DA449-81D0-4C65-80FA-E84926361CC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5C3A5-A464-4897-B884-BB9B3518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7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accent5">
                <a:lumMod val="50000"/>
              </a:schemeClr>
            </a:solidFill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72213" y="4479572"/>
            <a:ext cx="1447573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Kiril Kuzmin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3882" y="5228068"/>
            <a:ext cx="206458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October 4, 2022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7977" y="2564931"/>
            <a:ext cx="5509290" cy="923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/>
              <a:t>Presentation title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27" y="261914"/>
            <a:ext cx="3059722" cy="84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62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65200"/>
          </a:xfrm>
        </p:spPr>
        <p:txBody>
          <a:bodyPr/>
          <a:lstStyle>
            <a:lvl1pPr>
              <a:defRPr b="0">
                <a:solidFill>
                  <a:srgbClr val="002060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530928"/>
            <a:ext cx="4151745" cy="3349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57200" indent="-457200">
              <a:buFont typeface="Wingdings" panose="05000000000000000000" pitchFamily="2" charset="2"/>
              <a:buChar char="q"/>
              <a:defRPr sz="2800" b="0">
                <a:latin typeface="+mn-lt"/>
                <a:cs typeface="Calibri Light" panose="020F0302020204030204" pitchFamily="34" charset="0"/>
              </a:defRPr>
            </a:lvl1pPr>
            <a:lvl2pPr marL="685800" indent="-228600"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</a:lstStyle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bullet 1</a:t>
            </a:r>
          </a:p>
          <a:p>
            <a:pPr lvl="1"/>
            <a:r>
              <a:rPr lang="en-US" dirty="0"/>
              <a:t>bullet 2</a:t>
            </a:r>
          </a:p>
          <a:p>
            <a:pPr lvl="2"/>
            <a:r>
              <a:rPr lang="en-US" dirty="0"/>
              <a:t>sub-bullet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2848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208811"/>
            <a:ext cx="10672618" cy="42406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It’s the main text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B803D9-382F-46B0-1898-DAB0489BED10}"/>
              </a:ext>
            </a:extLst>
          </p:cNvPr>
          <p:cNvGrpSpPr/>
          <p:nvPr userDrawn="1"/>
        </p:nvGrpSpPr>
        <p:grpSpPr>
          <a:xfrm>
            <a:off x="375920" y="5990240"/>
            <a:ext cx="1532080" cy="756000"/>
            <a:chOff x="375920" y="5990240"/>
            <a:chExt cx="1532080" cy="756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8B4834-F2C3-2E22-51AA-388AA2623E68}"/>
                </a:ext>
              </a:extLst>
            </p:cNvPr>
            <p:cNvSpPr/>
            <p:nvPr/>
          </p:nvSpPr>
          <p:spPr bwMode="auto">
            <a:xfrm>
              <a:off x="375920" y="6421120"/>
              <a:ext cx="721360" cy="225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A" sz="240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9376AE24-2430-37FB-BC15-311846F8E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-378" t="18514" r="-378" b="28589"/>
            <a:stretch/>
          </p:blipFill>
          <p:spPr>
            <a:xfrm>
              <a:off x="468000" y="5990240"/>
              <a:ext cx="1440000" cy="75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952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827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312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DA4CC9-A36D-5784-E61E-95FC2EE150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67084" y="5574795"/>
            <a:ext cx="1447573" cy="369332"/>
          </a:xfrm>
        </p:spPr>
        <p:txBody>
          <a:bodyPr/>
          <a:lstStyle/>
          <a:p>
            <a:r>
              <a:rPr lang="en-US" dirty="0"/>
              <a:t>Kiril Kuzmin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F8F0F-2F26-DF07-F833-11986E040B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8579" y="6260456"/>
            <a:ext cx="2064585" cy="246221"/>
          </a:xfrm>
        </p:spPr>
        <p:txBody>
          <a:bodyPr/>
          <a:lstStyle/>
          <a:p>
            <a:r>
              <a:rPr lang="en-US" dirty="0"/>
              <a:t>October 31, 2022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F5B1A-F7F9-8B55-6073-27FBE2630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083" y="3101457"/>
            <a:ext cx="6867833" cy="1477328"/>
          </a:xfrm>
        </p:spPr>
        <p:txBody>
          <a:bodyPr/>
          <a:lstStyle/>
          <a:p>
            <a:r>
              <a:rPr lang="en-US" sz="4800" dirty="0"/>
              <a:t>Inverse of a matrix and systems of linear equations</a:t>
            </a:r>
          </a:p>
        </p:txBody>
      </p:sp>
    </p:spTree>
    <p:extLst>
      <p:ext uri="{BB962C8B-B14F-4D97-AF65-F5344CB8AC3E}">
        <p14:creationId xmlns:p14="http://schemas.microsoft.com/office/powerpoint/2010/main" val="128734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7537-3257-C287-6922-D613B6AF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Обратная матрица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04DEED-C693-44DC-FB32-5725ADB9829C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0908890" cy="4955203"/>
              </a:xfrm>
            </p:spPr>
            <p:txBody>
              <a:bodyPr/>
              <a:lstStyle/>
              <a:p>
                <a:r>
                  <a:rPr lang="ru-RU" dirty="0"/>
                  <a:t>Матрица, обратная к матрице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, обозначается</a:t>
                </a:r>
                <a:r>
                  <a:rPr lang="ru-RU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ru-RU" dirty="0">
                  <a:solidFill>
                    <a:srgbClr val="7030A0"/>
                  </a:solidFill>
                </a:endParaRPr>
              </a:p>
              <a:p>
                <a:r>
                  <a:rPr lang="ru-RU" dirty="0"/>
                  <a:t>Определена только для </a:t>
                </a:r>
              </a:p>
              <a:p>
                <a:pPr lvl="1"/>
                <a:r>
                  <a:rPr lang="ru-RU" dirty="0"/>
                  <a:t>квадратных </a:t>
                </a:r>
              </a:p>
              <a:p>
                <a:pPr lvl="1"/>
                <a:r>
                  <a:rPr lang="ru-RU" i="1" dirty="0">
                    <a:solidFill>
                      <a:srgbClr val="89608E"/>
                    </a:solidFill>
                  </a:rPr>
                  <a:t>невырожденных</a:t>
                </a:r>
                <a:r>
                  <a:rPr lang="ru-RU" dirty="0"/>
                  <a:t> матриц (тех, у кого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ru-RU" dirty="0"/>
                  <a:t>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den>
                    </m:f>
                    <m:d>
                      <m:d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04DEED-C693-44DC-FB32-5725ADB982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0908890" cy="4955203"/>
              </a:xfrm>
              <a:blipFill>
                <a:blip r:embed="rId2"/>
                <a:stretch>
                  <a:fillRect l="-1788" t="-1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C2421EBB-DAA8-F799-6A32-555945FC69EF}"/>
              </a:ext>
            </a:extLst>
          </p:cNvPr>
          <p:cNvGrpSpPr/>
          <p:nvPr/>
        </p:nvGrpSpPr>
        <p:grpSpPr>
          <a:xfrm>
            <a:off x="6361471" y="4513006"/>
            <a:ext cx="4434348" cy="814066"/>
            <a:chOff x="6345683" y="4513006"/>
            <a:chExt cx="3010101" cy="8140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A9DC106D-6085-E8B0-CF5A-9160B37104DF}"/>
                    </a:ext>
                  </a:extLst>
                </p:cNvPr>
                <p:cNvSpPr/>
                <p:nvPr/>
              </p:nvSpPr>
              <p:spPr bwMode="auto">
                <a:xfrm>
                  <a:off x="6997963" y="4513006"/>
                  <a:ext cx="2357821" cy="814066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4"/>
                </a:fontRef>
              </p:style>
              <p:txBody>
                <a:bodyPr wrap="square" lIns="0" tIns="0" rIns="0" bIns="0" rtlCol="0" anchor="ctr"/>
                <a:lstStyle/>
                <a:p>
                  <a:pPr algn="ctr"/>
                  <a:r>
                    <a:rPr lang="ru-RU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Матрица</a:t>
                  </a:r>
                  <a:r>
                    <a:rPr lang="en-US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,</a:t>
                  </a:r>
                  <a:r>
                    <a:rPr lang="ru-RU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союзная к матрице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745C97"/>
                          </a:solidFill>
                          <a:latin typeface="Cambria Math" panose="02040503050406030204" pitchFamily="18" charset="0"/>
                          <a:ea typeface="Human Sans ExtraLight" charset="0"/>
                          <a:cs typeface="Human Sans ExtraLight" charset="0"/>
                        </a:rPr>
                        <m:t>𝐴</m:t>
                      </m:r>
                    </m:oMath>
                  </a14:m>
                  <a:r>
                    <a:rPr lang="en-US" sz="2000" i="1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</a:t>
                  </a:r>
                  <a:r>
                    <a:rPr lang="en-US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(</a:t>
                  </a:r>
                  <a:r>
                    <a:rPr lang="en-US" sz="2000" dirty="0">
                      <a:solidFill>
                        <a:srgbClr val="00B05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matrix of cofactors</a:t>
                  </a:r>
                  <a:r>
                    <a:rPr lang="en-US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) </a:t>
                  </a:r>
                </a:p>
              </p:txBody>
            </p:sp>
          </mc:Choice>
          <mc:Fallback xmlns=""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A9DC106D-6085-E8B0-CF5A-9160B37104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97963" y="4513006"/>
                  <a:ext cx="2357821" cy="814066"/>
                </a:xfrm>
                <a:prstGeom prst="roundRect">
                  <a:avLst/>
                </a:prstGeom>
                <a:blipFill>
                  <a:blip r:embed="rId3"/>
                  <a:stretch>
                    <a:fillRect l="-2273" r="-175" b="-5882"/>
                  </a:stretch>
                </a:blipFill>
                <a:ln w="9525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Connector: Curved 4">
              <a:extLst>
                <a:ext uri="{FF2B5EF4-FFF2-40B4-BE49-F238E27FC236}">
                  <a16:creationId xmlns:a16="http://schemas.microsoft.com/office/drawing/2014/main" id="{F9D89CFF-49C6-27C6-C5C0-24B6F1C59D35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 rot="10800000" flipV="1">
              <a:off x="6345683" y="4920039"/>
              <a:ext cx="652280" cy="281226"/>
            </a:xfrm>
            <a:prstGeom prst="curvedConnector3">
              <a:avLst>
                <a:gd name="adj1" fmla="val 50000"/>
              </a:avLst>
            </a:prstGeom>
            <a:ln w="63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B2CEC8-D785-3D77-F1BD-2111F392D510}"/>
              </a:ext>
            </a:extLst>
          </p:cNvPr>
          <p:cNvGrpSpPr/>
          <p:nvPr/>
        </p:nvGrpSpPr>
        <p:grpSpPr>
          <a:xfrm>
            <a:off x="6361472" y="5327071"/>
            <a:ext cx="4576916" cy="986563"/>
            <a:chOff x="6248906" y="4340509"/>
            <a:chExt cx="3106878" cy="98656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AB4F060-AF77-E9A8-9A58-9006D1CC813B}"/>
                </a:ext>
              </a:extLst>
            </p:cNvPr>
            <p:cNvSpPr/>
            <p:nvPr/>
          </p:nvSpPr>
          <p:spPr bwMode="auto">
            <a:xfrm>
              <a:off x="6997963" y="4513006"/>
              <a:ext cx="2357821" cy="814066"/>
            </a:xfrm>
            <a:prstGeom prst="roundRect">
              <a:avLst/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ru-RU" sz="2000" dirty="0">
                  <a:solidFill>
                    <a:srgbClr val="745C97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rPr>
                <a:t>Транспонированная матрица алгебраических дополнений</a:t>
              </a:r>
              <a:endParaRPr lang="en-US" sz="2000" dirty="0">
                <a:solidFill>
                  <a:srgbClr val="745C97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499A977F-88E4-F6D6-B900-2A8067F6AE2F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rot="10800000">
              <a:off x="6248906" y="4340509"/>
              <a:ext cx="749058" cy="579530"/>
            </a:xfrm>
            <a:prstGeom prst="curvedConnector3">
              <a:avLst>
                <a:gd name="adj1" fmla="val 50000"/>
              </a:avLst>
            </a:prstGeom>
            <a:ln w="63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522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7D676-FCA8-EBD7-28A2-6C9211969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Системы линейных уравнений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E18CFF-7E30-92AB-9432-2E76A0F6E690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545691" y="1422400"/>
                <a:ext cx="10938386" cy="3611823"/>
              </a:xfrm>
            </p:spPr>
            <p:txBody>
              <a:bodyPr/>
              <a:lstStyle/>
              <a:p>
                <a:r>
                  <a:rPr lang="ru-RU" dirty="0"/>
                  <a:t>Система из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уравнений с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неизвестными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  <a:br>
                  <a:rPr lang="ru-RU" dirty="0"/>
                </a:b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ru-RU" dirty="0"/>
                  <a:t>Матричный вид</a:t>
                </a:r>
                <a:r>
                  <a:rPr lang="en-US" dirty="0"/>
                  <a:t>:</a:t>
                </a:r>
                <a:r>
                  <a:rPr lang="ru-RU" dirty="0"/>
                  <a:t> 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E18CFF-7E30-92AB-9432-2E76A0F6E6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545691" y="1422400"/>
                <a:ext cx="10938386" cy="3611823"/>
              </a:xfrm>
              <a:blipFill>
                <a:blip r:embed="rId2"/>
                <a:stretch>
                  <a:fillRect l="-1839" t="-2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C9A7D3B-79FF-6A69-6B28-4E60BA04DF50}"/>
                  </a:ext>
                </a:extLst>
              </p:cNvPr>
              <p:cNvSpPr/>
              <p:nvPr/>
            </p:nvSpPr>
            <p:spPr bwMode="auto">
              <a:xfrm>
                <a:off x="2804061" y="5276752"/>
                <a:ext cx="7775449" cy="1445342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C9A7D3B-79FF-6A69-6B28-4E60BA04DF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4061" y="5276752"/>
                <a:ext cx="7775449" cy="144534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54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092F7-FFB2-D6EC-83F8-CB58FF55C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Расширенная матрица системы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A68A8E2-2362-8283-EB3D-E515B808CB08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422400"/>
                <a:ext cx="10820400" cy="4875374"/>
              </a:xfrm>
            </p:spPr>
            <p:txBody>
              <a:bodyPr/>
              <a:lstStyle/>
              <a:p>
                <a:r>
                  <a:rPr lang="ru-RU" sz="2400" dirty="0"/>
                  <a:t>Матрица системы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r>
                  <a:rPr lang="ru-RU" sz="2400" dirty="0"/>
                  <a:t>Столбец свободных членов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r>
                  <a:rPr lang="ru-RU" sz="2400" dirty="0"/>
                  <a:t>Расширенная матрица системы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A68A8E2-2362-8283-EB3D-E515B808C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422400"/>
                <a:ext cx="10820400" cy="4875374"/>
              </a:xfrm>
              <a:blipFill>
                <a:blip r:embed="rId2"/>
                <a:stretch>
                  <a:fillRect l="-1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0994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E8F3-EA45-1F8C-924D-3171F58B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Однородная, совместная, несовместная системы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C69C91-6296-2623-51BB-19BEE8397B0A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6651523" cy="3399457"/>
              </a:xfrm>
            </p:spPr>
            <p:txBody>
              <a:bodyPr/>
              <a:lstStyle/>
              <a:p>
                <a:r>
                  <a:rPr lang="ru-RU" i="1" dirty="0"/>
                  <a:t>Однородная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ru-RU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r>
                  <a:rPr lang="ru-RU" i="1" dirty="0"/>
                  <a:t>Совместная</a:t>
                </a:r>
                <a:r>
                  <a:rPr lang="ru-RU" dirty="0"/>
                  <a:t>, если есть решения</a:t>
                </a:r>
              </a:p>
              <a:p>
                <a:endParaRPr lang="ru-RU" dirty="0"/>
              </a:p>
              <a:p>
                <a:r>
                  <a:rPr lang="ru-RU" i="1" dirty="0"/>
                  <a:t>Несовместная</a:t>
                </a:r>
                <a:r>
                  <a:rPr lang="ru-RU" dirty="0"/>
                  <a:t>, если нет решений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C69C91-6296-2623-51BB-19BEE8397B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6651523" cy="3399457"/>
              </a:xfrm>
              <a:blipFill>
                <a:blip r:embed="rId2"/>
                <a:stretch>
                  <a:fillRect l="-2933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3828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BAE6-020E-0A44-8C1E-BEFB94F3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система уравнений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D7E8CBA-0EBD-4CCE-4FED-E4057C276DCB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199" y="1530928"/>
                <a:ext cx="9640530" cy="4925323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ru-RU" dirty="0">
                    <a:solidFill>
                      <a:srgbClr val="0070C0"/>
                    </a:solidFill>
                  </a:rPr>
                  <a:t>Матрица как набор чисел</a:t>
                </a:r>
                <a:r>
                  <a:rPr lang="en-US" dirty="0">
                    <a:solidFill>
                      <a:srgbClr val="0070C0"/>
                    </a:solidFill>
                  </a:rPr>
                  <a:t>/</a:t>
                </a:r>
                <a:r>
                  <a:rPr lang="ru-RU" dirty="0">
                    <a:solidFill>
                      <a:srgbClr val="0070C0"/>
                    </a:solidFill>
                  </a:rPr>
                  <a:t>векторов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ru-RU" dirty="0"/>
                  <a:t>Несколько уравнений с несколькими неизвестными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ru-RU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ru-RU" dirty="0">
                    <a:solidFill>
                      <a:srgbClr val="0070C0"/>
                    </a:solidFill>
                  </a:rPr>
                  <a:t>Матрица как набор подпространств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ru-RU" dirty="0"/>
                  <a:t>Пересечение нескольких подпространств (часто гиперплоскостей)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ru-RU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ru-RU" dirty="0">
                    <a:solidFill>
                      <a:srgbClr val="0070C0"/>
                    </a:solidFill>
                  </a:rPr>
                  <a:t>Матрица как оператор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ru-RU" dirty="0"/>
                  <a:t>Какой вектор переместится в вектор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 после воздействия на пространство оператором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D7E8CBA-0EBD-4CCE-4FED-E4057C276D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199" y="1530928"/>
                <a:ext cx="9640530" cy="4925323"/>
              </a:xfrm>
              <a:blipFill>
                <a:blip r:embed="rId2"/>
                <a:stretch>
                  <a:fillRect l="-2024" t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163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F6D4-1ADD-C4B2-3070-B2EE2F9B0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 из предыдущей лекции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58E287E-8F16-073F-1B30-A03D70466EFD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304355"/>
                <a:ext cx="6592529" cy="4380238"/>
              </a:xfrm>
            </p:spPr>
            <p:txBody>
              <a:bodyPr/>
              <a:lstStyle/>
              <a:p>
                <a:r>
                  <a:rPr lang="ru-RU" sz="2400" dirty="0"/>
                  <a:t>Мы решали систему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ru-R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ru-R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r>
                                    <a:rPr lang="ru-R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r>
                                    <a:rPr lang="ru-R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ru-RU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ru-RU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r>
                                    <a:rPr lang="ru-RU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lang="ru-RU" sz="2400" dirty="0"/>
              </a:p>
              <a:p>
                <a:r>
                  <a:rPr lang="ru-RU" sz="2400" dirty="0"/>
                  <a:t>Её решения</a:t>
                </a:r>
                <a:r>
                  <a:rPr lang="en-US" sz="2400" dirty="0"/>
                  <a:t>:</a:t>
                </a:r>
                <a:endParaRPr lang="ru-RU" sz="2400" dirty="0"/>
              </a:p>
              <a:p>
                <a:pPr lvl="1"/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r>
                                    <a:rPr lang="ru-RU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ru-RU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r>
                                    <a:rPr lang="ru-RU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,3−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2000" dirty="0"/>
                  <a:t>, </a:t>
                </a: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ru-RU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ru-RU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𝐑</m:t>
                    </m:r>
                  </m:oMath>
                </a14:m>
                <a:endParaRPr lang="en-US" sz="2000" b="1" dirty="0"/>
              </a:p>
              <a:p>
                <a:r>
                  <a:rPr lang="ru-RU" sz="2400" dirty="0"/>
                  <a:t>Найденные решения – прямая</a:t>
                </a:r>
                <a:r>
                  <a:rPr lang="en-US" sz="2400" dirty="0"/>
                  <a:t>;</a:t>
                </a:r>
                <a:br>
                  <a:rPr lang="ru-RU" sz="2400" dirty="0"/>
                </a:br>
                <a:r>
                  <a:rPr lang="ru-RU" sz="2400" dirty="0"/>
                  <a:t>выпишем ее уравнение(я) </a:t>
                </a:r>
              </a:p>
              <a:p>
                <a:pPr marL="457200" lvl="1" indent="0">
                  <a:buNone/>
                </a:pPr>
                <a:endParaRPr lang="ru-RU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58E287E-8F16-073F-1B30-A03D70466E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304355"/>
                <a:ext cx="6592529" cy="4380238"/>
              </a:xfrm>
              <a:blipFill>
                <a:blip r:embed="rId2"/>
                <a:stretch>
                  <a:fillRect l="-2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9AC3C39-78B1-EC3A-86B8-E6F2894C480F}"/>
              </a:ext>
            </a:extLst>
          </p:cNvPr>
          <p:cNvGrpSpPr/>
          <p:nvPr/>
        </p:nvGrpSpPr>
        <p:grpSpPr>
          <a:xfrm>
            <a:off x="4412974" y="1173407"/>
            <a:ext cx="7611878" cy="5553645"/>
            <a:chOff x="4412974" y="1173407"/>
            <a:chExt cx="7611878" cy="55536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43BF9E57-4096-641A-0271-CB8B9080E76B}"/>
                    </a:ext>
                  </a:extLst>
                </p:cNvPr>
                <p:cNvSpPr/>
                <p:nvPr/>
              </p:nvSpPr>
              <p:spPr bwMode="auto">
                <a:xfrm>
                  <a:off x="7118555" y="1173407"/>
                  <a:ext cx="4906297" cy="5553645"/>
                </a:xfrm>
                <a:prstGeom prst="roundRect">
                  <a:avLst/>
                </a:prstGeom>
                <a:solidFill>
                  <a:schemeClr val="accent3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r>
                    <a:rPr lang="ru-RU" sz="2400" dirty="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Разные записи уравнения прямой (в пространстве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𝐑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a14:m>
                  <a:r>
                    <a:rPr lang="ru-RU" sz="2400" dirty="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)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:</a:t>
                  </a:r>
                </a:p>
                <a:p>
                  <a:pPr marL="457200" indent="-457200">
                    <a:buFont typeface="+mj-lt"/>
                    <a:buAutoNum type="arabicParenR"/>
                  </a:pPr>
                  <a:r>
                    <a:rPr lang="ru-RU" sz="2400" b="1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Как</a:t>
                  </a:r>
                  <a:r>
                    <a:rPr lang="en-US" sz="2400" b="1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</a:t>
                  </a:r>
                  <a:r>
                    <a:rPr lang="ru-RU" sz="2400" b="1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пересечение плоскостей</a:t>
                  </a:r>
                  <a:r>
                    <a:rPr lang="en-US" sz="2400" b="1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:</a:t>
                  </a:r>
                  <a:r>
                    <a:rPr lang="en-US" sz="2400" b="1" dirty="0">
                      <a:solidFill>
                        <a:srgbClr val="002060"/>
                      </a:solidFill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ru-RU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4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ru-RU" sz="24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  <m:e>
                                    <m:r>
                                      <a:rPr lang="ru-RU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a14:m>
                  <a:endParaRPr lang="ru-RU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endParaRPr>
                </a:p>
                <a:p>
                  <a:pPr marL="457200" indent="-457200">
                    <a:buFont typeface="+mj-lt"/>
                    <a:buAutoNum type="arabicParenR"/>
                  </a:pPr>
                  <a:endParaRPr lang="en-US" sz="1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endParaRPr>
                </a:p>
                <a:p>
                  <a:pPr marL="457200" indent="-457200">
                    <a:buFont typeface="+mj-lt"/>
                    <a:buAutoNum type="arabicParenR"/>
                  </a:pPr>
                  <a:r>
                    <a:rPr lang="ru-RU" sz="2400" b="1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Параметрическое уравнение</a:t>
                  </a:r>
                  <a:r>
                    <a:rPr lang="en-US" sz="2400" b="1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:</a:t>
                  </a:r>
                </a:p>
                <a:p>
                  <a:pPr marL="914400" lvl="1" indent="-457200">
                    <a:buFont typeface="Wingdings" panose="05000000000000000000" pitchFamily="2" charset="2"/>
                    <a:buChar char="ü"/>
                  </a:pPr>
                  <a14:m>
                    <m:oMath xmlns:m="http://schemas.openxmlformats.org/officeDocument/2006/math">
                      <m:d>
                        <m:dPr>
                          <m:ctrlPr>
                            <a:rPr lang="ru-RU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,3−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a14:m>
                  <a:r>
                    <a:rPr lang="en-US" sz="2400" dirty="0">
                      <a:solidFill>
                        <a:srgbClr val="002060"/>
                      </a:solidFill>
                    </a:rPr>
                    <a:t>, </a:t>
                  </a:r>
                  <a:r>
                    <a:rPr lang="ru-RU" sz="2400" dirty="0">
                      <a:solidFill>
                        <a:srgbClr val="002060"/>
                      </a:solidFill>
                    </a:rPr>
                    <a:t>где </a:t>
                  </a:r>
                  <a14:m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ru-RU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𝐑</m:t>
                      </m:r>
                    </m:oMath>
                  </a14:m>
                  <a:endParaRPr lang="ru-RU" sz="2400" b="1" dirty="0">
                    <a:solidFill>
                      <a:srgbClr val="002060"/>
                    </a:solidFill>
                  </a:endParaRPr>
                </a:p>
                <a:p>
                  <a:pPr marL="914400" lvl="1" indent="-457200">
                    <a:buFont typeface="Wingdings" panose="05000000000000000000" pitchFamily="2" charset="2"/>
                    <a:buChar char="ü"/>
                  </a:pPr>
                  <a:endParaRPr lang="en-US" sz="1050" b="1" dirty="0">
                    <a:solidFill>
                      <a:srgbClr val="002060"/>
                    </a:solidFill>
                  </a:endParaRPr>
                </a:p>
                <a:p>
                  <a:pPr marL="914400" lvl="1" indent="-457200">
                    <a:buFont typeface="Wingdings" panose="05000000000000000000" pitchFamily="2" charset="2"/>
                    <a:buChar char="ü"/>
                  </a:pP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lang="en-US" sz="2400" dirty="0">
                      <a:solidFill>
                        <a:srgbClr val="002060"/>
                      </a:solidFill>
                    </a:rPr>
                    <a:t>, </a:t>
                  </a:r>
                  <a:r>
                    <a:rPr lang="ru-RU" sz="2400" dirty="0">
                      <a:solidFill>
                        <a:srgbClr val="002060"/>
                      </a:solidFill>
                    </a:rPr>
                    <a:t>где </a:t>
                  </a:r>
                  <a14:m>
                    <m:oMath xmlns:m="http://schemas.openxmlformats.org/officeDocument/2006/math">
                      <m:r>
                        <a:rPr lang="ru-RU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ru-RU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𝐑</m:t>
                      </m:r>
                    </m:oMath>
                  </a14:m>
                  <a:endParaRPr lang="ru-RU" sz="2400" b="1" dirty="0">
                    <a:solidFill>
                      <a:srgbClr val="002060"/>
                    </a:solidFill>
                  </a:endParaRPr>
                </a:p>
                <a:p>
                  <a:pPr marL="914400" lvl="1" indent="-457200">
                    <a:buFont typeface="Wingdings" panose="05000000000000000000" pitchFamily="2" charset="2"/>
                    <a:buChar char="ü"/>
                  </a:pPr>
                  <a:endParaRPr lang="en-US" sz="1200" b="1" dirty="0">
                    <a:solidFill>
                      <a:schemeClr val="tx1"/>
                    </a:solidFill>
                  </a:endParaRPr>
                </a:p>
                <a:p>
                  <a:pPr marL="457200" indent="-457200">
                    <a:buFont typeface="+mj-lt"/>
                    <a:buAutoNum type="arabicParenR"/>
                  </a:pPr>
                  <a:r>
                    <a:rPr lang="ru-RU" sz="2400" b="1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Каноническое уравнение</a:t>
                  </a:r>
                  <a:r>
                    <a:rPr lang="en-US" sz="2400" b="1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:</a:t>
                  </a:r>
                  <a:br>
                    <a:rPr lang="ru-RU" sz="2400" b="1" dirty="0">
                      <a:solidFill>
                        <a:srgbClr val="00206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</a:br>
                  <a14:m>
                    <m:oMath xmlns:m="http://schemas.openxmlformats.org/officeDocument/2006/math">
                      <m:f>
                        <m:fPr>
                          <m:ctrlPr>
                            <a:rPr lang="ru-RU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ru-R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ru-RU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ru-RU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ru-R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a14:m>
                  <a:endParaRPr lang="en-US" sz="2400" dirty="0">
                    <a:solidFill>
                      <a:srgbClr val="002060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endParaRPr>
                </a:p>
              </p:txBody>
            </p:sp>
          </mc:Choice>
          <mc:Fallback xmlns=""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43BF9E57-4096-641A-0271-CB8B9080E7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18555" y="1173407"/>
                  <a:ext cx="4906297" cy="5553645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Connector: Curved 6">
              <a:extLst>
                <a:ext uri="{FF2B5EF4-FFF2-40B4-BE49-F238E27FC236}">
                  <a16:creationId xmlns:a16="http://schemas.microsoft.com/office/drawing/2014/main" id="{45B5E6C5-783A-3EB5-EA69-A9E0A91FCEF7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 flipV="1">
              <a:off x="4412974" y="3950230"/>
              <a:ext cx="2705581" cy="1059092"/>
            </a:xfrm>
            <a:prstGeom prst="curvedConnector3">
              <a:avLst/>
            </a:prstGeom>
            <a:ln w="508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268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0E0F1-F7C0-8263-201F-B56726EC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решить систему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CEE69A-BCCA-A53A-E03A-5BD16D270326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6297561" cy="1001172"/>
              </a:xfrm>
            </p:spPr>
            <p:txBody>
              <a:bodyPr/>
              <a:lstStyle/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существует, 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r>
                  <a:rPr lang="ru-RU" dirty="0"/>
                  <a:t>Что будет, 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u-RU" dirty="0"/>
                  <a:t> не существует</a:t>
                </a:r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CEE69A-BCCA-A53A-E03A-5BD16D2703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6297561" cy="1001172"/>
              </a:xfrm>
              <a:blipFill>
                <a:blip r:embed="rId2"/>
                <a:stretch>
                  <a:fillRect l="-3098" t="-8537" b="-21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3AF6E654-4309-86D4-49C5-A25278FEFB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3050013"/>
                <a:ext cx="11274552" cy="292721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457200" indent="-4572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q"/>
                  <a:defRPr sz="28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 Light" panose="020F03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  <a:defRPr sz="24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  <a:defRPr sz="20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rgbClr val="62A230"/>
                    </a:solidFill>
                  </a:rPr>
                  <a:t>[</a:t>
                </a:r>
                <a:r>
                  <a:rPr lang="ru-RU" dirty="0">
                    <a:solidFill>
                      <a:srgbClr val="62A230"/>
                    </a:solidFill>
                  </a:rPr>
                  <a:t>Теорема Кронекера–</a:t>
                </a:r>
                <a:r>
                  <a:rPr lang="ru-RU" dirty="0" err="1">
                    <a:solidFill>
                      <a:srgbClr val="62A230"/>
                    </a:solidFill>
                  </a:rPr>
                  <a:t>Капелли</a:t>
                </a:r>
                <a:r>
                  <a:rPr lang="en-US" dirty="0">
                    <a:solidFill>
                      <a:srgbClr val="62A230"/>
                    </a:solidFill>
                  </a:rPr>
                  <a:t>]</a:t>
                </a:r>
                <a:r>
                  <a:rPr lang="ru-RU" dirty="0">
                    <a:solidFill>
                      <a:srgbClr val="62A230"/>
                    </a:solidFill>
                  </a:rPr>
                  <a:t> </a:t>
                </a:r>
                <a:br>
                  <a:rPr lang="ru-RU" dirty="0">
                    <a:solidFill>
                      <a:srgbClr val="62A230"/>
                    </a:solidFill>
                  </a:rPr>
                </a:br>
                <a:r>
                  <a:rPr lang="ru-RU" dirty="0"/>
                  <a:t>Система совместна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ru-RU" dirty="0"/>
                  <a:t> ранг расширенной матрицы = ранг основной</a:t>
                </a:r>
                <a:endParaRPr lang="en-US" dirty="0">
                  <a:solidFill>
                    <a:srgbClr val="7030A0"/>
                  </a:solidFill>
                </a:endParaRPr>
              </a:p>
              <a:p>
                <a:r>
                  <a:rPr lang="ru-RU" dirty="0"/>
                  <a:t>Если система совместна, то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ru-RU" dirty="0"/>
                  <a:t>ранг системы</a:t>
                </a:r>
                <a:r>
                  <a:rPr lang="en-US" dirty="0"/>
                  <a:t> =</a:t>
                </a:r>
                <a:r>
                  <a:rPr lang="ru-RU" dirty="0"/>
                  <a:t> ранг расширенной матрицы = ранг основной </a:t>
                </a:r>
                <a:endParaRPr lang="en-US" dirty="0"/>
              </a:p>
              <a:p>
                <a:pPr lvl="1"/>
                <a:r>
                  <a:rPr lang="ru-RU" dirty="0">
                    <a:solidFill>
                      <a:srgbClr val="89608E"/>
                    </a:solidFill>
                  </a:rPr>
                  <a:t>ранг системы</a:t>
                </a:r>
                <a:r>
                  <a:rPr lang="en-US" dirty="0">
                    <a:solidFill>
                      <a:srgbClr val="89608E"/>
                    </a:solidFill>
                  </a:rPr>
                  <a:t> </a:t>
                </a:r>
                <a:r>
                  <a:rPr lang="en-US" b="1" dirty="0">
                    <a:solidFill>
                      <a:srgbClr val="89608E"/>
                    </a:solidFill>
                  </a:rPr>
                  <a:t>=</a:t>
                </a:r>
                <a:r>
                  <a:rPr lang="ru-RU" dirty="0">
                    <a:solidFill>
                      <a:srgbClr val="89608E"/>
                    </a:solidFill>
                  </a:rPr>
                  <a:t> числу неизвестных</a:t>
                </a:r>
                <a:r>
                  <a:rPr lang="en-US" dirty="0">
                    <a:solidFill>
                      <a:srgbClr val="89608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ru-RU" dirty="0">
                    <a:solidFill>
                      <a:srgbClr val="89608E"/>
                    </a:solidFill>
                  </a:rPr>
                  <a:t>система имеет </a:t>
                </a:r>
                <a:r>
                  <a:rPr lang="ru-RU" i="1" dirty="0">
                    <a:solidFill>
                      <a:srgbClr val="89608E"/>
                    </a:solidFill>
                  </a:rPr>
                  <a:t>единственное</a:t>
                </a:r>
                <a:r>
                  <a:rPr lang="ru-RU" dirty="0">
                    <a:solidFill>
                      <a:srgbClr val="89608E"/>
                    </a:solidFill>
                  </a:rPr>
                  <a:t> решение</a:t>
                </a:r>
                <a:endParaRPr lang="en-US" dirty="0">
                  <a:solidFill>
                    <a:srgbClr val="89608E"/>
                  </a:solidFill>
                </a:endParaRPr>
              </a:p>
              <a:p>
                <a:pPr lvl="1"/>
                <a:r>
                  <a:rPr lang="ru-RU" dirty="0">
                    <a:solidFill>
                      <a:srgbClr val="89608E"/>
                    </a:solidFill>
                  </a:rPr>
                  <a:t>ранг системы</a:t>
                </a:r>
                <a:r>
                  <a:rPr lang="en-US" dirty="0">
                    <a:solidFill>
                      <a:srgbClr val="89608E"/>
                    </a:solidFill>
                  </a:rPr>
                  <a:t> </a:t>
                </a:r>
                <a:r>
                  <a:rPr lang="en-US" b="1" dirty="0">
                    <a:solidFill>
                      <a:srgbClr val="89608E"/>
                    </a:solidFill>
                  </a:rPr>
                  <a:t>&lt;</a:t>
                </a:r>
                <a:r>
                  <a:rPr lang="ru-RU" dirty="0">
                    <a:solidFill>
                      <a:srgbClr val="89608E"/>
                    </a:solidFill>
                  </a:rPr>
                  <a:t> числу неизвестных</a:t>
                </a:r>
                <a:r>
                  <a:rPr lang="en-US" dirty="0">
                    <a:solidFill>
                      <a:srgbClr val="89608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ru-RU" dirty="0">
                    <a:solidFill>
                      <a:srgbClr val="89608E"/>
                    </a:solidFill>
                  </a:rPr>
                  <a:t>система имеет </a:t>
                </a:r>
                <a:r>
                  <a:rPr lang="ru-RU" i="1" dirty="0">
                    <a:solidFill>
                      <a:srgbClr val="89608E"/>
                    </a:solidFill>
                  </a:rPr>
                  <a:t>бесконечно много</a:t>
                </a:r>
                <a:r>
                  <a:rPr lang="ru-RU" dirty="0">
                    <a:solidFill>
                      <a:srgbClr val="89608E"/>
                    </a:solidFill>
                  </a:rPr>
                  <a:t> решений</a:t>
                </a:r>
                <a:endParaRPr lang="en-US" dirty="0">
                  <a:solidFill>
                    <a:srgbClr val="89608E"/>
                  </a:solidFill>
                </a:endParaRPr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3AF6E654-4309-86D4-49C5-A25278FEF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50013"/>
                <a:ext cx="11274552" cy="2927212"/>
              </a:xfrm>
              <a:prstGeom prst="rect">
                <a:avLst/>
              </a:prstGeom>
              <a:blipFill>
                <a:blip r:embed="rId3"/>
                <a:stretch>
                  <a:fillRect l="-1730" t="-2911" r="-595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20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FAFD-2049-E431-A7BF-543727BB0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решения систем линейных уравнений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96029CD-9F30-7B5E-377D-B092410750FA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7664245" cy="2935034"/>
              </a:xfrm>
            </p:spPr>
            <p:txBody>
              <a:bodyPr/>
              <a:lstStyle/>
              <a:p>
                <a:r>
                  <a:rPr lang="ru-RU" dirty="0"/>
                  <a:t>Для произвольной матрицы</a:t>
                </a:r>
              </a:p>
              <a:p>
                <a:pPr lvl="1"/>
                <a:r>
                  <a:rPr lang="ru-RU" dirty="0"/>
                  <a:t>Метод Гаусса </a:t>
                </a:r>
                <a:r>
                  <a:rPr lang="ru-RU" dirty="0">
                    <a:solidFill>
                      <a:srgbClr val="0070C0"/>
                    </a:solidFill>
                  </a:rPr>
                  <a:t>(лучший!)</a:t>
                </a:r>
              </a:p>
              <a:p>
                <a:r>
                  <a:rPr lang="ru-RU" dirty="0"/>
                  <a:t>Для матрицы, у которой существует обратная</a:t>
                </a:r>
              </a:p>
              <a:p>
                <a:pPr lvl="1"/>
                <a:r>
                  <a:rPr lang="ru-RU" dirty="0"/>
                  <a:t>Метод Гаусса </a:t>
                </a:r>
                <a:r>
                  <a:rPr lang="ru-RU" dirty="0">
                    <a:solidFill>
                      <a:srgbClr val="0070C0"/>
                    </a:solidFill>
                  </a:rPr>
                  <a:t>(лучший!)</a:t>
                </a:r>
              </a:p>
              <a:p>
                <a:pPr lvl="1"/>
                <a:r>
                  <a:rPr lang="ru-RU" dirty="0"/>
                  <a:t>Метод Крамера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96029CD-9F30-7B5E-377D-B092410750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7664245" cy="2935034"/>
              </a:xfrm>
              <a:blipFill>
                <a:blip r:embed="rId2"/>
                <a:stretch>
                  <a:fillRect l="-2546" t="-2905" b="-4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14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9FF4D-5724-95E4-4638-6458129B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Крамера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9B59BD9-5462-BD39-1690-C64BC7A5BD0B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199" y="1530928"/>
                <a:ext cx="9306233" cy="4233467"/>
              </a:xfrm>
            </p:spPr>
            <p:txBody>
              <a:bodyPr/>
              <a:lstStyle/>
              <a:p>
                <a:r>
                  <a:rPr lang="ru-RU" dirty="0"/>
                  <a:t>Работает только в случае, когда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en-US" dirty="0"/>
              </a:p>
              <a:p>
                <a:pPr lvl="1"/>
                <a:r>
                  <a:rPr lang="ru-RU" dirty="0"/>
                  <a:t>В этом случае </a:t>
                </a:r>
                <a:r>
                  <a:rPr lang="ru-RU" i="1" dirty="0"/>
                  <a:t>решение единственно</a:t>
                </a:r>
              </a:p>
              <a:p>
                <a:r>
                  <a:rPr lang="ru-RU" dirty="0"/>
                  <a:t>Пусть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ru-RU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ru-RU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определитель матрицы, полученной из матрицы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, </a:t>
                </a:r>
                <a:br>
                  <a:rPr lang="en-US" dirty="0"/>
                </a:br>
                <a:r>
                  <a:rPr lang="ru-RU" dirty="0"/>
                  <a:t>у которой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/>
                  <a:t>й столбец заменен столбцом свободных членов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l-GR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endParaRPr lang="ru-R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9B59BD9-5462-BD39-1690-C64BC7A5B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199" y="1530928"/>
                <a:ext cx="9306233" cy="4233467"/>
              </a:xfrm>
              <a:blipFill>
                <a:blip r:embed="rId2"/>
                <a:stretch>
                  <a:fillRect l="-2096" t="-2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6877999"/>
      </p:ext>
    </p:extLst>
  </p:cSld>
  <p:clrMapOvr>
    <a:masterClrMapping/>
  </p:clrMapOvr>
</p:sld>
</file>

<file path=ppt/theme/theme1.xml><?xml version="1.0" encoding="utf-8"?>
<a:theme xmlns:a="http://schemas.openxmlformats.org/drawingml/2006/main" name="1_EPAM Master 2021.3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E13583499748489E6E697426926B1B" ma:contentTypeVersion="7" ma:contentTypeDescription="Create a new document." ma:contentTypeScope="" ma:versionID="0dad6fcd77a4d221fbf9e945eba42182">
  <xsd:schema xmlns:xsd="http://www.w3.org/2001/XMLSchema" xmlns:xs="http://www.w3.org/2001/XMLSchema" xmlns:p="http://schemas.microsoft.com/office/2006/metadata/properties" xmlns:ns2="f8d8e8b1-85bd-4cc8-ac20-30bdad921333" targetNamespace="http://schemas.microsoft.com/office/2006/metadata/properties" ma:root="true" ma:fieldsID="c1b8804e85e0561b7b3724e149da1b7d" ns2:_="">
    <xsd:import namespace="f8d8e8b1-85bd-4cc8-ac20-30bdad921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d8e8b1-85bd-4cc8-ac20-30bdad921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A3A2AEA-DDEA-4816-AF3A-12799E5080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d8e8b1-85bd-4cc8-ac20-30bdad9213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CA341C-74C1-4577-8C96-EF2605DC52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2E3419-B313-4514-AD24-D56E1F80A63A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cd2bce81-b418-4cd8-9935-4e402d3140b0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35c9ed8-4a47-4862-b7c0-361fb59caa7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1605</TotalTime>
  <Words>414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1_EPAM Master 2021.3</vt:lpstr>
      <vt:lpstr>Inverse of a matrix and systems of linear equations</vt:lpstr>
      <vt:lpstr>Обратная матрица</vt:lpstr>
      <vt:lpstr>Системы линейных уравнений</vt:lpstr>
      <vt:lpstr>Расширенная матрица системы</vt:lpstr>
      <vt:lpstr>Однородная, совместная, несовместная системы</vt:lpstr>
      <vt:lpstr>Что такое система уравнений?</vt:lpstr>
      <vt:lpstr>Вопрос из предыдущей лекции</vt:lpstr>
      <vt:lpstr>Как решить систему?</vt:lpstr>
      <vt:lpstr>Метод решения систем линейных уравнений</vt:lpstr>
      <vt:lpstr>Метод Крамера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Alexey Gurevski</cp:lastModifiedBy>
  <cp:revision>145</cp:revision>
  <dcterms:created xsi:type="dcterms:W3CDTF">2020-10-27T12:12:11Z</dcterms:created>
  <dcterms:modified xsi:type="dcterms:W3CDTF">2025-10-29T17:55:41Z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0x0101002CE13583499748489E6E697426926B1B</vt:lpwstr>
  </property>
  <property fmtid="{D5CDD505-2E9C-101B-9397-08002B2CF9AE}" pid="3" name="MediaServiceImageTags">
    <vt:lpwstr/>
  </property>
</Properties>
</file>