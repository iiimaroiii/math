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4"/>
  </p:sldMasterIdLst>
  <p:notesMasterIdLst>
    <p:notesMasterId r:id="rId28"/>
  </p:notesMasterIdLst>
  <p:handoutMasterIdLst>
    <p:handoutMasterId r:id="rId29"/>
  </p:handoutMasterIdLst>
  <p:sldIdLst>
    <p:sldId id="2146848185" r:id="rId5"/>
    <p:sldId id="2146848266" r:id="rId6"/>
    <p:sldId id="2146848267" r:id="rId7"/>
    <p:sldId id="2146848274" r:id="rId8"/>
    <p:sldId id="2146848270" r:id="rId9"/>
    <p:sldId id="2146848268" r:id="rId10"/>
    <p:sldId id="2146848271" r:id="rId11"/>
    <p:sldId id="2146848272" r:id="rId12"/>
    <p:sldId id="2146848273" r:id="rId13"/>
    <p:sldId id="2146848275" r:id="rId14"/>
    <p:sldId id="2146848276" r:id="rId15"/>
    <p:sldId id="2146848277" r:id="rId16"/>
    <p:sldId id="2146848278" r:id="rId17"/>
    <p:sldId id="2146848279" r:id="rId18"/>
    <p:sldId id="2146848280" r:id="rId19"/>
    <p:sldId id="2146848281" r:id="rId20"/>
    <p:sldId id="2146848287" r:id="rId21"/>
    <p:sldId id="2146848288" r:id="rId22"/>
    <p:sldId id="2146848289" r:id="rId23"/>
    <p:sldId id="2146848291" r:id="rId24"/>
    <p:sldId id="2146848292" r:id="rId25"/>
    <p:sldId id="2146848290" r:id="rId26"/>
    <p:sldId id="214684830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00"/>
    <a:srgbClr val="E05EAB"/>
    <a:srgbClr val="ACDCDD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71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C3EA8B-9D86-508A-5619-990F69220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66C21-3E35-8E34-2B93-D6474FDAE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F65F5-4296-0146-B260-D72DA98714BE}" type="datetimeFigureOut">
              <a:rPr lang="en-UA" smtClean="0"/>
              <a:t>10/09/2024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9A2BB-792A-4280-F38A-B88426761C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1C3C9-B78A-DF42-0EBA-E83B01D5EE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20728-0225-194E-8550-38F500DE678F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12507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99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43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80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74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99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34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47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27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84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3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13" y="4479572"/>
            <a:ext cx="144757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Kiril Kuzmin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882" y="5228068"/>
            <a:ext cx="206458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October 4, 2022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7977" y="2564931"/>
            <a:ext cx="5509290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Presentation title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" y="261914"/>
            <a:ext cx="3059722" cy="84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2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65200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530928"/>
            <a:ext cx="4151745" cy="3349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>
              <a:buFont typeface="Wingdings" panose="05000000000000000000" pitchFamily="2" charset="2"/>
              <a:buChar char="q"/>
              <a:defRPr sz="2800" b="0">
                <a:latin typeface="+mn-lt"/>
                <a:cs typeface="Calibri Light" panose="020F0302020204030204" pitchFamily="34" charset="0"/>
              </a:defRPr>
            </a:lvl1pPr>
            <a:lvl2pPr marL="685800" indent="-228600"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2"/>
            <a:r>
              <a:rPr lang="en-US" dirty="0"/>
              <a:t>sub-bullet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84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08811"/>
            <a:ext cx="10672618" cy="4240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It’s the main text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B803D9-382F-46B0-1898-DAB0489BED10}"/>
              </a:ext>
            </a:extLst>
          </p:cNvPr>
          <p:cNvGrpSpPr/>
          <p:nvPr userDrawn="1"/>
        </p:nvGrpSpPr>
        <p:grpSpPr>
          <a:xfrm>
            <a:off x="375920" y="5990240"/>
            <a:ext cx="1532080" cy="756000"/>
            <a:chOff x="375920" y="5990240"/>
            <a:chExt cx="1532080" cy="756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8B4834-F2C3-2E22-51AA-388AA2623E68}"/>
                </a:ext>
              </a:extLst>
            </p:cNvPr>
            <p:cNvSpPr/>
            <p:nvPr/>
          </p:nvSpPr>
          <p:spPr bwMode="auto">
            <a:xfrm>
              <a:off x="375920" y="6421120"/>
              <a:ext cx="721360" cy="225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A" sz="240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376AE24-2430-37FB-BC15-311846F8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378" t="18514" r="-378" b="28589"/>
            <a:stretch/>
          </p:blipFill>
          <p:spPr>
            <a:xfrm>
              <a:off x="468000" y="5990240"/>
              <a:ext cx="1440000" cy="75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952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827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10.png"/><Relationship Id="rId4" Type="http://schemas.openxmlformats.org/officeDocument/2006/relationships/image" Target="../media/image12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300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40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57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DA4CC9-A36D-5784-E61E-95FC2EE150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2765" y="5574795"/>
            <a:ext cx="1447573" cy="369332"/>
          </a:xfrm>
        </p:spPr>
        <p:txBody>
          <a:bodyPr/>
          <a:lstStyle/>
          <a:p>
            <a:r>
              <a:rPr lang="en-US" dirty="0"/>
              <a:t>Kiril Kuzmin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F8F0F-2F26-DF07-F833-11986E040B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8576" y="6240791"/>
            <a:ext cx="2495950" cy="492443"/>
          </a:xfrm>
        </p:spPr>
        <p:txBody>
          <a:bodyPr/>
          <a:lstStyle/>
          <a:p>
            <a:r>
              <a:rPr lang="en-US" dirty="0"/>
              <a:t>November </a:t>
            </a:r>
            <a:r>
              <a:rPr lang="ru-RU" dirty="0"/>
              <a:t>23</a:t>
            </a:r>
            <a:r>
              <a:rPr lang="en-US" dirty="0"/>
              <a:t>, 2022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F5B1A-F7F9-8B55-6073-27FBE263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36" y="3059668"/>
            <a:ext cx="6867833" cy="738664"/>
          </a:xfrm>
        </p:spPr>
        <p:txBody>
          <a:bodyPr/>
          <a:lstStyle/>
          <a:p>
            <a:r>
              <a:rPr lang="en-US" sz="4800" dirty="0"/>
              <a:t>Systems of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128734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C53-090B-D582-32EE-2257F322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 </a:t>
            </a:r>
            <a:r>
              <a:rPr lang="ru-RU" dirty="0"/>
              <a:t>подготовка к запуску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7D3647-AD06-B298-C8E3-1D0B0943374F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398990" y="1103266"/>
                <a:ext cx="4763729" cy="21366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7D3647-AD06-B298-C8E3-1D0B09433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398990" y="1103266"/>
                <a:ext cx="4763729" cy="21366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A70F0C3-A2CC-0944-BE10-213F358CE542}"/>
              </a:ext>
            </a:extLst>
          </p:cNvPr>
          <p:cNvGrpSpPr/>
          <p:nvPr/>
        </p:nvGrpSpPr>
        <p:grpSpPr>
          <a:xfrm>
            <a:off x="5563060" y="1108741"/>
            <a:ext cx="3873910" cy="2131200"/>
            <a:chOff x="5663380" y="1030715"/>
            <a:chExt cx="3873910" cy="2131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0B35CD2-A801-D967-2D0A-1923B5FFF0F8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39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0B35CD2-A801-D967-2D0A-1923B5FFF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39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4545F5C-572E-0412-2DC3-4009EDEAB978}"/>
                    </a:ext>
                  </a:extLst>
                </p:cNvPr>
                <p:cNvSpPr txBox="1"/>
                <p:nvPr/>
              </p:nvSpPr>
              <p:spPr>
                <a:xfrm>
                  <a:off x="6094476" y="1030715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4545F5C-572E-0412-2DC3-4009EDEAB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030715"/>
                  <a:ext cx="234007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587763A-393A-E898-731C-C8174C924A02}"/>
                  </a:ext>
                </a:extLst>
              </p:cNvPr>
              <p:cNvSpPr/>
              <p:nvPr/>
            </p:nvSpPr>
            <p:spPr bwMode="auto">
              <a:xfrm>
                <a:off x="157317" y="3317967"/>
                <a:ext cx="8176918" cy="2433599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(0)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Выписываем матрицу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(</m:t>
                    </m:r>
                    <m:r>
                      <a:rPr lang="en-US" sz="1600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  <m:r>
                      <a:rPr lang="en-US" sz="1600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|</m:t>
                    </m:r>
                    <m:r>
                      <a:rPr lang="en-US" sz="1600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𝑏</m:t>
                    </m:r>
                    <m:r>
                      <a:rPr lang="ru-RU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 системе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или каким-либо другим образом получаем </a:t>
                </a:r>
                <a14:m>
                  <m:oMath xmlns:m="http://schemas.openxmlformats.org/officeDocument/2006/math">
                    <m:r>
                      <a:rPr lang="ru-RU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(</m:t>
                    </m:r>
                    <m:r>
                      <a:rPr lang="en-US" sz="16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  <m:r>
                      <a:rPr lang="en-US" sz="16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|</m:t>
                    </m:r>
                    <m:r>
                      <a:rPr lang="en-US" sz="16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𝑏</m:t>
                    </m:r>
                    <m:r>
                      <a:rPr lang="ru-RU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качестве входных данных</a:t>
                </a:r>
              </a:p>
              <a:p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(1)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Удаляем все нулевые столбцы в матрице системы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(2)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Если в матрице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  <m:r>
                      <a:rPr lang="en-US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не осталось столбцов (т.е. матрица системы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была нулевая), то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столбец свободных членов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нулевой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	то решением является любая точка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–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число переменных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	(в нашем случае пространство решений являлось бы пространством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)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столбец свободных членов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ненулевой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	то РЕШЕНИЙ НЕТ</a:t>
                </a:r>
              </a:p>
            </p:txBody>
          </p:sp>
        </mc:Choice>
        <mc:Fallback xmlns="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587763A-393A-E898-731C-C8174C924A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17" y="3317967"/>
                <a:ext cx="8176918" cy="2433599"/>
              </a:xfrm>
              <a:prstGeom prst="roundRect">
                <a:avLst/>
              </a:prstGeom>
              <a:blipFill>
                <a:blip r:embed="rId6"/>
                <a:stretch>
                  <a:fillRect l="-75" b="-2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6B3E8088-A388-9E4D-6B71-0D8EB7AF05A3}"/>
              </a:ext>
            </a:extLst>
          </p:cNvPr>
          <p:cNvGrpSpPr/>
          <p:nvPr/>
        </p:nvGrpSpPr>
        <p:grpSpPr>
          <a:xfrm>
            <a:off x="5162720" y="3572487"/>
            <a:ext cx="6871964" cy="2136675"/>
            <a:chOff x="5162720" y="3572487"/>
            <a:chExt cx="6871964" cy="21366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F2286EF-14EF-1942-39E8-FD1873F15356}"/>
                    </a:ext>
                  </a:extLst>
                </p:cNvPr>
                <p:cNvSpPr/>
                <p:nvPr/>
              </p:nvSpPr>
              <p:spPr bwMode="auto">
                <a:xfrm>
                  <a:off x="8455742" y="3572487"/>
                  <a:ext cx="3578942" cy="2136675"/>
                </a:xfrm>
                <a:prstGeom prst="rect">
                  <a:avLst/>
                </a:prstGeom>
                <a:solidFill>
                  <a:schemeClr val="accent2">
                    <a:alpha val="50000"/>
                  </a:schemeClr>
                </a:solidFill>
                <a:ln w="19050">
                  <a:solidFill>
                    <a:schemeClr val="dk1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r>
                    <a:rPr lang="ru-RU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Если впоследствии окажется, что система совместна, тогда в итоговом решении значения переменных, соответствующие удаленным столбцам, можно выбирать произвольным образом (если бы мы удалили, например, 1-й и 3-й столбцы, то в ответ переменные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ru-RU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и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ru-RU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вошли бы так</a:t>
                  </a:r>
                  <a:r>
                    <a:rPr lang="en-US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:</a:t>
                  </a:r>
                  <a:r>
                    <a:rPr lang="ru-RU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en-US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, </a:t>
                  </a:r>
                  <a:r>
                    <a:rPr lang="ru-RU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где </a:t>
                  </a:r>
                  <a14:m>
                    <m:oMath xmlns:m="http://schemas.openxmlformats.org/officeDocument/2006/math"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</m:oMath>
                  </a14:m>
                  <a:r>
                    <a:rPr lang="ru-RU" sz="1600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F2286EF-14EF-1942-39E8-FD1873F153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55742" y="3572487"/>
                  <a:ext cx="3578942" cy="2136675"/>
                </a:xfrm>
                <a:prstGeom prst="rect">
                  <a:avLst/>
                </a:prstGeom>
                <a:blipFill>
                  <a:blip r:embed="rId7"/>
                  <a:stretch>
                    <a:fillRect l="-3220" r="-3898" b="-847"/>
                  </a:stretch>
                </a:blipFill>
                <a:ln w="19050">
                  <a:solidFill>
                    <a:schemeClr val="dk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Connector: Curved 45">
              <a:extLst>
                <a:ext uri="{FF2B5EF4-FFF2-40B4-BE49-F238E27FC236}">
                  <a16:creationId xmlns:a16="http://schemas.microsoft.com/office/drawing/2014/main" id="{F3B34604-3BFD-CA5F-64C2-696CDF270566}"/>
                </a:ext>
              </a:extLst>
            </p:cNvPr>
            <p:cNvCxnSpPr>
              <a:stCxn id="44" idx="1"/>
            </p:cNvCxnSpPr>
            <p:nvPr/>
          </p:nvCxnSpPr>
          <p:spPr>
            <a:xfrm rot="10800000">
              <a:off x="5162720" y="4080387"/>
              <a:ext cx="3293023" cy="560438"/>
            </a:xfrm>
            <a:prstGeom prst="curvedConnector3">
              <a:avLst>
                <a:gd name="adj1" fmla="val 9393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139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EB1A-BF36-73F5-41A2-53D89ED7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 </a:t>
            </a:r>
            <a:r>
              <a:rPr lang="ru-RU" dirty="0"/>
              <a:t>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#1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4F26DDF-27C8-E13C-754F-2A2A1827658E}"/>
              </a:ext>
            </a:extLst>
          </p:cNvPr>
          <p:cNvGrpSpPr/>
          <p:nvPr/>
        </p:nvGrpSpPr>
        <p:grpSpPr>
          <a:xfrm>
            <a:off x="4768815" y="1167171"/>
            <a:ext cx="5009537" cy="2131200"/>
            <a:chOff x="334295" y="3754251"/>
            <a:chExt cx="5009537" cy="21312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FE3C7CE-AF5F-038F-2254-7104E48D3FCF}"/>
                </a:ext>
              </a:extLst>
            </p:cNvPr>
            <p:cNvGrpSpPr/>
            <p:nvPr/>
          </p:nvGrpSpPr>
          <p:grpSpPr>
            <a:xfrm>
              <a:off x="1469922" y="3754251"/>
              <a:ext cx="3873910" cy="2131200"/>
              <a:chOff x="5663380" y="1030715"/>
              <a:chExt cx="3873910" cy="2131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81C23D6-DBD8-51B5-B272-5E837C95B439}"/>
                      </a:ext>
                    </a:extLst>
                  </p:cNvPr>
                  <p:cNvSpPr txBox="1"/>
                  <p:nvPr/>
                </p:nvSpPr>
                <p:spPr>
                  <a:xfrm>
                    <a:off x="5663380" y="1422400"/>
                    <a:ext cx="3873910" cy="173951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−10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ru-RU" sz="28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ru-RU" sz="28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ru-RU" sz="28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ru-RU" sz="28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−5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81C23D6-DBD8-51B5-B272-5E837C95B4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63380" y="1422400"/>
                    <a:ext cx="3873910" cy="173951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8846AE2-8AFB-6146-3E5A-D6AF3D151328}"/>
                      </a:ext>
                    </a:extLst>
                  </p:cNvPr>
                  <p:cNvSpPr txBox="1"/>
                  <p:nvPr/>
                </p:nvSpPr>
                <p:spPr>
                  <a:xfrm>
                    <a:off x="6094476" y="1030715"/>
                    <a:ext cx="2340078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8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ru-RU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ru-RU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8846AE2-8AFB-6146-3E5A-D6AF3D1513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4476" y="1030715"/>
                    <a:ext cx="2340078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9F5A77C-00F8-8A41-C47E-533C9983F521}"/>
                </a:ext>
              </a:extLst>
            </p:cNvPr>
            <p:cNvGrpSpPr/>
            <p:nvPr/>
          </p:nvGrpSpPr>
          <p:grpSpPr>
            <a:xfrm>
              <a:off x="334295" y="4391812"/>
              <a:ext cx="1415845" cy="1320730"/>
              <a:chOff x="334295" y="4391812"/>
              <a:chExt cx="1415845" cy="1320730"/>
            </a:xfrm>
          </p:grpSpPr>
          <p:sp>
            <p:nvSpPr>
              <p:cNvPr id="42" name="Right Bracket 41">
                <a:extLst>
                  <a:ext uri="{FF2B5EF4-FFF2-40B4-BE49-F238E27FC236}">
                    <a16:creationId xmlns:a16="http://schemas.microsoft.com/office/drawing/2014/main" id="{682BB5A8-C5EE-B982-5589-054849EA73AB}"/>
                  </a:ext>
                </a:extLst>
              </p:cNvPr>
              <p:cNvSpPr/>
              <p:nvPr/>
            </p:nvSpPr>
            <p:spPr>
              <a:xfrm flipH="1">
                <a:off x="1469921" y="4391812"/>
                <a:ext cx="280219" cy="1320730"/>
              </a:xfrm>
              <a:prstGeom prst="rightBracket">
                <a:avLst>
                  <a:gd name="adj" fmla="val 65701"/>
                </a:avLst>
              </a:prstGeom>
              <a:ln w="28575">
                <a:prstDash val="dash"/>
                <a:headEnd type="stealth"/>
                <a:tailEnd type="stealth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F7A359A-2CA5-F0ED-EE4E-BC596D030E0F}"/>
                  </a:ext>
                </a:extLst>
              </p:cNvPr>
              <p:cNvSpPr/>
              <p:nvPr/>
            </p:nvSpPr>
            <p:spPr bwMode="auto">
              <a:xfrm>
                <a:off x="334295" y="4520125"/>
                <a:ext cx="943897" cy="1064103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lang="ru-RU" sz="1600" dirty="0">
                    <a:solidFill>
                      <a:schemeClr val="tx1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Меняем местами 1-ю и 4-ю строки</a:t>
                </a:r>
                <a:endParaRPr lang="en-US" sz="1600" dirty="0">
                  <a:solidFill>
                    <a:schemeClr val="tx1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7B57328-42BE-3785-E599-AB1F53C7B745}"/>
                  </a:ext>
                </a:extLst>
              </p:cNvPr>
              <p:cNvCxnSpPr>
                <a:stCxn id="43" idx="3"/>
                <a:endCxn id="42" idx="2"/>
              </p:cNvCxnSpPr>
              <p:nvPr/>
            </p:nvCxnSpPr>
            <p:spPr>
              <a:xfrm>
                <a:off x="1278192" y="5052177"/>
                <a:ext cx="19172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27387CF-6366-A6B2-C982-DDDE372A33C5}"/>
              </a:ext>
            </a:extLst>
          </p:cNvPr>
          <p:cNvGrpSpPr/>
          <p:nvPr/>
        </p:nvGrpSpPr>
        <p:grpSpPr>
          <a:xfrm>
            <a:off x="557750" y="1167171"/>
            <a:ext cx="3873910" cy="2131200"/>
            <a:chOff x="5663380" y="1030715"/>
            <a:chExt cx="3873910" cy="2131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8E4DCF2-5433-34E9-1989-A27BCC6BAB47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39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8E4DCF2-5433-34E9-1989-A27BCC6BA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39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85F232A-C008-5D7B-6CE3-1A0BE1D5D492}"/>
                    </a:ext>
                  </a:extLst>
                </p:cNvPr>
                <p:cNvSpPr txBox="1"/>
                <p:nvPr/>
              </p:nvSpPr>
              <p:spPr>
                <a:xfrm>
                  <a:off x="6094476" y="1030715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85F232A-C008-5D7B-6CE3-1A0BE1D5D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030715"/>
                  <a:ext cx="234007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AE1E3099-1868-E7AC-78BB-9EFA57D7F3DF}"/>
                  </a:ext>
                </a:extLst>
              </p:cNvPr>
              <p:cNvSpPr/>
              <p:nvPr/>
            </p:nvSpPr>
            <p:spPr bwMode="auto">
              <a:xfrm>
                <a:off x="2281085" y="3809575"/>
                <a:ext cx="9372010" cy="2188326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ru-RU" sz="1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ищем ненулевой элемент в нижней части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первого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столбца матрицы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находим, меняем местами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с той, у которой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первый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элемент ненулевой. Когда подходящих строк несколько – выбираем любую из них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не находим, то ищем ненулевой элемент 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первой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строке матрицы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</a:p>
              <a:p>
                <a:pPr marL="1200150" lvl="2" indent="-28575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находим, то меняем столбцы местами и переходим к пункту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</m:ctrlPr>
                      </m:dPr>
                      <m:e>
                        <m:r>
                          <a:rPr lang="ru-RU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↓</m:t>
                        </m:r>
                        <m:r>
                          <a:rPr lang="ru-RU" sz="16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𝟏</m:t>
                        </m:r>
                        <m:r>
                          <a:rPr lang="ru-RU" sz="16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.</m:t>
                        </m:r>
                        <m:r>
                          <a:rPr lang="ru-RU" sz="16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𝟐</m:t>
                        </m:r>
                      </m:e>
                    </m:d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не находим, (т.е. вся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первая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строка матрица системы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нулевая), то</a:t>
                </a:r>
              </a:p>
              <a:p>
                <a:pPr marL="1714500" lvl="3" indent="-342900">
                  <a:buFont typeface="Courier New" panose="02070309020205020404" pitchFamily="49" charset="0"/>
                  <a:buChar char="o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свободный член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равен 0, то эту строку удаляем и снова выполняем </a:t>
                </a:r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pPr marL="1714500" lvl="3" indent="-342900">
                  <a:buFont typeface="Courier New" panose="02070309020205020404" pitchFamily="49" charset="0"/>
                  <a:buChar char="o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свободный член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не равен 0, то РЕШЕНИЙ НЕТ</a:t>
                </a:r>
              </a:p>
            </p:txBody>
          </p:sp>
        </mc:Choice>
        <mc:Fallback xmlns="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AE1E3099-1868-E7AC-78BB-9EFA57D7F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1085" y="3809575"/>
                <a:ext cx="9372010" cy="2188326"/>
              </a:xfrm>
              <a:prstGeom prst="roundRect">
                <a:avLst/>
              </a:prstGeom>
              <a:blipFill>
                <a:blip r:embed="rId6"/>
                <a:stretch>
                  <a:fillRect r="-390" b="-2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40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EB1A-BF36-73F5-41A2-53D89ED7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 </a:t>
            </a:r>
            <a:r>
              <a:rPr lang="ru-RU" dirty="0"/>
              <a:t>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1B9990-8AE1-A405-27F2-760CF3393DDD}"/>
                  </a:ext>
                </a:extLst>
              </p:cNvPr>
              <p:cNvSpPr txBox="1"/>
              <p:nvPr/>
            </p:nvSpPr>
            <p:spPr>
              <a:xfrm>
                <a:off x="599770" y="1814085"/>
                <a:ext cx="3873910" cy="1739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ru-RU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1B9990-8AE1-A405-27F2-760CF3393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70" y="1814085"/>
                <a:ext cx="3873910" cy="17395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268D58-A10A-7C62-8201-AB142E915021}"/>
                  </a:ext>
                </a:extLst>
              </p:cNvPr>
              <p:cNvSpPr txBox="1"/>
              <p:nvPr/>
            </p:nvSpPr>
            <p:spPr>
              <a:xfrm>
                <a:off x="1030866" y="1422400"/>
                <a:ext cx="23400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2800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  <m:e>
                            <m:r>
                              <a:rPr kumimoji="0" lang="ru-R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kumimoji="0" lang="ru-R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268D58-A10A-7C62-8201-AB142E915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66" y="1422400"/>
                <a:ext cx="234007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4A6F58B2-C6F8-41D4-833D-F8D85596C3E8}"/>
              </a:ext>
            </a:extLst>
          </p:cNvPr>
          <p:cNvGrpSpPr/>
          <p:nvPr/>
        </p:nvGrpSpPr>
        <p:grpSpPr>
          <a:xfrm>
            <a:off x="5570446" y="1422400"/>
            <a:ext cx="3873910" cy="2125150"/>
            <a:chOff x="6094476" y="1422400"/>
            <a:chExt cx="3873910" cy="2125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DC653AC-28F5-9256-CF7F-141A056EAE9D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739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DC653AC-28F5-9256-CF7F-141A056EA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739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A0024EC-86BA-6DD0-7F38-EDAE91BC44D1}"/>
                    </a:ext>
                  </a:extLst>
                </p:cNvPr>
                <p:cNvSpPr txBox="1"/>
                <p:nvPr/>
              </p:nvSpPr>
              <p:spPr>
                <a:xfrm>
                  <a:off x="6480980" y="1422400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A0024EC-86BA-6DD0-7F38-EDAE91BC4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980" y="1422400"/>
                  <a:ext cx="234007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161389-0D01-51B8-B1CF-C95885D9A1B7}"/>
              </a:ext>
            </a:extLst>
          </p:cNvPr>
          <p:cNvGrpSpPr/>
          <p:nvPr/>
        </p:nvGrpSpPr>
        <p:grpSpPr>
          <a:xfrm>
            <a:off x="4278482" y="1727743"/>
            <a:ext cx="1005596" cy="727584"/>
            <a:chOff x="4343201" y="1942922"/>
            <a:chExt cx="651859" cy="294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C18C612-66C9-8524-A0C9-40674D85CB23}"/>
                    </a:ext>
                  </a:extLst>
                </p:cNvPr>
                <p:cNvSpPr/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×</m:t>
                        </m:r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C18C612-66C9-8524-A0C9-40674D85CB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AD7116-E8F3-3D6A-FBCF-93588AEF36CB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 flipV="1">
              <a:off x="4343201" y="2089960"/>
              <a:ext cx="270292" cy="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441201-DC28-6435-3ACC-D217BF3B86C1}"/>
              </a:ext>
            </a:extLst>
          </p:cNvPr>
          <p:cNvGrpSpPr/>
          <p:nvPr/>
        </p:nvGrpSpPr>
        <p:grpSpPr>
          <a:xfrm>
            <a:off x="9267391" y="1906869"/>
            <a:ext cx="1099618" cy="1073731"/>
            <a:chOff x="9791421" y="1906869"/>
            <a:chExt cx="1099618" cy="1073731"/>
          </a:xfrm>
        </p:grpSpPr>
        <p:sp>
          <p:nvSpPr>
            <p:cNvPr id="15" name="Arrow: Curved Up 14">
              <a:extLst>
                <a:ext uri="{FF2B5EF4-FFF2-40B4-BE49-F238E27FC236}">
                  <a16:creationId xmlns:a16="http://schemas.microsoft.com/office/drawing/2014/main" id="{CAFF4D88-2628-31E2-D0EE-07C038576426}"/>
                </a:ext>
              </a:extLst>
            </p:cNvPr>
            <p:cNvSpPr/>
            <p:nvPr/>
          </p:nvSpPr>
          <p:spPr bwMode="auto">
            <a:xfrm rot="16200000" flipH="1">
              <a:off x="9711792" y="2095027"/>
              <a:ext cx="511348" cy="352090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6742CB8-7746-83E2-508C-34A515588775}"/>
                    </a:ext>
                  </a:extLst>
                </p:cNvPr>
                <p:cNvSpPr txBox="1"/>
                <p:nvPr/>
              </p:nvSpPr>
              <p:spPr>
                <a:xfrm>
                  <a:off x="10059538" y="1906869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×(−4)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6742CB8-7746-83E2-508C-34A515588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9538" y="1906869"/>
                  <a:ext cx="831501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759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rrow: Curved Up 16">
              <a:extLst>
                <a:ext uri="{FF2B5EF4-FFF2-40B4-BE49-F238E27FC236}">
                  <a16:creationId xmlns:a16="http://schemas.microsoft.com/office/drawing/2014/main" id="{48CE7544-815E-2337-C196-CA5EDAC62A84}"/>
                </a:ext>
              </a:extLst>
            </p:cNvPr>
            <p:cNvSpPr/>
            <p:nvPr/>
          </p:nvSpPr>
          <p:spPr bwMode="auto">
            <a:xfrm rot="16200000" flipH="1">
              <a:off x="9484867" y="2321955"/>
              <a:ext cx="965201" cy="352089"/>
            </a:xfrm>
            <a:prstGeom prst="curvedUpArrow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91600D-4205-A04F-40CC-CE87F9883A3A}"/>
                    </a:ext>
                  </a:extLst>
                </p:cNvPr>
                <p:cNvSpPr txBox="1"/>
                <p:nvPr/>
              </p:nvSpPr>
              <p:spPr>
                <a:xfrm>
                  <a:off x="9974532" y="2450610"/>
                  <a:ext cx="7352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oMath>
                    </m:oMathPara>
                  </a14:m>
                  <a:endParaRPr lang="en-US" sz="1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91600D-4205-A04F-40CC-CE87F9883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4532" y="2450610"/>
                  <a:ext cx="73523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C69B4C-2757-C532-9931-9064B8B5B9AB}"/>
              </a:ext>
            </a:extLst>
          </p:cNvPr>
          <p:cNvGrpSpPr/>
          <p:nvPr/>
        </p:nvGrpSpPr>
        <p:grpSpPr>
          <a:xfrm>
            <a:off x="613056" y="3729292"/>
            <a:ext cx="3873910" cy="2079233"/>
            <a:chOff x="6094476" y="1468317"/>
            <a:chExt cx="3873910" cy="207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2E35825-6B72-ACFA-E6D9-8E287DA52F07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739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2E35825-6B72-ACFA-E6D9-8E287DA52F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7395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7278C7-10F2-6219-0CF8-182A23228429}"/>
                    </a:ext>
                  </a:extLst>
                </p:cNvPr>
                <p:cNvSpPr txBox="1"/>
                <p:nvPr/>
              </p:nvSpPr>
              <p:spPr>
                <a:xfrm>
                  <a:off x="6402322" y="146831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7278C7-10F2-6219-0CF8-182A23228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322" y="1468317"/>
                  <a:ext cx="234007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1552E86-C8F7-D157-EFE2-0E10A84952EF}"/>
                  </a:ext>
                </a:extLst>
              </p:cNvPr>
              <p:cNvSpPr/>
              <p:nvPr/>
            </p:nvSpPr>
            <p:spPr bwMode="auto">
              <a:xfrm>
                <a:off x="5112774" y="4402674"/>
                <a:ext cx="6819487" cy="1536010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сейчас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ru-RU" sz="16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переходим к пункту </a:t>
                </a:r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endParaRPr lang="ru-RU" sz="16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uman Sans ExtraLight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Умножаем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на число, обратное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превратить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1.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ко всем строкам ниже.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под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1552E86-C8F7-D157-EFE2-0E10A8495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2774" y="4402674"/>
                <a:ext cx="6819487" cy="1536010"/>
              </a:xfrm>
              <a:prstGeom prst="roundRect">
                <a:avLst/>
              </a:prstGeom>
              <a:blipFill>
                <a:blip r:embed="rId11"/>
                <a:stretch>
                  <a:fillRect l="-716" t="-1587" b="-5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64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EB1A-BF36-73F5-41A2-53D89ED7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 </a:t>
            </a:r>
            <a:r>
              <a:rPr lang="ru-RU" dirty="0"/>
              <a:t>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2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C69B4C-2757-C532-9931-9064B8B5B9AB}"/>
              </a:ext>
            </a:extLst>
          </p:cNvPr>
          <p:cNvGrpSpPr/>
          <p:nvPr/>
        </p:nvGrpSpPr>
        <p:grpSpPr>
          <a:xfrm>
            <a:off x="457200" y="1349767"/>
            <a:ext cx="3873910" cy="2079233"/>
            <a:chOff x="6094476" y="1468317"/>
            <a:chExt cx="3873910" cy="207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2E35825-6B72-ACFA-E6D9-8E287DA52F07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739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2E35825-6B72-ACFA-E6D9-8E287DA52F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7395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7278C7-10F2-6219-0CF8-182A23228429}"/>
                    </a:ext>
                  </a:extLst>
                </p:cNvPr>
                <p:cNvSpPr txBox="1"/>
                <p:nvPr/>
              </p:nvSpPr>
              <p:spPr>
                <a:xfrm>
                  <a:off x="6402322" y="146831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7278C7-10F2-6219-0CF8-182A23228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322" y="1468317"/>
                  <a:ext cx="234007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0FDD9A-8E9D-B773-1E8F-34897B477253}"/>
              </a:ext>
            </a:extLst>
          </p:cNvPr>
          <p:cNvGrpSpPr/>
          <p:nvPr/>
        </p:nvGrpSpPr>
        <p:grpSpPr>
          <a:xfrm>
            <a:off x="4112952" y="1980276"/>
            <a:ext cx="1005596" cy="727584"/>
            <a:chOff x="4343201" y="1942922"/>
            <a:chExt cx="651859" cy="294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2619305-321D-5973-B058-445D6FBBF5DE}"/>
                    </a:ext>
                  </a:extLst>
                </p:cNvPr>
                <p:cNvSpPr/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×</m:t>
                        </m:r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2619305-321D-5973-B058-445D6FBBF5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D8BC558-DF0E-2533-CED0-1BCB71E30D95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 flipV="1">
              <a:off x="4343201" y="2089960"/>
              <a:ext cx="270292" cy="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BCD2074-5A7E-D3D4-CF61-78225A07E4A2}"/>
              </a:ext>
            </a:extLst>
          </p:cNvPr>
          <p:cNvGrpSpPr/>
          <p:nvPr/>
        </p:nvGrpSpPr>
        <p:grpSpPr>
          <a:xfrm>
            <a:off x="5436564" y="1349767"/>
            <a:ext cx="3873910" cy="2186827"/>
            <a:chOff x="6094476" y="1468317"/>
            <a:chExt cx="3873910" cy="2186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F916291-C608-D998-EA2C-B2E4D0A41ED9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8471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F916291-C608-D998-EA2C-B2E4D0A41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8471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3E01DC7-0199-7F1E-6B10-5A99B8417AF6}"/>
                    </a:ext>
                  </a:extLst>
                </p:cNvPr>
                <p:cNvSpPr txBox="1"/>
                <p:nvPr/>
              </p:nvSpPr>
              <p:spPr>
                <a:xfrm>
                  <a:off x="6402322" y="146831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3E01DC7-0199-7F1E-6B10-5A99B8417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322" y="1468317"/>
                  <a:ext cx="234007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A172F5-6452-A447-C12A-4ABF36142BA7}"/>
              </a:ext>
            </a:extLst>
          </p:cNvPr>
          <p:cNvGrpSpPr/>
          <p:nvPr/>
        </p:nvGrpSpPr>
        <p:grpSpPr>
          <a:xfrm>
            <a:off x="9038579" y="2384176"/>
            <a:ext cx="1026949" cy="989153"/>
            <a:chOff x="9791421" y="1991447"/>
            <a:chExt cx="1026949" cy="989153"/>
          </a:xfrm>
        </p:grpSpPr>
        <p:sp>
          <p:nvSpPr>
            <p:cNvPr id="19" name="Arrow: Curved Up 18">
              <a:extLst>
                <a:ext uri="{FF2B5EF4-FFF2-40B4-BE49-F238E27FC236}">
                  <a16:creationId xmlns:a16="http://schemas.microsoft.com/office/drawing/2014/main" id="{24B9D986-B897-E2FB-2580-35AC430B94EA}"/>
                </a:ext>
              </a:extLst>
            </p:cNvPr>
            <p:cNvSpPr/>
            <p:nvPr/>
          </p:nvSpPr>
          <p:spPr bwMode="auto">
            <a:xfrm rot="16200000" flipH="1">
              <a:off x="9711792" y="2095027"/>
              <a:ext cx="511348" cy="352090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224F6A1-8745-A3CB-981D-B380F07F4100}"/>
                    </a:ext>
                  </a:extLst>
                </p:cNvPr>
                <p:cNvSpPr txBox="1"/>
                <p:nvPr/>
              </p:nvSpPr>
              <p:spPr>
                <a:xfrm>
                  <a:off x="9965581" y="1991447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224F6A1-8745-A3CB-981D-B380F07F4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5581" y="1991447"/>
                  <a:ext cx="83150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Arrow: Curved Up 24">
              <a:extLst>
                <a:ext uri="{FF2B5EF4-FFF2-40B4-BE49-F238E27FC236}">
                  <a16:creationId xmlns:a16="http://schemas.microsoft.com/office/drawing/2014/main" id="{7AF2CEC7-8139-71D1-DFBB-C9B8F19A9637}"/>
                </a:ext>
              </a:extLst>
            </p:cNvPr>
            <p:cNvSpPr/>
            <p:nvPr/>
          </p:nvSpPr>
          <p:spPr bwMode="auto">
            <a:xfrm rot="16200000" flipH="1">
              <a:off x="9484867" y="2321955"/>
              <a:ext cx="965201" cy="352089"/>
            </a:xfrm>
            <a:prstGeom prst="curvedUpArrow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385A5A-2A32-AB50-9A8C-49A737AD5B22}"/>
                    </a:ext>
                  </a:extLst>
                </p:cNvPr>
                <p:cNvSpPr txBox="1"/>
                <p:nvPr/>
              </p:nvSpPr>
              <p:spPr>
                <a:xfrm>
                  <a:off x="10083136" y="2465974"/>
                  <a:ext cx="7352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ru-RU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(−3)</m:t>
                        </m:r>
                      </m:oMath>
                    </m:oMathPara>
                  </a14:m>
                  <a:endParaRPr lang="en-US" sz="1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385A5A-2A32-AB50-9A8C-49A737AD5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36" y="2465974"/>
                  <a:ext cx="735234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4167"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CDF00C1-00A2-C48E-372D-AE6CEBDDEF1E}"/>
              </a:ext>
            </a:extLst>
          </p:cNvPr>
          <p:cNvGrpSpPr/>
          <p:nvPr/>
        </p:nvGrpSpPr>
        <p:grpSpPr>
          <a:xfrm>
            <a:off x="364932" y="3542608"/>
            <a:ext cx="3873910" cy="2564891"/>
            <a:chOff x="6094476" y="1484207"/>
            <a:chExt cx="3873910" cy="2564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4FBB0E6-DE65-A980-F688-8AD024D96A39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2241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69</m:t>
                                          </m:r>
                                        </m:num>
                                        <m:den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57</m:t>
                                          </m:r>
                                        </m:num>
                                        <m:den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69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57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4FBB0E6-DE65-A980-F688-8AD024D96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224106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374A37-8818-AB19-4408-1B73EDA4DEA2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374A37-8818-AB19-4408-1B73EDA4D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3EEA9B9-B05D-D200-10B7-F5F56A7DAE87}"/>
                  </a:ext>
                </a:extLst>
              </p:cNvPr>
              <p:cNvSpPr/>
              <p:nvPr/>
            </p:nvSpPr>
            <p:spPr bwMode="auto">
              <a:xfrm>
                <a:off x="4824234" y="4146707"/>
                <a:ext cx="6691668" cy="1683448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ru-RU" sz="16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сразу переходим к пункту </a:t>
                </a:r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Умножаем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вторую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на число, обратное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превратить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1.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Вторую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ниже.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под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3EEA9B9-B05D-D200-10B7-F5F56A7DA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4234" y="4146707"/>
                <a:ext cx="6691668" cy="1683448"/>
              </a:xfrm>
              <a:prstGeom prst="roundRect">
                <a:avLst/>
              </a:prstGeom>
              <a:blipFill>
                <a:blip r:embed="rId11"/>
                <a:stretch>
                  <a:fillRect l="-638" b="-1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21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#3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345B23-A318-DDD5-3B62-0A2292EC3F2B}"/>
              </a:ext>
            </a:extLst>
          </p:cNvPr>
          <p:cNvGrpSpPr/>
          <p:nvPr/>
        </p:nvGrpSpPr>
        <p:grpSpPr>
          <a:xfrm>
            <a:off x="457200" y="1088700"/>
            <a:ext cx="3873910" cy="2564891"/>
            <a:chOff x="6094476" y="1484207"/>
            <a:chExt cx="3873910" cy="2564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7B06DD1-517D-10D6-AAFA-22FDD6EA0FE5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2241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69</m:t>
                                          </m:r>
                                        </m:num>
                                        <m:den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57</m:t>
                                          </m:r>
                                        </m:num>
                                        <m:den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69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57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7B06DD1-517D-10D6-AAFA-22FDD6EA0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224106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0D995E-B12F-672F-48B7-0B580629BC0D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0D995E-B12F-672F-48B7-0B580629B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B69FC7-B6B1-4212-C2C9-8884D792CD75}"/>
              </a:ext>
            </a:extLst>
          </p:cNvPr>
          <p:cNvGrpSpPr/>
          <p:nvPr/>
        </p:nvGrpSpPr>
        <p:grpSpPr>
          <a:xfrm>
            <a:off x="4122696" y="2361636"/>
            <a:ext cx="1005596" cy="727584"/>
            <a:chOff x="4343201" y="1942922"/>
            <a:chExt cx="651859" cy="294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20BACAC-899F-EC98-9E22-2E7C4DEB22DF}"/>
                    </a:ext>
                  </a:extLst>
                </p:cNvPr>
                <p:cNvSpPr/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×</m:t>
                        </m:r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69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20BACAC-899F-EC98-9E22-2E7C4DEB22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3BC2C35-6D06-1F6A-3C01-C901A255E92C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 flipH="1" flipV="1">
              <a:off x="4343201" y="2089960"/>
              <a:ext cx="270292" cy="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51D933-4485-CC72-5B4E-BE8CE3A6942C}"/>
              </a:ext>
            </a:extLst>
          </p:cNvPr>
          <p:cNvGrpSpPr/>
          <p:nvPr/>
        </p:nvGrpSpPr>
        <p:grpSpPr>
          <a:xfrm>
            <a:off x="5126755" y="1191805"/>
            <a:ext cx="3873910" cy="2461786"/>
            <a:chOff x="6094476" y="1484207"/>
            <a:chExt cx="3873910" cy="24617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2103B95-33A7-C18F-D7BE-D17E229D907E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21379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57</m:t>
                                          </m:r>
                                        </m:num>
                                        <m:den>
                                          <m: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ru-RU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57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2103B95-33A7-C18F-D7BE-D17E229D9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213795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191F4E5-90D6-E97E-54CF-C745930AF590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191F4E5-90D6-E97E-54CF-C745930AF5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58C29C-A313-57AB-19E5-02FC59CA66B1}"/>
              </a:ext>
            </a:extLst>
          </p:cNvPr>
          <p:cNvGrpSpPr/>
          <p:nvPr/>
        </p:nvGrpSpPr>
        <p:grpSpPr>
          <a:xfrm>
            <a:off x="8752368" y="2797937"/>
            <a:ext cx="1183591" cy="595067"/>
            <a:chOff x="4082813" y="5097809"/>
            <a:chExt cx="1183591" cy="595067"/>
          </a:xfrm>
        </p:grpSpPr>
        <p:sp>
          <p:nvSpPr>
            <p:cNvPr id="21" name="Arrow: Curved Up 20">
              <a:extLst>
                <a:ext uri="{FF2B5EF4-FFF2-40B4-BE49-F238E27FC236}">
                  <a16:creationId xmlns:a16="http://schemas.microsoft.com/office/drawing/2014/main" id="{81EA9D71-385D-9BDD-B495-24FBE1C36C41}"/>
                </a:ext>
              </a:extLst>
            </p:cNvPr>
            <p:cNvSpPr/>
            <p:nvPr/>
          </p:nvSpPr>
          <p:spPr bwMode="auto">
            <a:xfrm rot="16200000" flipH="1">
              <a:off x="3961324" y="5219298"/>
              <a:ext cx="595067" cy="352090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A32C626-14D6-241B-F297-76D128BA1A59}"/>
                    </a:ext>
                  </a:extLst>
                </p:cNvPr>
                <p:cNvSpPr txBox="1"/>
                <p:nvPr/>
              </p:nvSpPr>
              <p:spPr>
                <a:xfrm>
                  <a:off x="4434903" y="5210677"/>
                  <a:ext cx="831501" cy="4213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</m:t>
                        </m:r>
                        <m:box>
                          <m:box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</m:num>
                              <m:den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box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A32C626-14D6-241B-F297-76D128BA1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903" y="5210677"/>
                  <a:ext cx="831501" cy="421397"/>
                </a:xfrm>
                <a:prstGeom prst="rect">
                  <a:avLst/>
                </a:prstGeom>
                <a:blipFill>
                  <a:blip r:embed="rId7"/>
                  <a:stretch>
                    <a:fillRect r="-17647" b="-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58F19C-CF1A-67F1-4A05-E7BF73F8BF56}"/>
              </a:ext>
            </a:extLst>
          </p:cNvPr>
          <p:cNvGrpSpPr/>
          <p:nvPr/>
        </p:nvGrpSpPr>
        <p:grpSpPr>
          <a:xfrm>
            <a:off x="457200" y="3708576"/>
            <a:ext cx="3873910" cy="2150803"/>
            <a:chOff x="6094476" y="1484207"/>
            <a:chExt cx="3873910" cy="21508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81BCCF-05EB-7DD0-4B15-F8D9A064DE89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8269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81BCCF-05EB-7DD0-4B15-F8D9A064D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8269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BD14507-C2F6-93FA-FE1F-FB419E383AD9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BD14507-C2F6-93FA-FE1F-FB419E383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2E4AB47-B61B-BCF3-2DF6-BC201B322868}"/>
                  </a:ext>
                </a:extLst>
              </p:cNvPr>
              <p:cNvSpPr/>
              <p:nvPr/>
            </p:nvSpPr>
            <p:spPr bwMode="auto">
              <a:xfrm>
                <a:off x="4833978" y="4231796"/>
                <a:ext cx="6646606" cy="1627583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ru-RU" sz="16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сразу переходим к пункту </a:t>
                </a:r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Умножаем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на число, обратное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превратить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1.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 </m:t>
                    </m:r>
                  </m:oMath>
                </a14:m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ниже.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под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2E4AB47-B61B-BCF3-2DF6-BC201B322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3978" y="4231796"/>
                <a:ext cx="6646606" cy="1627583"/>
              </a:xfrm>
              <a:prstGeom prst="roundRect">
                <a:avLst/>
              </a:prstGeom>
              <a:blipFill>
                <a:blip r:embed="rId10"/>
                <a:stretch>
                  <a:fillRect l="-642" b="-2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77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прямой ход –</a:t>
            </a:r>
            <a:r>
              <a:rPr lang="en-US" dirty="0"/>
              <a:t> </a:t>
            </a:r>
            <a:r>
              <a:rPr lang="ru-RU" dirty="0"/>
              <a:t>анализ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58F19C-CF1A-67F1-4A05-E7BF73F8BF56}"/>
              </a:ext>
            </a:extLst>
          </p:cNvPr>
          <p:cNvGrpSpPr/>
          <p:nvPr/>
        </p:nvGrpSpPr>
        <p:grpSpPr>
          <a:xfrm>
            <a:off x="339213" y="1201350"/>
            <a:ext cx="3873910" cy="2150803"/>
            <a:chOff x="6094476" y="1484207"/>
            <a:chExt cx="3873910" cy="21508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81BCCF-05EB-7DD0-4B15-F8D9A064DE89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8269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81BCCF-05EB-7DD0-4B15-F8D9A064D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8269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BD14507-C2F6-93FA-FE1F-FB419E383AD9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BD14507-C2F6-93FA-FE1F-FB419E383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2E4AB47-B61B-BCF3-2DF6-BC201B322868}"/>
                  </a:ext>
                </a:extLst>
              </p:cNvPr>
              <p:cNvSpPr/>
              <p:nvPr/>
            </p:nvSpPr>
            <p:spPr bwMode="auto">
              <a:xfrm>
                <a:off x="4802887" y="2939826"/>
                <a:ext cx="6351983" cy="1826975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4-го столбца нет, то </a:t>
                </a:r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прямой ход закончен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еще остались строки ниже, то 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соотвествующий свободный член (у нас это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) равен 0, то эту строку удаляем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соотвествующий свободный член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) не равен 0,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то РЕШЕНИЙ НЕТ</a:t>
                </a: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2E4AB47-B61B-BCF3-2DF6-BC201B322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2887" y="2939826"/>
                <a:ext cx="6351983" cy="1826975"/>
              </a:xfrm>
              <a:prstGeom prst="roundRect">
                <a:avLst/>
              </a:prstGeom>
              <a:blipFill>
                <a:blip r:embed="rId4"/>
                <a:stretch>
                  <a:fillRect l="-5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5FD7169-163A-7F31-B1AF-8E808FF1C9D7}"/>
              </a:ext>
            </a:extLst>
          </p:cNvPr>
          <p:cNvGrpSpPr/>
          <p:nvPr/>
        </p:nvGrpSpPr>
        <p:grpSpPr>
          <a:xfrm>
            <a:off x="339213" y="3853314"/>
            <a:ext cx="3873910" cy="1803336"/>
            <a:chOff x="6094476" y="1484207"/>
            <a:chExt cx="3873910" cy="1803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5FD2715-51CB-E7B6-1043-5EB60A1BC0D3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5FD2715-51CB-E7B6-1043-5EB60A1BC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ABC9FF6-3C67-153C-C0A7-D85A4A766E84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ABC9FF6-3C67-153C-C0A7-D85A4A766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02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обратный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3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D7169-163A-7F31-B1AF-8E808FF1C9D7}"/>
              </a:ext>
            </a:extLst>
          </p:cNvPr>
          <p:cNvGrpSpPr/>
          <p:nvPr/>
        </p:nvGrpSpPr>
        <p:grpSpPr>
          <a:xfrm>
            <a:off x="368709" y="1422400"/>
            <a:ext cx="3873910" cy="1803336"/>
            <a:chOff x="6094476" y="1484207"/>
            <a:chExt cx="3873910" cy="1803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5FD2715-51CB-E7B6-1043-5EB60A1BC0D3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box>
                                    <m:box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18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ox>
                                        <m:boxPr>
                                          <m:ctrlPr>
                                            <a:rPr lang="en-US" sz="280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18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5FD2715-51CB-E7B6-1043-5EB60A1BC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ABC9FF6-3C67-153C-C0A7-D85A4A766E84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ABC9FF6-3C67-153C-C0A7-D85A4A766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/>
              <p:nvPr/>
            </p:nvSpPr>
            <p:spPr bwMode="auto">
              <a:xfrm>
                <a:off x="4682610" y="4374444"/>
                <a:ext cx="6351983" cy="965200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↑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выше.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над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2610" y="4374444"/>
                <a:ext cx="6351983" cy="965200"/>
              </a:xfrm>
              <a:prstGeom prst="roundRect">
                <a:avLst/>
              </a:prstGeom>
              <a:blipFill>
                <a:blip r:embed="rId5"/>
                <a:stretch>
                  <a:fillRect l="-1248" r="-672" b="-6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31BE9B8-E8DC-BCDF-0E6E-471DE1E07B31}"/>
              </a:ext>
            </a:extLst>
          </p:cNvPr>
          <p:cNvGrpSpPr/>
          <p:nvPr/>
        </p:nvGrpSpPr>
        <p:grpSpPr>
          <a:xfrm>
            <a:off x="3958397" y="1932081"/>
            <a:ext cx="1139964" cy="1106151"/>
            <a:chOff x="3958397" y="1932081"/>
            <a:chExt cx="1139964" cy="11061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/>
                <p:nvPr/>
              </p:nvSpPr>
              <p:spPr>
                <a:xfrm>
                  <a:off x="4266860" y="2612133"/>
                  <a:ext cx="831501" cy="416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</m:t>
                        </m:r>
                        <m:box>
                          <m:box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box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6860" y="2612133"/>
                  <a:ext cx="831501" cy="416909"/>
                </a:xfrm>
                <a:prstGeom prst="rect">
                  <a:avLst/>
                </a:prstGeom>
                <a:blipFill>
                  <a:blip r:embed="rId6"/>
                  <a:stretch>
                    <a:fillRect r="-17647" b="-57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Arrow: Curved Up 7">
              <a:extLst>
                <a:ext uri="{FF2B5EF4-FFF2-40B4-BE49-F238E27FC236}">
                  <a16:creationId xmlns:a16="http://schemas.microsoft.com/office/drawing/2014/main" id="{7FF0D129-F55D-B7C9-C39A-F3851178AD3A}"/>
                </a:ext>
              </a:extLst>
            </p:cNvPr>
            <p:cNvSpPr/>
            <p:nvPr/>
          </p:nvSpPr>
          <p:spPr bwMode="auto">
            <a:xfrm rot="5400000" flipH="1" flipV="1">
              <a:off x="3599841" y="2304176"/>
              <a:ext cx="1092612" cy="375499"/>
            </a:xfrm>
            <a:prstGeom prst="curvedUpArrow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9AACD4-4107-374E-8F59-8B7126C099C4}"/>
                    </a:ext>
                  </a:extLst>
                </p:cNvPr>
                <p:cNvSpPr txBox="1"/>
                <p:nvPr/>
              </p:nvSpPr>
              <p:spPr>
                <a:xfrm>
                  <a:off x="4138096" y="1932081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ru-RU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9AACD4-4107-374E-8F59-8B7126C09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096" y="1932081"/>
                  <a:ext cx="83150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Arrow: Curved Up 9">
              <a:extLst>
                <a:ext uri="{FF2B5EF4-FFF2-40B4-BE49-F238E27FC236}">
                  <a16:creationId xmlns:a16="http://schemas.microsoft.com/office/drawing/2014/main" id="{98BE8690-1868-76D9-233B-32C27C5310F4}"/>
                </a:ext>
              </a:extLst>
            </p:cNvPr>
            <p:cNvSpPr/>
            <p:nvPr/>
          </p:nvSpPr>
          <p:spPr bwMode="auto">
            <a:xfrm rot="5400000" flipH="1" flipV="1">
              <a:off x="3882422" y="2624155"/>
              <a:ext cx="511348" cy="289729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1A2262-738B-574F-7660-4E7501803877}"/>
              </a:ext>
            </a:extLst>
          </p:cNvPr>
          <p:cNvGrpSpPr/>
          <p:nvPr/>
        </p:nvGrpSpPr>
        <p:grpSpPr>
          <a:xfrm>
            <a:off x="368709" y="3793462"/>
            <a:ext cx="3873910" cy="1803336"/>
            <a:chOff x="6094476" y="1484207"/>
            <a:chExt cx="3873910" cy="1803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79FE6A1-344A-AF09-C234-2BCE3030ED16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79FE6A1-344A-AF09-C234-2BCE3030E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0255C7A-FB22-F35F-4577-4458FE60DB56}"/>
                    </a:ext>
                  </a:extLst>
                </p:cNvPr>
                <p:cNvSpPr txBox="1"/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0255C7A-FB22-F35F-4577-4458FE60D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584" y="1484207"/>
                  <a:ext cx="2340078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6694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обратный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/>
              <p:nvPr/>
            </p:nvSpPr>
            <p:spPr bwMode="auto">
              <a:xfrm>
                <a:off x="4910205" y="4036681"/>
                <a:ext cx="6351983" cy="965200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↑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Вторую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выше.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над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05" y="4036681"/>
                <a:ext cx="6351983" cy="965200"/>
              </a:xfrm>
              <a:prstGeom prst="roundRect">
                <a:avLst/>
              </a:prstGeom>
              <a:blipFill>
                <a:blip r:embed="rId3"/>
                <a:stretch>
                  <a:fillRect l="-1152" r="-1056" b="-6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99F9A24-595A-C897-18D1-0073CBD1A68F}"/>
              </a:ext>
            </a:extLst>
          </p:cNvPr>
          <p:cNvGrpSpPr/>
          <p:nvPr/>
        </p:nvGrpSpPr>
        <p:grpSpPr>
          <a:xfrm>
            <a:off x="3693687" y="1819899"/>
            <a:ext cx="711166" cy="511348"/>
            <a:chOff x="3693687" y="1819899"/>
            <a:chExt cx="711166" cy="511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/>
                <p:nvPr/>
              </p:nvSpPr>
              <p:spPr>
                <a:xfrm>
                  <a:off x="3967317" y="1918686"/>
                  <a:ext cx="43753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ru-R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317" y="1918686"/>
                  <a:ext cx="43753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0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Arrow: Curved Up 9">
              <a:extLst>
                <a:ext uri="{FF2B5EF4-FFF2-40B4-BE49-F238E27FC236}">
                  <a16:creationId xmlns:a16="http://schemas.microsoft.com/office/drawing/2014/main" id="{98BE8690-1868-76D9-233B-32C27C5310F4}"/>
                </a:ext>
              </a:extLst>
            </p:cNvPr>
            <p:cNvSpPr/>
            <p:nvPr/>
          </p:nvSpPr>
          <p:spPr bwMode="auto">
            <a:xfrm rot="5400000" flipH="1" flipV="1">
              <a:off x="3582878" y="1930708"/>
              <a:ext cx="511348" cy="289729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05A723-2271-BD23-1A5B-3D6FDEBF2B1D}"/>
              </a:ext>
            </a:extLst>
          </p:cNvPr>
          <p:cNvGrpSpPr/>
          <p:nvPr/>
        </p:nvGrpSpPr>
        <p:grpSpPr>
          <a:xfrm>
            <a:off x="231895" y="1160790"/>
            <a:ext cx="3873910" cy="1846377"/>
            <a:chOff x="6094476" y="1441166"/>
            <a:chExt cx="3873910" cy="18463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110DD4A-D9E9-AD52-4EBC-CBEEEDF126A6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110DD4A-D9E9-AD52-4EBC-CBEEEDF12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8FDDC98-536B-9F9A-2919-98DFAE333C4F}"/>
                    </a:ext>
                  </a:extLst>
                </p:cNvPr>
                <p:cNvSpPr txBox="1"/>
                <p:nvPr/>
              </p:nvSpPr>
              <p:spPr>
                <a:xfrm>
                  <a:off x="6519303" y="1441166"/>
                  <a:ext cx="23400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8FDDC98-536B-9F9A-2919-98DFAE333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9303" y="1441166"/>
                  <a:ext cx="234007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C932A-8194-36E7-ABE3-D49C66784D4A}"/>
              </a:ext>
            </a:extLst>
          </p:cNvPr>
          <p:cNvGrpSpPr/>
          <p:nvPr/>
        </p:nvGrpSpPr>
        <p:grpSpPr>
          <a:xfrm>
            <a:off x="231895" y="3513461"/>
            <a:ext cx="3873910" cy="1816880"/>
            <a:chOff x="6094476" y="1470663"/>
            <a:chExt cx="3873910" cy="1816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12A365-318C-D6F0-69AC-F1C82F92212A}"/>
                    </a:ext>
                  </a:extLst>
                </p:cNvPr>
                <p:cNvSpPr txBox="1"/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12A365-318C-D6F0-69AC-F1C82F922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476" y="1808035"/>
                  <a:ext cx="3873910" cy="14795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4EDB89-0920-4C17-5CDF-3C94FC3BE410}"/>
                    </a:ext>
                  </a:extLst>
                </p:cNvPr>
                <p:cNvSpPr txBox="1"/>
                <p:nvPr/>
              </p:nvSpPr>
              <p:spPr>
                <a:xfrm>
                  <a:off x="6655935" y="1470663"/>
                  <a:ext cx="20668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4EDB89-0920-4C17-5CDF-3C94FC3BE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935" y="1470663"/>
                  <a:ext cx="2066813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2C163BE-C13D-67CF-9889-4158D3C31F57}"/>
                  </a:ext>
                </a:extLst>
              </p:cNvPr>
              <p:cNvSpPr/>
              <p:nvPr/>
            </p:nvSpPr>
            <p:spPr bwMode="auto">
              <a:xfrm>
                <a:off x="4910205" y="2683548"/>
                <a:ext cx="2468904" cy="647237"/>
              </a:xfrm>
              <a:prstGeom prst="roundRect">
                <a:avLst/>
              </a:prstGeom>
              <a:solidFill>
                <a:srgbClr val="DBB661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ОТВЕТ</a:t>
                </a:r>
                <a:r>
                  <a:rPr lang="en-US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1,0,−1</m:t>
                    </m:r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2C163BE-C13D-67CF-9889-4158D3C31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05" y="2683548"/>
                <a:ext cx="2468904" cy="647237"/>
              </a:xfrm>
              <a:prstGeom prst="roundRect">
                <a:avLst/>
              </a:prstGeom>
              <a:blipFill>
                <a:blip r:embed="rId9"/>
                <a:stretch>
                  <a:fillRect l="-6173" b="-75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17D71C0-0F29-963D-D980-2F164CF1B5A2}"/>
                  </a:ext>
                </a:extLst>
              </p:cNvPr>
              <p:cNvSpPr/>
              <p:nvPr/>
            </p:nvSpPr>
            <p:spPr bwMode="auto">
              <a:xfrm>
                <a:off x="4910205" y="1625502"/>
                <a:ext cx="5067862" cy="647237"/>
              </a:xfrm>
              <a:prstGeom prst="roundRect">
                <a:avLst/>
              </a:prstGeom>
              <a:solidFill>
                <a:srgbClr val="DBB661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ОТВЕТ</a:t>
                </a:r>
                <a:r>
                  <a:rPr lang="en-US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=1,</m:t>
                          </m:r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en-US" sz="24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17D71C0-0F29-963D-D980-2F164CF1B5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05" y="1625502"/>
                <a:ext cx="5067862" cy="647237"/>
              </a:xfrm>
              <a:prstGeom prst="roundRect">
                <a:avLst/>
              </a:prstGeom>
              <a:blipFill>
                <a:blip r:embed="rId10"/>
                <a:stretch>
                  <a:fillRect l="-3005" b="-6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95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C53-090B-D582-32EE-2257F322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одна система</a:t>
            </a:r>
            <a:r>
              <a:rPr lang="en-US" dirty="0"/>
              <a:t>: </a:t>
            </a:r>
            <a:r>
              <a:rPr lang="ru-RU" dirty="0"/>
              <a:t>подготовка к запуску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7D3647-AD06-B298-C8E3-1D0B0943374F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398990" y="1103266"/>
                <a:ext cx="5164070" cy="21366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7D3647-AD06-B298-C8E3-1D0B09433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398990" y="1103266"/>
                <a:ext cx="5164070" cy="21366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A70F0C3-A2CC-0944-BE10-213F358CE542}"/>
              </a:ext>
            </a:extLst>
          </p:cNvPr>
          <p:cNvGrpSpPr/>
          <p:nvPr/>
        </p:nvGrpSpPr>
        <p:grpSpPr>
          <a:xfrm>
            <a:off x="5563060" y="1279494"/>
            <a:ext cx="4662488" cy="2000458"/>
            <a:chOff x="5663380" y="1201468"/>
            <a:chExt cx="3873910" cy="2000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0B35CD2-A801-D967-2D0A-1923B5FFF0F8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0B35CD2-A801-D967-2D0A-1923B5FFF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4545F5C-572E-0412-2DC3-4009EDEAB978}"/>
                    </a:ext>
                  </a:extLst>
                </p:cNvPr>
                <p:cNvSpPr txBox="1"/>
                <p:nvPr/>
              </p:nvSpPr>
              <p:spPr>
                <a:xfrm>
                  <a:off x="5793917" y="1201468"/>
                  <a:ext cx="292370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4545F5C-572E-0412-2DC3-4009EDEAB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3917" y="1201468"/>
                  <a:ext cx="292370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587763A-393A-E898-731C-C8174C924A02}"/>
                  </a:ext>
                </a:extLst>
              </p:cNvPr>
              <p:cNvSpPr/>
              <p:nvPr/>
            </p:nvSpPr>
            <p:spPr bwMode="auto">
              <a:xfrm>
                <a:off x="157317" y="3317967"/>
                <a:ext cx="8176918" cy="2433599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(0)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Выписываем матрицу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(</m:t>
                    </m:r>
                    <m:r>
                      <a:rPr lang="en-US" sz="1600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  <m:r>
                      <a:rPr lang="en-US" sz="1600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|</m:t>
                    </m:r>
                    <m:r>
                      <a:rPr lang="en-US" sz="1600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𝑏</m:t>
                    </m:r>
                    <m:r>
                      <a:rPr lang="ru-RU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 системе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или каким-либо другим образом получаем </a:t>
                </a:r>
                <a14:m>
                  <m:oMath xmlns:m="http://schemas.openxmlformats.org/officeDocument/2006/math">
                    <m:r>
                      <a:rPr lang="ru-RU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(</m:t>
                    </m:r>
                    <m:r>
                      <a:rPr lang="en-US" sz="16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  <m:r>
                      <a:rPr lang="en-US" sz="16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|</m:t>
                    </m:r>
                    <m:r>
                      <a:rPr lang="en-US" sz="16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𝑏</m:t>
                    </m:r>
                    <m:r>
                      <a:rPr lang="ru-RU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качестве входных данных</a:t>
                </a:r>
              </a:p>
              <a:p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(1)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Удаляем все нулевые столбцы в матрице системы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(2)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Если в матрице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  <m:r>
                      <a:rPr lang="en-US" sz="1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не осталось столбцов (т.е. матрица системы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была нулевая), то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столбец свободных членов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нулевой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	то решением является любая точка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–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число переменных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	(в нашем случае пространство решений являлось бы пространством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)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столбец свободных членов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ненулевой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	то РЕШЕНИЙ НЕТ</a:t>
                </a:r>
              </a:p>
            </p:txBody>
          </p:sp>
        </mc:Choice>
        <mc:Fallback xmlns="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587763A-393A-E898-731C-C8174C924A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17" y="3317967"/>
                <a:ext cx="8176918" cy="2433599"/>
              </a:xfrm>
              <a:prstGeom prst="roundRect">
                <a:avLst/>
              </a:prstGeom>
              <a:blipFill>
                <a:blip r:embed="rId6"/>
                <a:stretch>
                  <a:fillRect l="-75" b="-2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88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EB1A-BF36-73F5-41A2-53D89ED7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 </a:t>
            </a:r>
            <a:r>
              <a:rPr lang="ru-RU" dirty="0"/>
              <a:t>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161389-0D01-51B8-B1CF-C95885D9A1B7}"/>
              </a:ext>
            </a:extLst>
          </p:cNvPr>
          <p:cNvGrpSpPr/>
          <p:nvPr/>
        </p:nvGrpSpPr>
        <p:grpSpPr>
          <a:xfrm>
            <a:off x="4209960" y="1543077"/>
            <a:ext cx="1005596" cy="727584"/>
            <a:chOff x="4343201" y="1942922"/>
            <a:chExt cx="651859" cy="294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C18C612-66C9-8524-A0C9-40674D85CB23}"/>
                    </a:ext>
                  </a:extLst>
                </p:cNvPr>
                <p:cNvSpPr/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×</m:t>
                        </m:r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C18C612-66C9-8524-A0C9-40674D85CB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AD7116-E8F3-3D6A-FBCF-93588AEF36CB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 flipV="1">
              <a:off x="4343201" y="2089960"/>
              <a:ext cx="270292" cy="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1552E86-C8F7-D157-EFE2-0E10A84952EF}"/>
                  </a:ext>
                </a:extLst>
              </p:cNvPr>
              <p:cNvSpPr/>
              <p:nvPr/>
            </p:nvSpPr>
            <p:spPr bwMode="auto">
              <a:xfrm>
                <a:off x="5112774" y="4402674"/>
                <a:ext cx="6819487" cy="1536010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сейчас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ru-RU" sz="16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переходим к пункту </a:t>
                </a:r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endParaRPr lang="ru-RU" sz="16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uman Sans ExtraLight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Умножаем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на число, обратное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превратить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1.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Первую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ниже.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под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1552E86-C8F7-D157-EFE2-0E10A8495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2774" y="4402674"/>
                <a:ext cx="6819487" cy="1536010"/>
              </a:xfrm>
              <a:prstGeom prst="roundRect">
                <a:avLst/>
              </a:prstGeom>
              <a:blipFill>
                <a:blip r:embed="rId3"/>
                <a:stretch>
                  <a:fillRect l="-716" t="-1587" b="-5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B189AAC-7333-AE1F-3856-25B578B010D0}"/>
              </a:ext>
            </a:extLst>
          </p:cNvPr>
          <p:cNvGrpSpPr/>
          <p:nvPr/>
        </p:nvGrpSpPr>
        <p:grpSpPr>
          <a:xfrm>
            <a:off x="241274" y="1343022"/>
            <a:ext cx="4662488" cy="2085978"/>
            <a:chOff x="5663380" y="1115948"/>
            <a:chExt cx="3873910" cy="20859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F199B23-78E5-19B7-942F-C767C9BB951F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F199B23-78E5-19B7-942F-C767C9BB9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CF29B94-6F37-626B-5111-7B8CBF5699D9}"/>
                    </a:ext>
                  </a:extLst>
                </p:cNvPr>
                <p:cNvSpPr txBox="1"/>
                <p:nvPr/>
              </p:nvSpPr>
              <p:spPr>
                <a:xfrm>
                  <a:off x="6344941" y="1115948"/>
                  <a:ext cx="198997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CF29B94-6F37-626B-5111-7B8CBF569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4941" y="1115948"/>
                  <a:ext cx="198997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941CB-3001-DEF0-B4B2-16224BC4161C}"/>
              </a:ext>
            </a:extLst>
          </p:cNvPr>
          <p:cNvGrpSpPr/>
          <p:nvPr/>
        </p:nvGrpSpPr>
        <p:grpSpPr>
          <a:xfrm>
            <a:off x="149890" y="3763669"/>
            <a:ext cx="4662488" cy="2063616"/>
            <a:chOff x="5663380" y="1138310"/>
            <a:chExt cx="3873910" cy="2063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FAEA931-B316-B1A6-E379-41545395AD9E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FAEA931-B316-B1A6-E379-41545395A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DDDA338-AA02-FC57-9690-C76F696801C8}"/>
                    </a:ext>
                  </a:extLst>
                </p:cNvPr>
                <p:cNvSpPr txBox="1"/>
                <p:nvPr/>
              </p:nvSpPr>
              <p:spPr>
                <a:xfrm>
                  <a:off x="6549882" y="1138310"/>
                  <a:ext cx="17319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DDDA338-AA02-FC57-9690-C76F69680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9882" y="1138310"/>
                  <a:ext cx="173195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FD3A67-B5D2-6451-5E10-D067CC41C64D}"/>
              </a:ext>
            </a:extLst>
          </p:cNvPr>
          <p:cNvGrpSpPr/>
          <p:nvPr/>
        </p:nvGrpSpPr>
        <p:grpSpPr>
          <a:xfrm>
            <a:off x="9012582" y="1844040"/>
            <a:ext cx="1184622" cy="1499158"/>
            <a:chOff x="10312076" y="870416"/>
            <a:chExt cx="1184622" cy="1499158"/>
          </a:xfrm>
        </p:grpSpPr>
        <p:sp>
          <p:nvSpPr>
            <p:cNvPr id="15" name="Arrow: Curved Up 14">
              <a:extLst>
                <a:ext uri="{FF2B5EF4-FFF2-40B4-BE49-F238E27FC236}">
                  <a16:creationId xmlns:a16="http://schemas.microsoft.com/office/drawing/2014/main" id="{CAFF4D88-2628-31E2-D0EE-07C038576426}"/>
                </a:ext>
              </a:extLst>
            </p:cNvPr>
            <p:cNvSpPr/>
            <p:nvPr/>
          </p:nvSpPr>
          <p:spPr bwMode="auto">
            <a:xfrm rot="16200000" flipH="1">
              <a:off x="10232447" y="1107474"/>
              <a:ext cx="511348" cy="352090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6742CB8-7746-83E2-508C-34A515588775}"/>
                    </a:ext>
                  </a:extLst>
                </p:cNvPr>
                <p:cNvSpPr txBox="1"/>
                <p:nvPr/>
              </p:nvSpPr>
              <p:spPr>
                <a:xfrm>
                  <a:off x="10551880" y="870416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×(−2)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6742CB8-7746-83E2-508C-34A515588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880" y="870416"/>
                  <a:ext cx="831501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9559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rrow: Curved Up 16">
              <a:extLst>
                <a:ext uri="{FF2B5EF4-FFF2-40B4-BE49-F238E27FC236}">
                  <a16:creationId xmlns:a16="http://schemas.microsoft.com/office/drawing/2014/main" id="{48CE7544-815E-2337-C196-CA5EDAC62A84}"/>
                </a:ext>
              </a:extLst>
            </p:cNvPr>
            <p:cNvSpPr/>
            <p:nvPr/>
          </p:nvSpPr>
          <p:spPr bwMode="auto">
            <a:xfrm rot="16200000" flipH="1">
              <a:off x="10005522" y="1334402"/>
              <a:ext cx="965201" cy="352089"/>
            </a:xfrm>
            <a:prstGeom prst="curvedUpArrow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91600D-4205-A04F-40CC-CE87F9883A3A}"/>
                    </a:ext>
                  </a:extLst>
                </p:cNvPr>
                <p:cNvSpPr txBox="1"/>
                <p:nvPr/>
              </p:nvSpPr>
              <p:spPr>
                <a:xfrm>
                  <a:off x="10580192" y="1394087"/>
                  <a:ext cx="9165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×(−1)</m:t>
                        </m:r>
                      </m:oMath>
                    </m:oMathPara>
                  </a14:m>
                  <a:endParaRPr lang="en-US" sz="1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91600D-4205-A04F-40CC-CE87F9883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92" y="1394087"/>
                  <a:ext cx="91650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62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Arrow: Curved Up 24">
              <a:extLst>
                <a:ext uri="{FF2B5EF4-FFF2-40B4-BE49-F238E27FC236}">
                  <a16:creationId xmlns:a16="http://schemas.microsoft.com/office/drawing/2014/main" id="{851DDE0A-E2A2-9E63-9BB4-9B96FCC58F68}"/>
                </a:ext>
              </a:extLst>
            </p:cNvPr>
            <p:cNvSpPr/>
            <p:nvPr/>
          </p:nvSpPr>
          <p:spPr bwMode="auto">
            <a:xfrm rot="16200000" flipH="1">
              <a:off x="9824680" y="1522294"/>
              <a:ext cx="1342470" cy="352089"/>
            </a:xfrm>
            <a:prstGeom prst="curvedUpArrow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5BE3D17-F551-4EE5-EB54-C9463C0A5DD7}"/>
                    </a:ext>
                  </a:extLst>
                </p:cNvPr>
                <p:cNvSpPr txBox="1"/>
                <p:nvPr/>
              </p:nvSpPr>
              <p:spPr>
                <a:xfrm>
                  <a:off x="10580192" y="1926147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×(−1)</m:t>
                        </m:r>
                      </m:oMath>
                    </m:oMathPara>
                  </a14:m>
                  <a:endParaRPr lang="en-US" sz="1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5BE3D17-F551-4EE5-EB54-C9463C0A5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92" y="1926147"/>
                  <a:ext cx="83150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8759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0DED11-1F85-1956-96BC-B1B0212D37F8}"/>
              </a:ext>
            </a:extLst>
          </p:cNvPr>
          <p:cNvGrpSpPr/>
          <p:nvPr/>
        </p:nvGrpSpPr>
        <p:grpSpPr>
          <a:xfrm>
            <a:off x="5173547" y="1586199"/>
            <a:ext cx="4662488" cy="2107132"/>
            <a:chOff x="5663380" y="1094794"/>
            <a:chExt cx="3873910" cy="21071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3927AF5-7B68-7EA4-8FB3-50984F8F09A6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3927AF5-7B68-7EA4-8FB3-50984F8F0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435C280-3756-1F3E-F4A0-E3F69A994C08}"/>
                    </a:ext>
                  </a:extLst>
                </p:cNvPr>
                <p:cNvSpPr txBox="1"/>
                <p:nvPr/>
              </p:nvSpPr>
              <p:spPr>
                <a:xfrm>
                  <a:off x="6304209" y="1094794"/>
                  <a:ext cx="19494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435C280-3756-1F3E-F4A0-E3F69A994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4209" y="1094794"/>
                  <a:ext cx="194945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078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EB1A-BF36-73F5-41A2-53D89ED7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 </a:t>
            </a:r>
            <a:r>
              <a:rPr lang="ru-RU" dirty="0"/>
              <a:t>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2</a:t>
            </a: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0FDD9A-8E9D-B773-1E8F-34897B477253}"/>
              </a:ext>
            </a:extLst>
          </p:cNvPr>
          <p:cNvGrpSpPr/>
          <p:nvPr/>
        </p:nvGrpSpPr>
        <p:grpSpPr>
          <a:xfrm>
            <a:off x="3780943" y="1814085"/>
            <a:ext cx="1005596" cy="727584"/>
            <a:chOff x="4343201" y="1942922"/>
            <a:chExt cx="651859" cy="294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2619305-321D-5973-B058-445D6FBBF5DE}"/>
                    </a:ext>
                  </a:extLst>
                </p:cNvPr>
                <p:cNvSpPr/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uman Sans ExtraLight" charset="0"/>
                        </a:rPr>
                        <m:t>×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1</a:t>
                  </a:r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2619305-321D-5973-B058-445D6FBBF5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blipFill>
                  <a:blip r:embed="rId2"/>
                  <a:stretch>
                    <a:fillRect r="-208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D8BC558-DF0E-2533-CED0-1BCB71E30D95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 flipV="1">
              <a:off x="4343201" y="2089960"/>
              <a:ext cx="270292" cy="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A172F5-6452-A447-C12A-4ABF36142BA7}"/>
              </a:ext>
            </a:extLst>
          </p:cNvPr>
          <p:cNvGrpSpPr/>
          <p:nvPr/>
        </p:nvGrpSpPr>
        <p:grpSpPr>
          <a:xfrm>
            <a:off x="8691230" y="1997609"/>
            <a:ext cx="1099618" cy="1073731"/>
            <a:chOff x="9791421" y="1906869"/>
            <a:chExt cx="1099618" cy="1073731"/>
          </a:xfrm>
        </p:grpSpPr>
        <p:sp>
          <p:nvSpPr>
            <p:cNvPr id="19" name="Arrow: Curved Up 18">
              <a:extLst>
                <a:ext uri="{FF2B5EF4-FFF2-40B4-BE49-F238E27FC236}">
                  <a16:creationId xmlns:a16="http://schemas.microsoft.com/office/drawing/2014/main" id="{24B9D986-B897-E2FB-2580-35AC430B94EA}"/>
                </a:ext>
              </a:extLst>
            </p:cNvPr>
            <p:cNvSpPr/>
            <p:nvPr/>
          </p:nvSpPr>
          <p:spPr bwMode="auto">
            <a:xfrm rot="16200000" flipH="1">
              <a:off x="9711792" y="2095027"/>
              <a:ext cx="511348" cy="352090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224F6A1-8745-A3CB-981D-B380F07F4100}"/>
                    </a:ext>
                  </a:extLst>
                </p:cNvPr>
                <p:cNvSpPr txBox="1"/>
                <p:nvPr/>
              </p:nvSpPr>
              <p:spPr>
                <a:xfrm>
                  <a:off x="10059538" y="1906869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224F6A1-8745-A3CB-981D-B380F07F4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9538" y="1906869"/>
                  <a:ext cx="83150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Arrow: Curved Up 24">
              <a:extLst>
                <a:ext uri="{FF2B5EF4-FFF2-40B4-BE49-F238E27FC236}">
                  <a16:creationId xmlns:a16="http://schemas.microsoft.com/office/drawing/2014/main" id="{7AF2CEC7-8139-71D1-DFBB-C9B8F19A9637}"/>
                </a:ext>
              </a:extLst>
            </p:cNvPr>
            <p:cNvSpPr/>
            <p:nvPr/>
          </p:nvSpPr>
          <p:spPr bwMode="auto">
            <a:xfrm rot="16200000" flipH="1">
              <a:off x="9484867" y="2321955"/>
              <a:ext cx="965201" cy="352089"/>
            </a:xfrm>
            <a:prstGeom prst="curvedUpArrow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385A5A-2A32-AB50-9A8C-49A737AD5B22}"/>
                    </a:ext>
                  </a:extLst>
                </p:cNvPr>
                <p:cNvSpPr txBox="1"/>
                <p:nvPr/>
              </p:nvSpPr>
              <p:spPr>
                <a:xfrm>
                  <a:off x="10083136" y="2465974"/>
                  <a:ext cx="7352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</m:t>
                        </m:r>
                      </m:oMath>
                    </m:oMathPara>
                  </a14:m>
                  <a:endParaRPr lang="en-US" sz="1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385A5A-2A32-AB50-9A8C-49A737AD5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36" y="2465974"/>
                  <a:ext cx="73523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3EEA9B9-B05D-D200-10B7-F5F56A7DAE87}"/>
                  </a:ext>
                </a:extLst>
              </p:cNvPr>
              <p:cNvSpPr/>
              <p:nvPr/>
            </p:nvSpPr>
            <p:spPr bwMode="auto">
              <a:xfrm>
                <a:off x="4824234" y="4146707"/>
                <a:ext cx="6691668" cy="1683448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ru-RU" sz="16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сразу переходим к пункту </a:t>
                </a:r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Умножаем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вторую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на число, обратное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превратить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1.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Вторую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ниже.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под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3EEA9B9-B05D-D200-10B7-F5F56A7DA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4234" y="4146707"/>
                <a:ext cx="6691668" cy="1683448"/>
              </a:xfrm>
              <a:prstGeom prst="roundRect">
                <a:avLst/>
              </a:prstGeom>
              <a:blipFill>
                <a:blip r:embed="rId5"/>
                <a:stretch>
                  <a:fillRect l="-638" b="-1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7E139F1-D74E-EF0E-49B1-C5DC40CCDD4E}"/>
              </a:ext>
            </a:extLst>
          </p:cNvPr>
          <p:cNvGrpSpPr/>
          <p:nvPr/>
        </p:nvGrpSpPr>
        <p:grpSpPr>
          <a:xfrm>
            <a:off x="-144064" y="1218133"/>
            <a:ext cx="4662488" cy="2064743"/>
            <a:chOff x="5663380" y="1137183"/>
            <a:chExt cx="3873910" cy="2064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984CF31-C12D-A709-CAE1-AE44E825A609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984CF31-C12D-A709-CAE1-AE44E825A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0127929-80DD-513B-3632-6876B7DCE633}"/>
                    </a:ext>
                  </a:extLst>
                </p:cNvPr>
                <p:cNvSpPr txBox="1"/>
                <p:nvPr/>
              </p:nvSpPr>
              <p:spPr>
                <a:xfrm>
                  <a:off x="5943692" y="1137183"/>
                  <a:ext cx="292370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0127929-80DD-513B-3632-6876B7DCE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92" y="1137183"/>
                  <a:ext cx="2923702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F9333E2-6F8D-E0AA-D571-A2E47CEC0577}"/>
              </a:ext>
            </a:extLst>
          </p:cNvPr>
          <p:cNvGrpSpPr/>
          <p:nvPr/>
        </p:nvGrpSpPr>
        <p:grpSpPr>
          <a:xfrm>
            <a:off x="4823392" y="1230462"/>
            <a:ext cx="4662488" cy="2097855"/>
            <a:chOff x="5663380" y="1104071"/>
            <a:chExt cx="3873910" cy="20978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929E5A6-72C3-A24C-379B-275ABB73EBA8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929E5A6-72C3-A24C-379B-275ABB73E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3360D7B-18EF-50D8-25A5-5356A6F72EFC}"/>
                    </a:ext>
                  </a:extLst>
                </p:cNvPr>
                <p:cNvSpPr txBox="1"/>
                <p:nvPr/>
              </p:nvSpPr>
              <p:spPr>
                <a:xfrm>
                  <a:off x="6378337" y="1104071"/>
                  <a:ext cx="19370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3360D7B-18EF-50D8-25A5-5356A6F72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8337" y="1104071"/>
                  <a:ext cx="193703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4B2AD1-7C93-F423-5CBE-1382BB8C48F0}"/>
              </a:ext>
            </a:extLst>
          </p:cNvPr>
          <p:cNvGrpSpPr/>
          <p:nvPr/>
        </p:nvGrpSpPr>
        <p:grpSpPr>
          <a:xfrm>
            <a:off x="-144064" y="3714364"/>
            <a:ext cx="4662488" cy="2049980"/>
            <a:chOff x="5663380" y="1151946"/>
            <a:chExt cx="3873910" cy="2049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5BF4E2-3C8E-CC4B-A4E4-67778660F021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5BF4E2-3C8E-CC4B-A4E4-67778660F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49CD904-F9EE-A873-99A6-73936D1642EF}"/>
                    </a:ext>
                  </a:extLst>
                </p:cNvPr>
                <p:cNvSpPr txBox="1"/>
                <p:nvPr/>
              </p:nvSpPr>
              <p:spPr>
                <a:xfrm>
                  <a:off x="6417450" y="1151946"/>
                  <a:ext cx="197618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49CD904-F9EE-A873-99A6-73936D164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7450" y="1151946"/>
                  <a:ext cx="1976187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912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5EC1B2-286E-EC1B-0960-A4F9B555ACF1}"/>
              </a:ext>
            </a:extLst>
          </p:cNvPr>
          <p:cNvGrpSpPr/>
          <p:nvPr/>
        </p:nvGrpSpPr>
        <p:grpSpPr>
          <a:xfrm>
            <a:off x="260554" y="1252988"/>
            <a:ext cx="3490453" cy="2010224"/>
            <a:chOff x="5663380" y="1191702"/>
            <a:chExt cx="3873910" cy="2010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0C6E935-5743-3220-790D-78C3A67A0C0A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0C6E935-5743-3220-790D-78C3A67A0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0ABA32E-FD48-11E2-742C-815DA24DDCC7}"/>
                    </a:ext>
                  </a:extLst>
                </p:cNvPr>
                <p:cNvSpPr txBox="1"/>
                <p:nvPr/>
              </p:nvSpPr>
              <p:spPr>
                <a:xfrm>
                  <a:off x="6105457" y="119170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0ABA32E-FD48-11E2-742C-815DA24DD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5457" y="1191702"/>
                  <a:ext cx="2360235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2128604-D9D3-4DDF-85E3-B90815784C94}"/>
                  </a:ext>
                </a:extLst>
              </p:cNvPr>
              <p:cNvSpPr/>
              <p:nvPr/>
            </p:nvSpPr>
            <p:spPr bwMode="auto">
              <a:xfrm>
                <a:off x="8192023" y="2123767"/>
                <a:ext cx="3739423" cy="4628841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en-US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ru-RU" sz="1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ищем ненулевой элемент в нижней части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третьего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столбца матрицы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Мы его не находим, и потому ищем ненулевой элемент 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третьей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строке матрицы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</a:p>
              <a:p>
                <a:pPr marL="1200150" lvl="2" indent="-28575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Это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Меняем местами столбцы 3 и 4.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Умножаем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на число, обратное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 </a:t>
                </a:r>
                <a:b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</a:b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превратить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в 1.</a:t>
                </a:r>
              </a:p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 </m:t>
                    </m:r>
                  </m:oMath>
                </a14:m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ниже.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под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endParaRPr lang="ru-RU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2128604-D9D3-4DDF-85E3-B90815784C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92023" y="2123767"/>
                <a:ext cx="3739423" cy="462884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4349856-CB6B-4FB9-EAAF-4A0CDB37F5F3}"/>
              </a:ext>
            </a:extLst>
          </p:cNvPr>
          <p:cNvGrpSpPr/>
          <p:nvPr/>
        </p:nvGrpSpPr>
        <p:grpSpPr>
          <a:xfrm>
            <a:off x="3697651" y="1251232"/>
            <a:ext cx="3490453" cy="2032104"/>
            <a:chOff x="5663380" y="1169822"/>
            <a:chExt cx="3873910" cy="2032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FF275A2-0852-EEED-D184-72AB748D0B7A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FF275A2-0852-EEED-D184-72AB748D0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3EFFBF4-A483-CDC4-8F58-1E299904C260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3EFFBF4-A483-CDC4-8F58-1E299904C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F194CE-5AFE-D8CC-4A74-878398993BA3}"/>
              </a:ext>
            </a:extLst>
          </p:cNvPr>
          <p:cNvGrpSpPr/>
          <p:nvPr/>
        </p:nvGrpSpPr>
        <p:grpSpPr>
          <a:xfrm>
            <a:off x="224274" y="3521289"/>
            <a:ext cx="3490453" cy="2032104"/>
            <a:chOff x="5663380" y="1169822"/>
            <a:chExt cx="3873910" cy="2032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681A00-9FF5-7920-AA8E-27F2FEE536A3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681A00-9FF5-7920-AA8E-27F2FEE53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FC9ED2F-9082-026A-287E-5BC2C9292B42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FC9ED2F-9082-026A-287E-5BC2C9292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75D7284-2E56-179A-B6A6-CD2117C7FF1C}"/>
              </a:ext>
            </a:extLst>
          </p:cNvPr>
          <p:cNvGrpSpPr/>
          <p:nvPr/>
        </p:nvGrpSpPr>
        <p:grpSpPr>
          <a:xfrm>
            <a:off x="6943328" y="2277520"/>
            <a:ext cx="1005596" cy="727584"/>
            <a:chOff x="4343201" y="1942922"/>
            <a:chExt cx="651859" cy="294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A1965FF-C3BE-FEA3-46F1-7E3CAFA96F8E}"/>
                    </a:ext>
                  </a:extLst>
                </p:cNvPr>
                <p:cNvSpPr/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uman Sans ExtraLight" charset="0"/>
                          </a:rPr>
                          <m:t>×</m:t>
                        </m:r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A1965FF-C3BE-FEA3-46F1-7E3CAFA96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3493" y="1942922"/>
                  <a:ext cx="381567" cy="294251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B294901-33FD-89B9-0E2B-E0F42FDC674B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 flipV="1">
              <a:off x="4343201" y="2089960"/>
              <a:ext cx="270292" cy="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32692F-383B-3292-F70E-E9C486720C70}"/>
              </a:ext>
            </a:extLst>
          </p:cNvPr>
          <p:cNvGrpSpPr/>
          <p:nvPr/>
        </p:nvGrpSpPr>
        <p:grpSpPr>
          <a:xfrm>
            <a:off x="3521607" y="4770207"/>
            <a:ext cx="1183591" cy="595067"/>
            <a:chOff x="4082813" y="5097809"/>
            <a:chExt cx="1183591" cy="595067"/>
          </a:xfrm>
        </p:grpSpPr>
        <p:sp>
          <p:nvSpPr>
            <p:cNvPr id="33" name="Arrow: Curved Up 32">
              <a:extLst>
                <a:ext uri="{FF2B5EF4-FFF2-40B4-BE49-F238E27FC236}">
                  <a16:creationId xmlns:a16="http://schemas.microsoft.com/office/drawing/2014/main" id="{3C349E6E-C1DE-7005-026F-3A3ED25E90D3}"/>
                </a:ext>
              </a:extLst>
            </p:cNvPr>
            <p:cNvSpPr/>
            <p:nvPr/>
          </p:nvSpPr>
          <p:spPr bwMode="auto">
            <a:xfrm rot="16200000" flipH="1">
              <a:off x="3961324" y="5219298"/>
              <a:ext cx="595067" cy="352090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6F8109B-B8A2-A9E3-4CEF-42A352C4FAEC}"/>
                    </a:ext>
                  </a:extLst>
                </p:cNvPr>
                <p:cNvSpPr txBox="1"/>
                <p:nvPr/>
              </p:nvSpPr>
              <p:spPr>
                <a:xfrm>
                  <a:off x="4434903" y="5210677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</m:t>
                        </m:r>
                        <m:r>
                          <a:rPr lang="ru-R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6F8109B-B8A2-A9E3-4CEF-42A352C4F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903" y="5210677"/>
                  <a:ext cx="83150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8759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0EA0064-8E7B-DFF1-DD75-A30AAA6BDF5A}"/>
              </a:ext>
            </a:extLst>
          </p:cNvPr>
          <p:cNvGrpSpPr/>
          <p:nvPr/>
        </p:nvGrpSpPr>
        <p:grpSpPr>
          <a:xfrm>
            <a:off x="4542600" y="3580680"/>
            <a:ext cx="3490453" cy="2032104"/>
            <a:chOff x="5663380" y="1169822"/>
            <a:chExt cx="3873910" cy="2032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DC00AFC-B199-3462-5AFD-A5E31166BC77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DC00AFC-B199-3462-5AFD-A5E31166B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A8FEBC8-C058-1FBC-5EF5-388874F7BA45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A8FEBC8-C058-1FBC-5EF5-388874F7B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0097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прямой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2128604-D9D3-4DDF-85E3-B90815784C94}"/>
                  </a:ext>
                </a:extLst>
              </p:cNvPr>
              <p:cNvSpPr/>
              <p:nvPr/>
            </p:nvSpPr>
            <p:spPr bwMode="auto">
              <a:xfrm>
                <a:off x="1524000" y="3950523"/>
                <a:ext cx="9497865" cy="1453626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↓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𝟒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.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𝟏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b>
                    </m:sSub>
                    <m:r>
                      <a:rPr lang="ru-RU" sz="1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то ищем ненулевой элемент в нижней части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четвертого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столбца матрицы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Мы его не находим (больше там нет элементов), и потому ищем ненулевой элемент в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четвертой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строке матрицы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Human Sans ExtraLight" charset="0"/>
                        <a:cs typeface="Human Sans ExtraLight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.</a:t>
                </a:r>
              </a:p>
              <a:p>
                <a:pPr marL="1200150" lvl="2" indent="-285750">
                  <a:buFont typeface="Wingdings" panose="05000000000000000000" pitchFamily="2" charset="2"/>
                  <a:buChar char="Ø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Таких элементов нет, поскольку строка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нулевая.</a:t>
                </a:r>
              </a:p>
              <a:p>
                <a:pPr marL="1657350" lvl="3" indent="-285750">
                  <a:buFont typeface="Courier New" panose="02070309020205020404" pitchFamily="49" charset="0"/>
                  <a:buChar char="o"/>
                </a:pP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Если свободный член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равен 0, поэтому эту 4-ю строку удаляем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2128604-D9D3-4DDF-85E3-B90815784C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3950523"/>
                <a:ext cx="9497865" cy="1453626"/>
              </a:xfrm>
              <a:prstGeom prst="roundRect">
                <a:avLst/>
              </a:prstGeom>
              <a:blipFill>
                <a:blip r:embed="rId2"/>
                <a:stretch>
                  <a:fillRect l="-257" b="-4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0EA0064-8E7B-DFF1-DD75-A30AAA6BDF5A}"/>
              </a:ext>
            </a:extLst>
          </p:cNvPr>
          <p:cNvGrpSpPr/>
          <p:nvPr/>
        </p:nvGrpSpPr>
        <p:grpSpPr>
          <a:xfrm>
            <a:off x="363891" y="1201273"/>
            <a:ext cx="3490453" cy="2032104"/>
            <a:chOff x="5663380" y="1169822"/>
            <a:chExt cx="3873910" cy="2032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DC00AFC-B199-3462-5AFD-A5E31166BC77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DC00AFC-B199-3462-5AFD-A5E31166B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A8FEBC8-C058-1FBC-5EF5-388874F7BA45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A8FEBC8-C058-1FBC-5EF5-388874F7B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ADBCA7-6D90-FAD0-0ECA-081EFDE8595F}"/>
              </a:ext>
            </a:extLst>
          </p:cNvPr>
          <p:cNvGrpSpPr/>
          <p:nvPr/>
        </p:nvGrpSpPr>
        <p:grpSpPr>
          <a:xfrm>
            <a:off x="5048963" y="1422400"/>
            <a:ext cx="3490453" cy="1732086"/>
            <a:chOff x="5663380" y="1169822"/>
            <a:chExt cx="3873910" cy="1732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D2DC8E-B356-F858-6C48-A7E4DE537FD9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D2DC8E-B356-F858-6C48-A7E4DE537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97D8A0-7181-00E4-177E-742DF969A311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97D8A0-7181-00E4-177E-742DF969A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674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обратный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/>
              <p:nvPr/>
            </p:nvSpPr>
            <p:spPr bwMode="auto">
              <a:xfrm>
                <a:off x="4682610" y="4374444"/>
                <a:ext cx="6351983" cy="965200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↑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𝟑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b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Третью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выше.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над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2610" y="4374444"/>
                <a:ext cx="6351983" cy="965200"/>
              </a:xfrm>
              <a:prstGeom prst="roundRect">
                <a:avLst/>
              </a:prstGeom>
              <a:blipFill>
                <a:blip r:embed="rId3"/>
                <a:stretch>
                  <a:fillRect l="-1248" r="-672" b="-6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31BE9B8-E8DC-BCDF-0E6E-471DE1E07B31}"/>
              </a:ext>
            </a:extLst>
          </p:cNvPr>
          <p:cNvGrpSpPr/>
          <p:nvPr/>
        </p:nvGrpSpPr>
        <p:grpSpPr>
          <a:xfrm>
            <a:off x="3958397" y="1934223"/>
            <a:ext cx="1139964" cy="1104009"/>
            <a:chOff x="3958397" y="1934223"/>
            <a:chExt cx="1139964" cy="11040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/>
                <p:nvPr/>
              </p:nvSpPr>
              <p:spPr>
                <a:xfrm>
                  <a:off x="4266860" y="2612133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×(−</m:t>
                        </m:r>
                        <m:r>
                          <a:rPr lang="ru-R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6860" y="2612133"/>
                  <a:ext cx="831501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9559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Arrow: Curved Up 7">
              <a:extLst>
                <a:ext uri="{FF2B5EF4-FFF2-40B4-BE49-F238E27FC236}">
                  <a16:creationId xmlns:a16="http://schemas.microsoft.com/office/drawing/2014/main" id="{7FF0D129-F55D-B7C9-C39A-F3851178AD3A}"/>
                </a:ext>
              </a:extLst>
            </p:cNvPr>
            <p:cNvSpPr/>
            <p:nvPr/>
          </p:nvSpPr>
          <p:spPr bwMode="auto">
            <a:xfrm rot="5400000" flipH="1" flipV="1">
              <a:off x="3599841" y="2304176"/>
              <a:ext cx="1092612" cy="375499"/>
            </a:xfrm>
            <a:prstGeom prst="curvedUpArrow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9AACD4-4107-374E-8F59-8B7126C099C4}"/>
                    </a:ext>
                  </a:extLst>
                </p:cNvPr>
                <p:cNvSpPr txBox="1"/>
                <p:nvPr/>
              </p:nvSpPr>
              <p:spPr>
                <a:xfrm>
                  <a:off x="4242619" y="1934223"/>
                  <a:ext cx="8315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ru-RU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(−2)</m:t>
                        </m:r>
                      </m:oMath>
                    </m:oMathPara>
                  </a14:m>
                  <a:endParaRPr lang="en-US" sz="1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9AACD4-4107-374E-8F59-8B7126C09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2619" y="1934223"/>
                  <a:ext cx="831501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9559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Arrow: Curved Up 9">
              <a:extLst>
                <a:ext uri="{FF2B5EF4-FFF2-40B4-BE49-F238E27FC236}">
                  <a16:creationId xmlns:a16="http://schemas.microsoft.com/office/drawing/2014/main" id="{98BE8690-1868-76D9-233B-32C27C5310F4}"/>
                </a:ext>
              </a:extLst>
            </p:cNvPr>
            <p:cNvSpPr/>
            <p:nvPr/>
          </p:nvSpPr>
          <p:spPr bwMode="auto">
            <a:xfrm rot="5400000" flipH="1" flipV="1">
              <a:off x="3882422" y="2624155"/>
              <a:ext cx="511348" cy="289729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4DFA5F-F8AC-2683-4C8D-1AB046AE1233}"/>
              </a:ext>
            </a:extLst>
          </p:cNvPr>
          <p:cNvGrpSpPr/>
          <p:nvPr/>
        </p:nvGrpSpPr>
        <p:grpSpPr>
          <a:xfrm>
            <a:off x="598482" y="1422400"/>
            <a:ext cx="3490453" cy="1732086"/>
            <a:chOff x="5663380" y="1169822"/>
            <a:chExt cx="3873910" cy="1732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4FC78EF-20FC-9481-D9D9-E94CA255CA48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4FC78EF-20FC-9481-D9D9-E94CA255C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CA404B4-4603-A260-8F09-0D8888C90015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CA404B4-4603-A260-8F09-0D8888C90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1815EF9-149A-F334-5C65-38185C534272}"/>
              </a:ext>
            </a:extLst>
          </p:cNvPr>
          <p:cNvGrpSpPr/>
          <p:nvPr/>
        </p:nvGrpSpPr>
        <p:grpSpPr>
          <a:xfrm>
            <a:off x="531979" y="3605958"/>
            <a:ext cx="3490453" cy="1732086"/>
            <a:chOff x="5663380" y="1169822"/>
            <a:chExt cx="3873910" cy="1732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564044F-0D03-3E6E-7F03-A727CDB6485F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564044F-0D03-3E6E-7F03-A727CDB64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22B03DD-8B35-311A-69A3-F581D4C823CF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22B03DD-8B35-311A-69A3-F581D4C823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8845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DCB-6934-9377-8672-50426BEF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  <a:r>
              <a:rPr lang="en-US" dirty="0"/>
              <a:t>:</a:t>
            </a:r>
            <a:r>
              <a:rPr lang="ru-RU" dirty="0"/>
              <a:t> обратный ход –</a:t>
            </a:r>
            <a:r>
              <a:rPr lang="en-US" dirty="0"/>
              <a:t> </a:t>
            </a:r>
            <a:r>
              <a:rPr lang="ru-RU" dirty="0"/>
              <a:t>активна строка </a:t>
            </a:r>
            <a:r>
              <a:rPr lang="en-US" dirty="0"/>
              <a:t>#</a:t>
            </a:r>
            <a:r>
              <a:rPr lang="ru-RU" dirty="0"/>
              <a:t>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/>
              <p:nvPr/>
            </p:nvSpPr>
            <p:spPr bwMode="auto">
              <a:xfrm>
                <a:off x="380043" y="5025627"/>
                <a:ext cx="6351983" cy="965200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ru-RU" sz="16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(</m:t>
                    </m:r>
                    <m:r>
                      <a:rPr lang="ru-RU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↑</m:t>
                    </m:r>
                    <m:r>
                      <a:rPr lang="ru-RU" sz="16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𝟐</m:t>
                    </m:r>
                    <m:r>
                      <a:rPr lang="ru-RU" sz="1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uman Sans ExtraLight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</a:t>
                </a:r>
                <a:r>
                  <a:rPr lang="ru-RU" sz="1600" i="1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Вторую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строку умножаем на нужные числа и прибавляем во всем строкам выше. </a:t>
                </a:r>
              </a:p>
              <a:p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Цель</a:t>
                </a:r>
                <a:r>
                  <a:rPr lang="en-US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</a:t>
                </a:r>
                <a:r>
                  <a:rPr lang="ru-RU" sz="16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 получить все нули над элементом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ru-RU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EE08139-9CEF-26EB-1F8C-B7CFA31D4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043" y="5025627"/>
                <a:ext cx="6351983" cy="965200"/>
              </a:xfrm>
              <a:prstGeom prst="roundRect">
                <a:avLst/>
              </a:prstGeom>
              <a:blipFill>
                <a:blip r:embed="rId3"/>
                <a:stretch>
                  <a:fillRect l="-1152" r="-1056" b="-6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99F9A24-595A-C897-18D1-0073CBD1A68F}"/>
              </a:ext>
            </a:extLst>
          </p:cNvPr>
          <p:cNvGrpSpPr/>
          <p:nvPr/>
        </p:nvGrpSpPr>
        <p:grpSpPr>
          <a:xfrm>
            <a:off x="3654358" y="1578179"/>
            <a:ext cx="711166" cy="511348"/>
            <a:chOff x="3693687" y="1819899"/>
            <a:chExt cx="711166" cy="511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/>
                <p:nvPr/>
              </p:nvSpPr>
              <p:spPr>
                <a:xfrm>
                  <a:off x="3967317" y="1918686"/>
                  <a:ext cx="43753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ru-R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7173C9-3F64-5AE5-583A-6A885A143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317" y="1918686"/>
                  <a:ext cx="43753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0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Arrow: Curved Up 9">
              <a:extLst>
                <a:ext uri="{FF2B5EF4-FFF2-40B4-BE49-F238E27FC236}">
                  <a16:creationId xmlns:a16="http://schemas.microsoft.com/office/drawing/2014/main" id="{98BE8690-1868-76D9-233B-32C27C5310F4}"/>
                </a:ext>
              </a:extLst>
            </p:cNvPr>
            <p:cNvSpPr/>
            <p:nvPr/>
          </p:nvSpPr>
          <p:spPr bwMode="auto">
            <a:xfrm rot="5400000" flipH="1" flipV="1">
              <a:off x="3582878" y="1930708"/>
              <a:ext cx="511348" cy="289729"/>
            </a:xfrm>
            <a:prstGeom prst="curvedUp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2C163BE-C13D-67CF-9889-4158D3C31F57}"/>
                  </a:ext>
                </a:extLst>
              </p:cNvPr>
              <p:cNvSpPr/>
              <p:nvPr/>
            </p:nvSpPr>
            <p:spPr bwMode="auto">
              <a:xfrm>
                <a:off x="5615616" y="2026512"/>
                <a:ext cx="4421724" cy="1299320"/>
              </a:xfrm>
              <a:prstGeom prst="roundRect">
                <a:avLst/>
              </a:prstGeom>
              <a:solidFill>
                <a:srgbClr val="DBB661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ОТВЕТ</a:t>
                </a:r>
                <a:r>
                  <a:rPr lang="en-US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2−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</a:t>
                </a:r>
              </a:p>
              <a:p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</m:oMath>
                </a14:m>
                <a:endParaRPr lang="ru-RU" sz="2400" b="1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2C163BE-C13D-67CF-9889-4158D3C31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5616" y="2026512"/>
                <a:ext cx="4421724" cy="1299320"/>
              </a:xfrm>
              <a:prstGeom prst="roundRect">
                <a:avLst/>
              </a:prstGeom>
              <a:blipFill>
                <a:blip r:embed="rId5"/>
                <a:stretch>
                  <a:fillRect l="-2755" b="-65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17D71C0-0F29-963D-D980-2F164CF1B5A2}"/>
                  </a:ext>
                </a:extLst>
              </p:cNvPr>
              <p:cNvSpPr/>
              <p:nvPr/>
            </p:nvSpPr>
            <p:spPr bwMode="auto">
              <a:xfrm>
                <a:off x="5615616" y="3754492"/>
                <a:ext cx="4704069" cy="647237"/>
              </a:xfrm>
              <a:prstGeom prst="roundRect">
                <a:avLst/>
              </a:prstGeom>
              <a:solidFill>
                <a:srgbClr val="DBB661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ОТВЕТ</a:t>
                </a:r>
                <a:r>
                  <a:rPr lang="en-US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2−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2−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</m:oMath>
                </a14:m>
                <a:endParaRPr lang="en-US" sz="2400" dirty="0">
                  <a:solidFill>
                    <a:srgbClr val="002060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17D71C0-0F29-963D-D980-2F164CF1B5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5616" y="3754492"/>
                <a:ext cx="4704069" cy="647237"/>
              </a:xfrm>
              <a:prstGeom prst="roundRect">
                <a:avLst/>
              </a:prstGeom>
              <a:blipFill>
                <a:blip r:embed="rId6"/>
                <a:stretch>
                  <a:fillRect l="-3238" b="-6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6F21B73-AA95-7CE5-E27B-1146FB65FE11}"/>
              </a:ext>
            </a:extLst>
          </p:cNvPr>
          <p:cNvGrpSpPr/>
          <p:nvPr/>
        </p:nvGrpSpPr>
        <p:grpSpPr>
          <a:xfrm>
            <a:off x="280218" y="1097195"/>
            <a:ext cx="3490453" cy="1732086"/>
            <a:chOff x="5663380" y="1169822"/>
            <a:chExt cx="3873910" cy="1732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F3E2486-FA15-112C-C655-80725C465C5A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F3E2486-FA15-112C-C655-80725C465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68FABB9-2CB1-3FB0-BC80-81222BCD8F12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68FABB9-2CB1-3FB0-BC80-81222BCD8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F0C1455-9942-59C1-DC59-4EB2BE1A91E9}"/>
              </a:ext>
            </a:extLst>
          </p:cNvPr>
          <p:cNvGrpSpPr/>
          <p:nvPr/>
        </p:nvGrpSpPr>
        <p:grpSpPr>
          <a:xfrm>
            <a:off x="280217" y="3046367"/>
            <a:ext cx="3490453" cy="1732086"/>
            <a:chOff x="5663380" y="1169822"/>
            <a:chExt cx="3873910" cy="1732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3A6A50-4D32-DF32-1AED-FEB56486629A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3A6A50-4D32-DF32-1AED-FEB564866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4795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955831B-B6C7-A7E7-1667-9B07738204A4}"/>
                    </a:ext>
                  </a:extLst>
                </p:cNvPr>
                <p:cNvSpPr txBox="1"/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955831B-B6C7-A7E7-1667-9B0773820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837" y="1169822"/>
                  <a:ext cx="236023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0EC55E-0327-AA05-5A7D-984E4C2358D7}"/>
              </a:ext>
            </a:extLst>
          </p:cNvPr>
          <p:cNvSpPr/>
          <p:nvPr/>
        </p:nvSpPr>
        <p:spPr bwMode="auto">
          <a:xfrm>
            <a:off x="747252" y="3429001"/>
            <a:ext cx="1425677" cy="1201994"/>
          </a:xfrm>
          <a:prstGeom prst="roundRect">
            <a:avLst/>
          </a:prstGeom>
          <a:solidFill>
            <a:schemeClr val="tx1">
              <a:lumMod val="25000"/>
              <a:lumOff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1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338F-F4CB-B8F7-BE3F-E7179BDD0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Однородная система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9ACBA2-79BE-8AE5-B614-D48CB29C6325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285121"/>
                <a:ext cx="11194026" cy="418364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f-ZA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r>
                  <a:rPr lang="ru-RU" dirty="0"/>
                  <a:t>Всегда имеет </a:t>
                </a:r>
                <a:r>
                  <a:rPr lang="ru-RU" i="1" dirty="0"/>
                  <a:t>тривиальное</a:t>
                </a:r>
                <a:r>
                  <a:rPr lang="ru-RU" dirty="0"/>
                  <a:t> решение – </a:t>
                </a:r>
                <a:r>
                  <a:rPr lang="ru-RU" i="1" dirty="0"/>
                  <a:t>нулевое</a:t>
                </a:r>
              </a:p>
              <a:p>
                <a:r>
                  <a:rPr lang="ru-RU" dirty="0"/>
                  <a:t>Утверждения эквивалентны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ru-RU" dirty="0">
                    <a:solidFill>
                      <a:srgbClr val="7030A0"/>
                    </a:solidFill>
                  </a:rPr>
                  <a:t>Однородная система имеет нетривиальные решения</a:t>
                </a:r>
              </a:p>
              <a:p>
                <a:pPr lvl="1"/>
                <a:r>
                  <a:rPr lang="en-US" b="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af-ZA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af-ZA" dirty="0"/>
                  <a:t> (</a:t>
                </a:r>
                <a:r>
                  <a:rPr lang="ru-RU" dirty="0"/>
                  <a:t>ранг матрицы системы меньше </a:t>
                </a:r>
                <a:r>
                  <a:rPr lang="ru-RU" i="1" dirty="0"/>
                  <a:t>числа переменных</a:t>
                </a:r>
                <a:r>
                  <a:rPr lang="af-ZA" dirty="0"/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9ACBA2-79BE-8AE5-B614-D48CB29C63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285121"/>
                <a:ext cx="11194026" cy="4183646"/>
              </a:xfrm>
              <a:blipFill>
                <a:blip r:embed="rId3"/>
                <a:stretch>
                  <a:fillRect l="-1743" b="-3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CAEBAEA-03AF-EEDC-59FD-BF93779ADBAA}"/>
                  </a:ext>
                </a:extLst>
              </p:cNvPr>
              <p:cNvSpPr/>
              <p:nvPr/>
            </p:nvSpPr>
            <p:spPr bwMode="auto">
              <a:xfrm>
                <a:off x="3335005" y="5722374"/>
                <a:ext cx="8699679" cy="904568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r>
                  <a:rPr lang="ru-RU" sz="2400" dirty="0">
                    <a:solidFill>
                      <a:schemeClr val="tx1"/>
                    </a:solidFill>
                  </a:rPr>
                  <a:t>Если </a:t>
                </a:r>
                <a14:m>
                  <m:oMath xmlns:m="http://schemas.openxmlformats.org/officeDocument/2006/math">
                    <m:r>
                      <a:rPr lang="af-ZA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f-ZA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af-ZA" sz="2400" dirty="0">
                    <a:solidFill>
                      <a:schemeClr val="tx1"/>
                    </a:solidFill>
                  </a:rPr>
                  <a:t>, </a:t>
                </a:r>
                <a:r>
                  <a:rPr lang="ru-RU" sz="2400" dirty="0">
                    <a:solidFill>
                      <a:schemeClr val="tx1"/>
                    </a:solidFill>
                  </a:rPr>
                  <a:t>то </a:t>
                </a:r>
              </a:p>
              <a:p>
                <a:r>
                  <a:rPr lang="ru-RU" sz="2400" dirty="0">
                    <a:solidFill>
                      <a:schemeClr val="tx1"/>
                    </a:solidFill>
                  </a:rPr>
                  <a:t>наличие нетривиальных решений </a:t>
                </a:r>
                <a14:m>
                  <m:oMath xmlns:m="http://schemas.openxmlformats.org/officeDocument/2006/math">
                    <m:r>
                      <a:rPr lang="af-ZA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af-ZA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f-ZA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af-ZA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CAEBAEA-03AF-EEDC-59FD-BF93779AD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5005" y="5722374"/>
                <a:ext cx="8699679" cy="904568"/>
              </a:xfrm>
              <a:prstGeom prst="roundRect">
                <a:avLst/>
              </a:prstGeom>
              <a:blipFill>
                <a:blip r:embed="rId4"/>
                <a:stretch>
                  <a:fillRect l="-1612" t="-1351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93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A1E2-E44D-A2A9-0AB9-3A18267E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Фундаментальная система решений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05DD815-6368-9881-256C-46BA67316EEB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38156" cy="442704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Пусть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u-RU" dirty="0"/>
              </a:p>
              <a:p>
                <a:r>
                  <a:rPr lang="ru-RU" dirty="0"/>
                  <a:t>Тогда после решения системы </a:t>
                </a:r>
              </a:p>
              <a:p>
                <a:pPr lvl="1"/>
                <a:r>
                  <a:rPr lang="ru-RU" dirty="0"/>
                  <a:t>будет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зависимых переменных</a:t>
                </a:r>
                <a:r>
                  <a:rPr lang="en-US" dirty="0"/>
                  <a:t> (</a:t>
                </a:r>
                <a:r>
                  <a:rPr lang="ru-RU" dirty="0"/>
                  <a:t>назовем их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ru-RU" dirty="0"/>
                  <a:t>будет </a:t>
                </a:r>
                <a14:m>
                  <m:oMath xmlns:m="http://schemas.openxmlformats.org/officeDocument/2006/math">
                    <m:r>
                      <a:rPr lang="af-ZA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свободных переменных</a:t>
                </a:r>
                <a:r>
                  <a:rPr lang="en-US" dirty="0"/>
                  <a:t> (</a:t>
                </a:r>
                <a:r>
                  <a:rPr lang="ru-RU" dirty="0"/>
                  <a:t>назовем их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[</a:t>
                </a:r>
                <a:r>
                  <a:rPr lang="ru-RU" dirty="0"/>
                  <a:t>общее</a:t>
                </a:r>
                <a:r>
                  <a:rPr lang="en-US" dirty="0"/>
                  <a:t>]</a:t>
                </a:r>
                <a:r>
                  <a:rPr lang="ru-RU" dirty="0"/>
                  <a:t> решение будет выглядеть</a:t>
                </a:r>
                <a:r>
                  <a:rPr lang="en-US" dirty="0"/>
                  <a:t> </a:t>
                </a:r>
                <a:r>
                  <a:rPr lang="ru-RU" dirty="0"/>
                  <a:t>так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af-ZA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af-ZA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f-ZA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05DD815-6368-9881-256C-46BA67316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38156" cy="4427046"/>
              </a:xfrm>
              <a:blipFill>
                <a:blip r:embed="rId2"/>
                <a:stretch>
                  <a:fillRect l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799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B310-0B71-F730-AE17-355C58A9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Фундаментальная система решений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639E9C-1A68-E027-BA87-E540723EE918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249199" y="1550220"/>
                <a:ext cx="11828206" cy="3948197"/>
              </a:xfrm>
            </p:spPr>
            <p:txBody>
              <a:bodyPr/>
              <a:lstStyle/>
              <a:p>
                <a:r>
                  <a:rPr lang="ru-RU" sz="2400" dirty="0"/>
                  <a:t>В общем решении в качестве свободных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ru-RU" sz="2400" dirty="0"/>
                  <a:t> последовательно выберем </a:t>
                </a:r>
                <a:r>
                  <a:rPr lang="ru-RU" sz="2400" dirty="0">
                    <a:solidFill>
                      <a:srgbClr val="7030A0"/>
                    </a:solidFill>
                  </a:rPr>
                  <a:t>стандартный</a:t>
                </a:r>
                <a:r>
                  <a:rPr lang="ru-RU" sz="2400" dirty="0"/>
                  <a:t> базис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,0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,0,…,0,0</m:t>
                    </m:r>
                  </m:oMath>
                </a14:m>
                <a:r>
                  <a:rPr lang="en-US" sz="2400" dirty="0"/>
                  <a:t>,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,…,0,0</m:t>
                    </m:r>
                  </m:oMath>
                </a14:m>
                <a:r>
                  <a:rPr lang="en-US" sz="2400" dirty="0"/>
                  <a:t>,...,  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0,0,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,…,0,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  <a:p>
                <a:r>
                  <a:rPr lang="ru-RU" sz="2400" dirty="0"/>
                  <a:t>Тогда полученные решения – </a:t>
                </a:r>
                <a:r>
                  <a:rPr lang="ru-RU" sz="2400" dirty="0">
                    <a:solidFill>
                      <a:srgbClr val="7030A0"/>
                    </a:solidFill>
                  </a:rPr>
                  <a:t>нормальная</a:t>
                </a:r>
                <a:r>
                  <a:rPr lang="ru-RU" sz="2400" i="1" dirty="0">
                    <a:solidFill>
                      <a:srgbClr val="7030A0"/>
                    </a:solidFill>
                  </a:rPr>
                  <a:t> фундаментальная система решений</a:t>
                </a:r>
                <a:r>
                  <a:rPr lang="ru-RU" sz="2400" dirty="0"/>
                  <a:t> </a:t>
                </a:r>
                <a:r>
                  <a:rPr lang="en-US" sz="2400" dirty="0"/>
                  <a:t>[</a:t>
                </a:r>
                <a:r>
                  <a:rPr lang="ru-RU" sz="2400" dirty="0"/>
                  <a:t>однородного уравнения</a:t>
                </a:r>
                <a:r>
                  <a:rPr lang="en-US" sz="2400" dirty="0"/>
                  <a:t>]</a:t>
                </a:r>
                <a:br>
                  <a:rPr lang="ru-RU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ru-RU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ru-RU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ru-RU" sz="2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f-ZA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ru-RU" sz="2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ru-RU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639E9C-1A68-E027-BA87-E540723EE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249199" y="1550220"/>
                <a:ext cx="11828206" cy="3948197"/>
              </a:xfrm>
              <a:blipFill>
                <a:blip r:embed="rId3"/>
                <a:stretch>
                  <a:fillRect l="-1495" t="-1852" r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6CC7E8C-C8A6-64C1-6CF2-B229AEA1EDC7}"/>
              </a:ext>
            </a:extLst>
          </p:cNvPr>
          <p:cNvGrpSpPr/>
          <p:nvPr/>
        </p:nvGrpSpPr>
        <p:grpSpPr>
          <a:xfrm>
            <a:off x="2818467" y="2330250"/>
            <a:ext cx="9124334" cy="3932898"/>
            <a:chOff x="2684208" y="2359747"/>
            <a:chExt cx="9124334" cy="393289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5642695-F8D0-22A0-E380-EA508142582E}"/>
                </a:ext>
              </a:extLst>
            </p:cNvPr>
            <p:cNvSpPr/>
            <p:nvPr/>
          </p:nvSpPr>
          <p:spPr bwMode="auto">
            <a:xfrm>
              <a:off x="8396748" y="3429001"/>
              <a:ext cx="3411794" cy="286364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rPr>
                <a:t>Если выбрать какой-нибудь базис, не являющийся стандартным, то полученный набор решений будет называться </a:t>
              </a:r>
              <a:r>
                <a:rPr lang="ru-RU" sz="2000" i="1" dirty="0">
                  <a:solidFill>
                    <a:srgbClr val="7030A0"/>
                  </a:solidFill>
                </a:rPr>
                <a:t>фундаментальной системой решений</a:t>
              </a:r>
              <a:r>
                <a:rPr lang="ru-RU" sz="2000" dirty="0"/>
                <a:t> </a:t>
              </a:r>
              <a:r>
                <a:rPr lang="ru-RU" sz="2000" dirty="0">
                  <a:solidFill>
                    <a:srgbClr val="2A9D8E"/>
                  </a:solidFill>
                </a:rPr>
                <a:t>(без слова нормальная)</a:t>
              </a:r>
              <a:endParaRPr lang="en-US" sz="2000" dirty="0">
                <a:solidFill>
                  <a:srgbClr val="2A9D8E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F685BD25-3E32-81DB-1E48-2C8D99C5406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84208" y="2359747"/>
              <a:ext cx="5712540" cy="2497389"/>
            </a:xfrm>
            <a:prstGeom prst="curvedConnector3">
              <a:avLst>
                <a:gd name="adj1" fmla="val 96127"/>
              </a:avLst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268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D74E-543A-CFAA-6E11-F379CE7A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86063F94-CA45-C54B-06D8-B1BE8B8EFBD6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77752" y="1191757"/>
                <a:ext cx="5164070" cy="21366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86063F94-CA45-C54B-06D8-B1BE8B8EF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77752" y="1191757"/>
                <a:ext cx="5164070" cy="21366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32A3BF8-32A6-46F0-CFE6-82479BD135FC}"/>
              </a:ext>
            </a:extLst>
          </p:cNvPr>
          <p:cNvGrpSpPr/>
          <p:nvPr/>
        </p:nvGrpSpPr>
        <p:grpSpPr>
          <a:xfrm>
            <a:off x="5641822" y="1212633"/>
            <a:ext cx="4662488" cy="2047690"/>
            <a:chOff x="5663380" y="1154236"/>
            <a:chExt cx="3873910" cy="20476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AA3AFA-7407-11E1-2385-4DBB9253B26C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AA3AFA-7407-11E1-2385-4DBB9253B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4B03D26-2138-5689-983C-D76E2E360088}"/>
                    </a:ext>
                  </a:extLst>
                </p:cNvPr>
                <p:cNvSpPr txBox="1"/>
                <p:nvPr/>
              </p:nvSpPr>
              <p:spPr>
                <a:xfrm>
                  <a:off x="6253142" y="1154236"/>
                  <a:ext cx="209685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ru-RU" sz="20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4B03D26-2138-5689-983C-D76E2E360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142" y="1154236"/>
                  <a:ext cx="209685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5F6492-C0F5-C9D6-1196-73CE8859EC9B}"/>
              </a:ext>
            </a:extLst>
          </p:cNvPr>
          <p:cNvGrpSpPr/>
          <p:nvPr/>
        </p:nvGrpSpPr>
        <p:grpSpPr>
          <a:xfrm>
            <a:off x="258661" y="3529569"/>
            <a:ext cx="4662488" cy="2047690"/>
            <a:chOff x="5663380" y="1154236"/>
            <a:chExt cx="3873910" cy="20476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C0C8CFE-7A29-D39F-CC5C-2536569D5FAE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C0C8CFE-7A29-D39F-CC5C-2536569D5F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8825CFA-6099-E585-0C01-BD1F4E6566B6}"/>
                    </a:ext>
                  </a:extLst>
                </p:cNvPr>
                <p:cNvSpPr txBox="1"/>
                <p:nvPr/>
              </p:nvSpPr>
              <p:spPr>
                <a:xfrm>
                  <a:off x="6048909" y="1154236"/>
                  <a:ext cx="209685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ru-RU" sz="20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ru-RU" sz="20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8825CFA-6099-E585-0C01-BD1F4E656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909" y="1154236"/>
                  <a:ext cx="2096856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79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499765-ADA0-1F24-E295-5D00E34D12D1}"/>
              </a:ext>
            </a:extLst>
          </p:cNvPr>
          <p:cNvGrpSpPr/>
          <p:nvPr/>
        </p:nvGrpSpPr>
        <p:grpSpPr>
          <a:xfrm>
            <a:off x="5877797" y="3429000"/>
            <a:ext cx="4662488" cy="2089054"/>
            <a:chOff x="5663380" y="1112872"/>
            <a:chExt cx="3873910" cy="20890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CEA977-EC14-39F7-AEF9-B9EA24F60BC5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CEA977-EC14-39F7-AEF9-B9EA24F60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7795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A731C2-7DB4-0DB7-552C-763CE939E96F}"/>
                    </a:ext>
                  </a:extLst>
                </p:cNvPr>
                <p:cNvSpPr txBox="1"/>
                <p:nvPr/>
              </p:nvSpPr>
              <p:spPr>
                <a:xfrm>
                  <a:off x="6355842" y="1112872"/>
                  <a:ext cx="209685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ru-RU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A731C2-7DB4-0DB7-552C-763CE939E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842" y="1112872"/>
                  <a:ext cx="209685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4580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FE06-3B3F-AED9-93C6-D8A9CB56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200644-4A95-C292-39E1-D5E066A45FD0}"/>
              </a:ext>
            </a:extLst>
          </p:cNvPr>
          <p:cNvSpPr/>
          <p:nvPr/>
        </p:nvSpPr>
        <p:spPr bwMode="auto">
          <a:xfrm>
            <a:off x="618594" y="1340959"/>
            <a:ext cx="879693" cy="783537"/>
          </a:xfrm>
          <a:prstGeom prst="roundRect">
            <a:avLst/>
          </a:prstGeom>
          <a:solidFill>
            <a:schemeClr val="tx1">
              <a:lumMod val="25000"/>
              <a:lumOff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3053B-52E8-4666-D76D-95C896B493F2}"/>
              </a:ext>
            </a:extLst>
          </p:cNvPr>
          <p:cNvGrpSpPr/>
          <p:nvPr/>
        </p:nvGrpSpPr>
        <p:grpSpPr>
          <a:xfrm>
            <a:off x="319548" y="1002432"/>
            <a:ext cx="3156155" cy="1260538"/>
            <a:chOff x="5663380" y="1222345"/>
            <a:chExt cx="3873910" cy="12605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E33B488-B269-2E3C-4298-7D07A3CFCEB3}"/>
                    </a:ext>
                  </a:extLst>
                </p:cNvPr>
                <p:cNvSpPr txBox="1"/>
                <p:nvPr/>
              </p:nvSpPr>
              <p:spPr>
                <a:xfrm>
                  <a:off x="5663380" y="1422400"/>
                  <a:ext cx="3873910" cy="10604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  <m: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E33B488-B269-2E3C-4298-7D07A3CFC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80" y="1422400"/>
                  <a:ext cx="3873910" cy="106048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863A11-3BA9-B5E1-6B21-8ED5363715D0}"/>
                    </a:ext>
                  </a:extLst>
                </p:cNvPr>
                <p:cNvSpPr txBox="1"/>
                <p:nvPr/>
              </p:nvSpPr>
              <p:spPr>
                <a:xfrm>
                  <a:off x="6061753" y="1222345"/>
                  <a:ext cx="209685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20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20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863A11-3BA9-B5E1-6B21-8ED536371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753" y="1222345"/>
                  <a:ext cx="2096856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182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E668B8FD-05D4-D74B-9C23-7477BF3DB93F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2301302"/>
                <a:ext cx="10041785" cy="4352765"/>
              </a:xfrm>
            </p:spPr>
            <p:txBody>
              <a:bodyPr/>
              <a:lstStyle/>
              <a:p>
                <a:r>
                  <a:rPr lang="ru-RU" sz="2000" dirty="0"/>
                  <a:t>Общее решение однородной системы</a:t>
                </a:r>
                <a:r>
                  <a:rPr lang="en-US" sz="2000" dirty="0"/>
                  <a:t>: </a:t>
                </a:r>
                <a:br>
                  <a:rPr lang="ru-RU" sz="2000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1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1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1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ru-RU" sz="2000" b="1" dirty="0"/>
              </a:p>
              <a:p>
                <a:r>
                  <a:rPr lang="ru-RU" sz="2000" dirty="0"/>
                  <a:t>Частное решение неоднородной системы</a:t>
                </a:r>
                <a:r>
                  <a:rPr lang="en-US" sz="2000" dirty="0"/>
                  <a:t>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0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ru-RU" sz="2000" dirty="0"/>
              </a:p>
              <a:p>
                <a:r>
                  <a:rPr lang="ru-RU" sz="2000" dirty="0"/>
                  <a:t>Общее решение неоднородной системы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ru-RU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20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ru-RU" sz="2000" b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u-RU" sz="20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E668B8FD-05D4-D74B-9C23-7477BF3DB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2301302"/>
                <a:ext cx="10041785" cy="4352765"/>
              </a:xfrm>
              <a:blipFill>
                <a:blip r:embed="rId5"/>
                <a:stretch>
                  <a:fillRect l="-1457" t="-154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A45D1E7-9FC9-3E07-5DCC-44A8BED60EB4}"/>
              </a:ext>
            </a:extLst>
          </p:cNvPr>
          <p:cNvGrpSpPr/>
          <p:nvPr/>
        </p:nvGrpSpPr>
        <p:grpSpPr>
          <a:xfrm>
            <a:off x="4309920" y="748801"/>
            <a:ext cx="3156155" cy="1552503"/>
            <a:chOff x="4447572" y="1019550"/>
            <a:chExt cx="3156155" cy="155250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BE680F7-DA35-7623-DD0B-A38C276EBA06}"/>
                </a:ext>
              </a:extLst>
            </p:cNvPr>
            <p:cNvSpPr/>
            <p:nvPr/>
          </p:nvSpPr>
          <p:spPr bwMode="auto">
            <a:xfrm>
              <a:off x="4746618" y="1650042"/>
              <a:ext cx="879693" cy="783537"/>
            </a:xfrm>
            <a:prstGeom prst="roundRect">
              <a:avLst/>
            </a:prstGeom>
            <a:solidFill>
              <a:schemeClr val="tx1">
                <a:lumMod val="25000"/>
                <a:lumOff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C184217-3DFA-4C22-15DC-9BBB1FF84603}"/>
                </a:ext>
              </a:extLst>
            </p:cNvPr>
            <p:cNvGrpSpPr/>
            <p:nvPr/>
          </p:nvGrpSpPr>
          <p:grpSpPr>
            <a:xfrm>
              <a:off x="4447572" y="1311515"/>
              <a:ext cx="3156155" cy="1260538"/>
              <a:chOff x="5663381" y="1222345"/>
              <a:chExt cx="3873911" cy="12605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BB6D689A-5178-EE05-6FD8-3E0295A60BBE}"/>
                      </a:ext>
                    </a:extLst>
                  </p:cNvPr>
                  <p:cNvSpPr txBox="1"/>
                  <p:nvPr/>
                </p:nvSpPr>
                <p:spPr>
                  <a:xfrm>
                    <a:off x="5663381" y="1422400"/>
                    <a:ext cx="3873911" cy="10604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2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800" b="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ru-RU" sz="28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ru-RU" sz="2800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BB6D689A-5178-EE05-6FD8-3E0295A60B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63381" y="1422400"/>
                    <a:ext cx="3873911" cy="10604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6D4C1B5A-92CE-91F7-3508-1CC020FA6830}"/>
                      </a:ext>
                    </a:extLst>
                  </p:cNvPr>
                  <p:cNvSpPr txBox="1"/>
                  <p:nvPr/>
                </p:nvSpPr>
                <p:spPr>
                  <a:xfrm>
                    <a:off x="6061753" y="1222345"/>
                    <a:ext cx="2433504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6D4C1B5A-92CE-91F7-3508-1CC020FA68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61753" y="1222345"/>
                    <a:ext cx="2433504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EE02BDC-3D6B-41BA-6C48-E5984BB2246D}"/>
                    </a:ext>
                  </a:extLst>
                </p:cNvPr>
                <p:cNvSpPr txBox="1"/>
                <p:nvPr/>
              </p:nvSpPr>
              <p:spPr>
                <a:xfrm>
                  <a:off x="5763447" y="1019550"/>
                  <a:ext cx="10913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00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0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EE02BDC-3D6B-41BA-6C48-E5984BB22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447" y="1019550"/>
                  <a:ext cx="109137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8856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D4FA-F128-5393-EC2A-5311A898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Крутые результаты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2BB16043-BF93-6765-D271-2BE9EFE13B81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574363" y="1448619"/>
                <a:ext cx="11040226" cy="4413324"/>
              </a:xfrm>
            </p:spPr>
            <p:txBody>
              <a:bodyPr/>
              <a:lstStyle/>
              <a:p>
                <a:r>
                  <a:rPr lang="en-US" b="1" dirty="0"/>
                  <a:t>Theorem 1. </a:t>
                </a:r>
                <a:r>
                  <a:rPr lang="ru-RU" dirty="0"/>
                  <a:t>Любое решение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ru-RU" dirty="0"/>
                  <a:t> однородной системы единственным образом представляется в виде некоторой линейной комбинации фундаментальных решений</a:t>
                </a:r>
                <a:r>
                  <a:rPr lang="en-US" dirty="0"/>
                  <a:t> </a:t>
                </a:r>
                <a:r>
                  <a:rPr lang="ru-RU" dirty="0"/>
                  <a:t>этой системы</a:t>
                </a:r>
                <a:r>
                  <a:rPr lang="en-US" dirty="0"/>
                  <a:t>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f-ZA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Theorem 2. </a:t>
                </a:r>
                <a:r>
                  <a:rPr lang="ru-RU" dirty="0"/>
                  <a:t>Общее решение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он</m:t>
                        </m:r>
                      </m:sub>
                    </m:sSub>
                  </m:oMath>
                </a14:m>
                <a:r>
                  <a:rPr lang="ru-RU" dirty="0"/>
                  <a:t> неоднородной системы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ru-RU" dirty="0"/>
                  <a:t> </a:t>
                </a:r>
                <a:br>
                  <a:rPr lang="ru-RU" dirty="0"/>
                </a:br>
                <a:r>
                  <a:rPr lang="ru-RU" dirty="0"/>
                  <a:t>есть сумма </a:t>
                </a:r>
              </a:p>
              <a:p>
                <a:pPr lvl="1"/>
                <a:r>
                  <a:rPr lang="ru-RU" dirty="0"/>
                  <a:t>общего решения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</m:t>
                        </m:r>
                        <m:r>
                          <a:rPr lang="ru-RU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</m:t>
                        </m:r>
                      </m:sub>
                    </m:sSub>
                  </m:oMath>
                </a14:m>
                <a:r>
                  <a:rPr lang="ru-RU" dirty="0"/>
                  <a:t> однородной системы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ru-RU" dirty="0"/>
                  <a:t> </a:t>
                </a:r>
              </a:p>
              <a:p>
                <a:pPr lvl="1"/>
                <a:r>
                  <a:rPr lang="ru-RU" dirty="0"/>
                  <a:t>и частного решения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  <m:r>
                      <a:rPr lang="ru-RU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неоднородной системы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228600" indent="0">
                  <a:buNone/>
                </a:pPr>
                <a:r>
                  <a:rPr lang="ru-RU" dirty="0"/>
                  <a:t>Таким образом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он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sz="28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f-ZA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ru-RU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2BB16043-BF93-6765-D271-2BE9EFE13B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574363" y="1448619"/>
                <a:ext cx="11040226" cy="4413324"/>
              </a:xfrm>
              <a:blipFill>
                <a:blip r:embed="rId2"/>
                <a:stretch>
                  <a:fillRect l="-1767" t="-1934" b="-4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92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89D4FA-F128-5393-EC2A-5311A8989B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457200"/>
                <a:ext cx="11656142" cy="965200"/>
              </a:xfrm>
            </p:spPr>
            <p:txBody>
              <a:bodyPr/>
              <a:lstStyle/>
              <a:p>
                <a:r>
                  <a:rPr lang="ru-RU" sz="3200" dirty="0"/>
                  <a:t>Доказательство</a:t>
                </a:r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он</m:t>
                        </m:r>
                      </m:sub>
                    </m:sSub>
                    <m:r>
                      <a:rPr lang="ru-R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</m:t>
                        </m:r>
                        <m:r>
                          <a:rPr lang="ru-R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</m:t>
                        </m:r>
                      </m:sub>
                    </m:sSub>
                    <m:r>
                      <a:rPr lang="ru-R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89D4FA-F128-5393-EC2A-5311A8989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457200"/>
                <a:ext cx="11656142" cy="965200"/>
              </a:xfrm>
              <a:blipFill>
                <a:blip r:embed="rId3"/>
                <a:stretch>
                  <a:fillRect l="-2092" t="-12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F17785-920D-56B9-CB65-5895177B36BE}"/>
                  </a:ext>
                </a:extLst>
              </p:cNvPr>
              <p:cNvSpPr txBox="1"/>
              <p:nvPr/>
            </p:nvSpPr>
            <p:spPr>
              <a:xfrm>
                <a:off x="314633" y="1186425"/>
                <a:ext cx="11021962" cy="5058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6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оо</m:t>
                        </m:r>
                      </m:sub>
                    </m:sSub>
                    <m:r>
                      <a:rPr lang="ru-RU" sz="2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r>
                  <a:rPr lang="ru-RU" sz="2600" dirty="0">
                    <a:solidFill>
                      <a:srgbClr val="002060"/>
                    </a:solidFill>
                  </a:rPr>
                  <a:t> будет решением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ru-RU" sz="2600" dirty="0"/>
              </a:p>
              <a:p>
                <a:endParaRPr lang="ru-RU" sz="2600" dirty="0"/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ru-RU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ru-RU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оо</m:t>
                            </m:r>
                          </m:sub>
                        </m:s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ru-RU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чн</m:t>
                            </m:r>
                          </m:sub>
                        </m:sSub>
                      </m:e>
                    </m:d>
                    <m:r>
                      <a:rPr lang="ru-RU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оо</m:t>
                        </m:r>
                      </m:sub>
                    </m:sSub>
                    <m:r>
                      <a:rPr lang="ru-RU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ru-RU" sz="2400" dirty="0">
                  <a:solidFill>
                    <a:srgbClr val="002060"/>
                  </a:solidFill>
                </a:endParaRPr>
              </a:p>
              <a:p>
                <a:endParaRPr lang="ru-RU" sz="2400" dirty="0">
                  <a:solidFill>
                    <a:srgbClr val="002060"/>
                  </a:solidFill>
                </a:endParaRPr>
              </a:p>
              <a:p>
                <a:r>
                  <a:rPr lang="en-US" sz="2600" dirty="0">
                    <a:solidFill>
                      <a:srgbClr val="002060"/>
                    </a:solidFill>
                  </a:rPr>
                  <a:t>2</a:t>
                </a:r>
                <a:r>
                  <a:rPr lang="ru-RU" sz="2600" dirty="0">
                    <a:solidFill>
                      <a:srgbClr val="00206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</a:rPr>
                  <a:t> </a:t>
                </a:r>
                <a:r>
                  <a:rPr lang="ru-RU" sz="2600" dirty="0">
                    <a:solidFill>
                      <a:srgbClr val="002060"/>
                    </a:solidFill>
                  </a:rPr>
                  <a:t> –  решение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ru-RU" sz="2600" dirty="0">
                    <a:solidFill>
                      <a:srgbClr val="00206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ru-RU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2600" dirty="0">
                    <a:solidFill>
                      <a:srgbClr val="00206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6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ru-RU" sz="2600" dirty="0">
                    <a:solidFill>
                      <a:srgbClr val="002060"/>
                    </a:solidFill>
                  </a:rPr>
                  <a:t>  будет одним из решений вида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оо</m:t>
                        </m:r>
                      </m:sub>
                    </m:sSub>
                    <m:r>
                      <a:rPr lang="ru-RU" sz="2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endParaRPr lang="en-US" sz="2600" dirty="0">
                  <a:solidFill>
                    <a:srgbClr val="002060"/>
                  </a:solidFill>
                </a:endParaRP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endParaRPr lang="ru-RU" sz="2400" dirty="0">
                  <a:solidFill>
                    <a:srgbClr val="002060"/>
                  </a:solidFill>
                </a:endParaRP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ru-RU" sz="2400" dirty="0">
                    <a:solidFill>
                      <a:srgbClr val="002060"/>
                    </a:solidFill>
                  </a:rPr>
                  <a:t>От противного</a:t>
                </a:r>
                <a:r>
                  <a:rPr lang="en-US" sz="2400" dirty="0">
                    <a:solidFill>
                      <a:srgbClr val="002060"/>
                    </a:solidFill>
                  </a:rPr>
                  <a:t>: </a:t>
                </a:r>
                <a:r>
                  <a:rPr lang="ru-RU" sz="2400" dirty="0">
                    <a:solidFill>
                      <a:srgbClr val="002060"/>
                    </a:solidFill>
                  </a:rPr>
                  <a:t>пусть есть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– решение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, которое не описывается </a:t>
                </a:r>
                <a:br>
                  <a:rPr lang="en-US" sz="2400" dirty="0">
                    <a:solidFill>
                      <a:srgbClr val="002060"/>
                    </a:solidFill>
                  </a:rPr>
                </a:br>
                <a:r>
                  <a:rPr lang="ru-RU" sz="2400" dirty="0">
                    <a:solidFill>
                      <a:srgbClr val="002060"/>
                    </a:solidFill>
                  </a:rPr>
                  <a:t>схемой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оо</m:t>
                        </m:r>
                      </m:sub>
                    </m:sSub>
                    <m:r>
                      <a:rPr lang="ru-R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, т. е. ни для каких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,…</a:t>
                </a:r>
                <a:r>
                  <a:rPr lang="en-US" sz="2400" dirty="0">
                    <a:solidFill>
                      <a:srgbClr val="002060"/>
                    </a:solidFill>
                  </a:rPr>
                  <a:t>,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ru-RU" sz="2400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f-ZA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af-ZA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чн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ru-RU" sz="2400" dirty="0">
                    <a:solidFill>
                      <a:srgbClr val="002060"/>
                    </a:solidFill>
                  </a:rPr>
                  <a:t>Рассмотрим разность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endParaRPr lang="ru-RU" sz="2400" dirty="0">
                  <a:solidFill>
                    <a:srgbClr val="002060"/>
                  </a:solidFill>
                </a:endParaRP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ru-RU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чн</m:t>
                            </m:r>
                          </m:sub>
                        </m:sSub>
                      </m:e>
                    </m:d>
                    <m:r>
                      <a:rPr lang="ru-RU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ru-RU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 – решение однородной системы</a:t>
                </a:r>
                <a:endParaRPr lang="en-US" sz="2400" dirty="0">
                  <a:solidFill>
                    <a:srgbClr val="002060"/>
                  </a:solidFill>
                </a:endParaRP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f-ZA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>
                    <a:solidFill>
                      <a:srgbClr val="00B0F0"/>
                    </a:solidFill>
                  </a:rPr>
                  <a:t>(</a:t>
                </a:r>
                <a:r>
                  <a:rPr lang="ru-RU" sz="2400" dirty="0">
                    <a:solidFill>
                      <a:srgbClr val="00B0F0"/>
                    </a:solidFill>
                  </a:rPr>
                  <a:t>в силу</a:t>
                </a:r>
                <a:r>
                  <a:rPr lang="en-US" sz="2400" dirty="0">
                    <a:solidFill>
                      <a:srgbClr val="00B0F0"/>
                    </a:solidFill>
                  </a:rPr>
                  <a:t> Theorem 1)</a:t>
                </a:r>
                <a:endParaRPr lang="ru-RU" sz="2400" dirty="0">
                  <a:solidFill>
                    <a:srgbClr val="00B0F0"/>
                  </a:solidFill>
                </a:endParaRP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f-ZA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f-ZA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ru-R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чн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ru-RU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</a:t>
                </a:r>
                <a:r>
                  <a:rPr lang="ru-RU" sz="2400" dirty="0">
                    <a:solidFill>
                      <a:srgbClr val="002060"/>
                    </a:solidFill>
                  </a:rPr>
                  <a:t>  </a:t>
                </a:r>
                <a:r>
                  <a:rPr lang="ru-RU" sz="2400" dirty="0">
                    <a:solidFill>
                      <a:srgbClr val="00B050"/>
                    </a:solidFill>
                  </a:rPr>
                  <a:t>противоречие!</a:t>
                </a:r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F17785-920D-56B9-CB65-5895177B3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3" y="1186425"/>
                <a:ext cx="11021962" cy="5058436"/>
              </a:xfrm>
              <a:prstGeom prst="rect">
                <a:avLst/>
              </a:prstGeom>
              <a:blipFill>
                <a:blip r:embed="rId4"/>
                <a:stretch>
                  <a:fillRect l="-996" t="-1086" b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937284"/>
      </p:ext>
    </p:extLst>
  </p:cSld>
  <p:clrMapOvr>
    <a:masterClrMapping/>
  </p:clrMapOvr>
</p:sld>
</file>

<file path=ppt/theme/theme1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13583499748489E6E697426926B1B" ma:contentTypeVersion="7" ma:contentTypeDescription="Create a new document." ma:contentTypeScope="" ma:versionID="0dad6fcd77a4d221fbf9e945eba42182">
  <xsd:schema xmlns:xsd="http://www.w3.org/2001/XMLSchema" xmlns:xs="http://www.w3.org/2001/XMLSchema" xmlns:p="http://schemas.microsoft.com/office/2006/metadata/properties" xmlns:ns2="f8d8e8b1-85bd-4cc8-ac20-30bdad921333" targetNamespace="http://schemas.microsoft.com/office/2006/metadata/properties" ma:root="true" ma:fieldsID="c1b8804e85e0561b7b3724e149da1b7d" ns2:_="">
    <xsd:import namespace="f8d8e8b1-85bd-4cc8-ac20-30bdad921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8e8b1-85bd-4cc8-ac20-30bdad921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C9F163-A8EC-46E9-A4C8-495BF736C924}"/>
</file>

<file path=customXml/itemProps2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2E3419-B313-4514-AD24-D56E1F80A63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cd2bce81-b418-4cd8-9935-4e402d3140b0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5c9ed8-4a47-4862-b7c0-361fb59caa7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2403</TotalTime>
  <Words>1939</Words>
  <Application>Microsoft Office PowerPoint</Application>
  <PresentationFormat>Widescreen</PresentationFormat>
  <Paragraphs>244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Courier New</vt:lpstr>
      <vt:lpstr>Wingdings</vt:lpstr>
      <vt:lpstr>1_EPAM Master 2021.3</vt:lpstr>
      <vt:lpstr>Systems of linear equations</vt:lpstr>
      <vt:lpstr>Метод Гаусса: подготовка к запуску</vt:lpstr>
      <vt:lpstr>Метод Гаусса: прямой ход – активна строка #1</vt:lpstr>
      <vt:lpstr>Метод Гаусса: прямой ход – активна строка #1</vt:lpstr>
      <vt:lpstr>Метод Гаусса: прямой ход – активна строка #2</vt:lpstr>
      <vt:lpstr>Метод Гаусса: прямой ход – активна строка #3</vt:lpstr>
      <vt:lpstr>Метод Гаусса: прямой ход – анализ</vt:lpstr>
      <vt:lpstr>Метод Гаусса: обратный ход – активна строка #3</vt:lpstr>
      <vt:lpstr>Метод Гаусса: обратный ход – активна строка #2</vt:lpstr>
      <vt:lpstr>Еще одна система: подготовка к запуску</vt:lpstr>
      <vt:lpstr>Метод Гаусса: прямой ход – активна строка #1</vt:lpstr>
      <vt:lpstr>Метод Гаусса: прямой ход – активна строка #2</vt:lpstr>
      <vt:lpstr>Метод Гаусса: прямой ход – активна строка #3</vt:lpstr>
      <vt:lpstr>Метод Гаусса: прямой ход – активна строка #4</vt:lpstr>
      <vt:lpstr>Метод Гаусса: обратный ход – активна строка #3</vt:lpstr>
      <vt:lpstr>Метод Гаусса: обратный ход – активна строка #2</vt:lpstr>
      <vt:lpstr>Однородная система</vt:lpstr>
      <vt:lpstr>Фундаментальная система решений</vt:lpstr>
      <vt:lpstr>Фундаментальная система решений</vt:lpstr>
      <vt:lpstr>Пример</vt:lpstr>
      <vt:lpstr>Пример</vt:lpstr>
      <vt:lpstr>Крутые результаты</vt:lpstr>
      <vt:lpstr>Доказательство: x_он=x_оо+x_чн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Alexey Gurevski</cp:lastModifiedBy>
  <cp:revision>194</cp:revision>
  <dcterms:created xsi:type="dcterms:W3CDTF">2020-10-27T12:12:11Z</dcterms:created>
  <dcterms:modified xsi:type="dcterms:W3CDTF">2024-10-09T18:17:36Z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0x0101002CE13583499748489E6E697426926B1B</vt:lpwstr>
  </property>
  <property fmtid="{D5CDD505-2E9C-101B-9397-08002B2CF9AE}" pid="3" name="MediaServiceImageTags">
    <vt:lpwstr/>
  </property>
</Properties>
</file>