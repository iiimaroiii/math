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4"/>
  </p:sldMasterIdLst>
  <p:notesMasterIdLst>
    <p:notesMasterId r:id="rId19"/>
  </p:notesMasterIdLst>
  <p:handoutMasterIdLst>
    <p:handoutMasterId r:id="rId20"/>
  </p:handoutMasterIdLst>
  <p:sldIdLst>
    <p:sldId id="2146848185" r:id="rId5"/>
    <p:sldId id="2146848240" r:id="rId6"/>
    <p:sldId id="2146848257" r:id="rId7"/>
    <p:sldId id="2146848247" r:id="rId8"/>
    <p:sldId id="2146848245" r:id="rId9"/>
    <p:sldId id="2146848246" r:id="rId10"/>
    <p:sldId id="2146848248" r:id="rId11"/>
    <p:sldId id="2146848249" r:id="rId12"/>
    <p:sldId id="2146848256" r:id="rId13"/>
    <p:sldId id="2146848250" r:id="rId14"/>
    <p:sldId id="2146848251" r:id="rId15"/>
    <p:sldId id="2146848252" r:id="rId16"/>
    <p:sldId id="2146848253" r:id="rId17"/>
    <p:sldId id="214684825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EAB"/>
    <a:srgbClr val="ACDCDD"/>
    <a:srgbClr val="F6F6F6"/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C3EA8B-9D86-508A-5619-990F69220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66C21-3E35-8E34-2B93-D6474FDAE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F65F5-4296-0146-B260-D72DA98714BE}" type="datetimeFigureOut">
              <a:rPr lang="en-UA" smtClean="0"/>
              <a:t>10/08/2024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9A2BB-792A-4280-F38A-B88426761C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1C3C9-B78A-DF42-0EBA-E83B01D5EE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20728-0225-194E-8550-38F500DE678F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12507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/>
        </p:spPr>
        <p:txBody>
          <a:bodyPr wrap="none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72213" y="4479572"/>
            <a:ext cx="1447573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Kiril Kuzmin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882" y="5228068"/>
            <a:ext cx="206458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October 4, 2022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7977" y="2564931"/>
            <a:ext cx="5509290" cy="923330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Presentation title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27" y="261914"/>
            <a:ext cx="3059722" cy="84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62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65200"/>
          </a:xfrm>
        </p:spPr>
        <p:txBody>
          <a:bodyPr/>
          <a:lstStyle>
            <a:lvl1pPr>
              <a:defRPr b="0">
                <a:solidFill>
                  <a:srgbClr val="002060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530928"/>
            <a:ext cx="4151745" cy="33495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200" indent="-457200">
              <a:buFont typeface="Wingdings" panose="05000000000000000000" pitchFamily="2" charset="2"/>
              <a:buChar char="q"/>
              <a:defRPr sz="2800" b="0">
                <a:latin typeface="+mn-lt"/>
                <a:cs typeface="Calibri Light" panose="020F0302020204030204" pitchFamily="34" charset="0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</a:lstStyle>
          <a:p>
            <a:pPr lvl="0"/>
            <a:r>
              <a:rPr lang="en-US" dirty="0"/>
              <a:t>Main text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2"/>
            <a:r>
              <a:rPr lang="en-US" dirty="0"/>
              <a:t>sub-bullet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848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08811"/>
            <a:ext cx="10672618" cy="4240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It’s the main text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B803D9-382F-46B0-1898-DAB0489BED10}"/>
              </a:ext>
            </a:extLst>
          </p:cNvPr>
          <p:cNvGrpSpPr/>
          <p:nvPr userDrawn="1"/>
        </p:nvGrpSpPr>
        <p:grpSpPr>
          <a:xfrm>
            <a:off x="375920" y="5990240"/>
            <a:ext cx="1532080" cy="756000"/>
            <a:chOff x="375920" y="5990240"/>
            <a:chExt cx="1532080" cy="756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98B4834-F2C3-2E22-51AA-388AA2623E68}"/>
                </a:ext>
              </a:extLst>
            </p:cNvPr>
            <p:cNvSpPr/>
            <p:nvPr/>
          </p:nvSpPr>
          <p:spPr bwMode="auto">
            <a:xfrm>
              <a:off x="375920" y="6421120"/>
              <a:ext cx="721360" cy="225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 lIns="0" tIns="0" rIns="0" bIns="0" rtlCol="0" anchor="ctr"/>
            <a:lstStyle/>
            <a:p>
              <a:pPr algn="ctr"/>
              <a:endParaRPr lang="en-UA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376AE24-2430-37FB-BC15-311846F8E6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-378" t="18514" r="-378" b="28589"/>
            <a:stretch/>
          </p:blipFill>
          <p:spPr>
            <a:xfrm>
              <a:off x="468000" y="5990240"/>
              <a:ext cx="1440000" cy="75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95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827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rl_Friedrich_Gauss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DA4CC9-A36D-5784-E61E-95FC2EE150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67084" y="5574795"/>
            <a:ext cx="1447573" cy="369332"/>
          </a:xfrm>
        </p:spPr>
        <p:txBody>
          <a:bodyPr/>
          <a:lstStyle/>
          <a:p>
            <a:r>
              <a:rPr lang="en-US" dirty="0"/>
              <a:t>Kiril Kuzmin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F8F0F-2F26-DF07-F833-11986E040B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58579" y="6260456"/>
            <a:ext cx="2064585" cy="246221"/>
          </a:xfrm>
        </p:spPr>
        <p:txBody>
          <a:bodyPr/>
          <a:lstStyle/>
          <a:p>
            <a:r>
              <a:rPr lang="en-US" dirty="0"/>
              <a:t>October </a:t>
            </a:r>
            <a:r>
              <a:rPr lang="ru-RU" dirty="0"/>
              <a:t>24</a:t>
            </a:r>
            <a:r>
              <a:rPr lang="en-US" dirty="0"/>
              <a:t>, 2022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5F5B1A-F7F9-8B55-6073-27FBE2630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638" y="3219444"/>
            <a:ext cx="7108724" cy="804410"/>
          </a:xfrm>
        </p:spPr>
        <p:txBody>
          <a:bodyPr/>
          <a:lstStyle/>
          <a:p>
            <a:r>
              <a:rPr lang="en-US" sz="4800" dirty="0"/>
              <a:t>Rank and inverse of a matrix</a:t>
            </a:r>
            <a:br>
              <a:rPr lang="en-US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873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9364-2672-4FFD-6853-453D8624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Линейно независимые векторы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43969-1F6C-33E0-D3AB-2C1A367C5020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656142" cy="345722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i="1" dirty="0">
                    <a:solidFill>
                      <a:srgbClr val="7030A0"/>
                    </a:solidFill>
                  </a:rPr>
                  <a:t>линейная комбинация </a:t>
                </a:r>
                <a:r>
                  <a:rPr lang="ru-RU" dirty="0"/>
                  <a:t>векторов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числа (возможно все равные 0)</a:t>
                </a:r>
              </a:p>
              <a:p>
                <a:r>
                  <a:rPr lang="ru-RU" dirty="0"/>
                  <a:t>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ru-RU" i="1" dirty="0">
                    <a:solidFill>
                      <a:srgbClr val="7030A0"/>
                    </a:solidFill>
                  </a:rPr>
                  <a:t>линейно независимы</a:t>
                </a:r>
                <a:r>
                  <a:rPr lang="ru-RU" dirty="0"/>
                  <a:t>, если их линейная комбинация </a:t>
                </a:r>
                <a:r>
                  <a:rPr lang="ru-RU" b="1" dirty="0"/>
                  <a:t>не</a:t>
                </a:r>
                <a:r>
                  <a:rPr lang="ru-RU" dirty="0"/>
                  <a:t> равна нуль-вектору</a:t>
                </a:r>
                <a:br>
                  <a:rPr lang="ru-RU" dirty="0"/>
                </a:br>
                <a:r>
                  <a:rPr lang="ru-RU" sz="2400" dirty="0">
                    <a:solidFill>
                      <a:srgbClr val="264553"/>
                    </a:solidFill>
                  </a:rPr>
                  <a:t>(за исключением случая, когда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0" smtClean="0">
                        <a:solidFill>
                          <a:srgbClr val="26455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264553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sz="2400" b="0" i="1" smtClean="0">
                        <a:solidFill>
                          <a:srgbClr val="26455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26455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400" b="0" i="0" smtClean="0">
                        <a:solidFill>
                          <a:srgbClr val="264553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dirty="0">
                    <a:solidFill>
                      <a:srgbClr val="264553"/>
                    </a:solidFill>
                  </a:rPr>
                  <a:t>)</a:t>
                </a:r>
              </a:p>
              <a:p>
                <a:r>
                  <a:rPr lang="ru-RU" dirty="0"/>
                  <a:t>В противном случае векторы называют </a:t>
                </a:r>
                <a:r>
                  <a:rPr lang="ru-RU" i="1" dirty="0">
                    <a:solidFill>
                      <a:srgbClr val="7030A0"/>
                    </a:solidFill>
                  </a:rPr>
                  <a:t>линейно зависимыми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43969-1F6C-33E0-D3AB-2C1A367C50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656142" cy="3457228"/>
              </a:xfrm>
              <a:blipFill>
                <a:blip r:embed="rId2"/>
                <a:stretch>
                  <a:fillRect l="-1674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D65B5F5-D253-B82C-AF71-ECC730DDFD73}"/>
                  </a:ext>
                </a:extLst>
              </p:cNvPr>
              <p:cNvSpPr/>
              <p:nvPr/>
            </p:nvSpPr>
            <p:spPr bwMode="auto">
              <a:xfrm>
                <a:off x="2656577" y="5755688"/>
                <a:ext cx="8996516" cy="997731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/>
              <a:p>
                <a:pPr indent="-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Трехмерные векторы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i="1" dirty="0"/>
                  <a:t>линейно зависимы</a:t>
                </a:r>
                <a:r>
                  <a:rPr lang="ru-RU" sz="2400" dirty="0"/>
                  <a:t>, если они компланарны</a:t>
                </a:r>
                <a:r>
                  <a:rPr lang="en-US" sz="2400" dirty="0"/>
                  <a:t>/</a:t>
                </a:r>
                <a:r>
                  <a:rPr lang="ru-RU" sz="2400" dirty="0"/>
                  <a:t>лежат в одной плоскости</a:t>
                </a:r>
                <a:endParaRPr lang="en-US" sz="2400" dirty="0"/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D65B5F5-D253-B82C-AF71-ECC730DDFD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6577" y="5755688"/>
                <a:ext cx="8996516" cy="997731"/>
              </a:xfrm>
              <a:prstGeom prst="roundRect">
                <a:avLst/>
              </a:prstGeom>
              <a:blipFill>
                <a:blip r:embed="rId3"/>
                <a:stretch>
                  <a:fillRect l="-1557" b="-60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8A15B13-56A6-4489-95E7-FCD3AB040A68}"/>
                  </a:ext>
                </a:extLst>
              </p:cNvPr>
              <p:cNvSpPr/>
              <p:nvPr/>
            </p:nvSpPr>
            <p:spPr bwMode="auto">
              <a:xfrm>
                <a:off x="1052052" y="4597818"/>
                <a:ext cx="8996516" cy="997731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/>
              <a:lstStyle/>
              <a:p>
                <a:pPr indent="-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ru-RU" sz="2400" dirty="0"/>
                  <a:t>Двумерные векторы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ru-RU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i="1" dirty="0"/>
                  <a:t>линейно зависимы</a:t>
                </a:r>
                <a:r>
                  <a:rPr lang="ru-RU" sz="2400" dirty="0"/>
                  <a:t>, если они коллинеарны</a:t>
                </a:r>
                <a:r>
                  <a:rPr lang="en-US" sz="2400" dirty="0"/>
                  <a:t>/</a:t>
                </a:r>
                <a:r>
                  <a:rPr lang="ru-RU" sz="2400" dirty="0"/>
                  <a:t>пропорциональны</a:t>
                </a:r>
                <a:r>
                  <a:rPr lang="en-US" sz="2400" dirty="0"/>
                  <a:t>/</a:t>
                </a:r>
                <a:r>
                  <a:rPr lang="ru-RU" sz="2400" dirty="0"/>
                  <a:t>лежат на одной прямой</a:t>
                </a:r>
                <a:endParaRPr lang="en-US" sz="2400" dirty="0"/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8A15B13-56A6-4489-95E7-FCD3AB040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2052" y="4597818"/>
                <a:ext cx="8996516" cy="997731"/>
              </a:xfrm>
              <a:prstGeom prst="roundRect">
                <a:avLst/>
              </a:prstGeom>
              <a:blipFill>
                <a:blip r:embed="rId4"/>
                <a:stretch>
                  <a:fillRect l="-1558" b="-606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49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F1C79-4229-9D2B-AF72-C6A96188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 как линейная комбинация других векторов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F3A60-94E0-A8AE-0D73-3FAC81F91E15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351342" cy="4152804"/>
              </a:xfrm>
            </p:spPr>
            <p:txBody>
              <a:bodyPr/>
              <a:lstStyle/>
              <a:p>
                <a:r>
                  <a:rPr lang="ru-RU" dirty="0"/>
                  <a:t>Если вектор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равен линейной комбинации векторов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</a:p>
              <a:p>
                <a:pPr marL="0" indent="0" algn="just">
                  <a:buNone/>
                </a:pPr>
                <a:r>
                  <a:rPr lang="ru-RU" dirty="0"/>
                  <a:t>то вектор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ru-RU" dirty="0"/>
                  <a:t> </a:t>
                </a:r>
                <a:r>
                  <a:rPr lang="ru-RU" i="1" dirty="0">
                    <a:solidFill>
                      <a:srgbClr val="002060"/>
                    </a:solidFill>
                  </a:rPr>
                  <a:t>линейно выражается через векторы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marL="0" indent="0" algn="just">
                  <a:buNone/>
                </a:pPr>
                <a:endParaRPr lang="ru-RU" dirty="0"/>
              </a:p>
              <a:p>
                <a:r>
                  <a:rPr lang="ru-RU" dirty="0"/>
                  <a:t>Если система векторов линейно зависима, то в ней обязательно найдется хотя бы один вектор, который линейно выражается через другие векторы этой системы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67F3A60-94E0-A8AE-0D73-3FAC81F91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351342" cy="4152804"/>
              </a:xfrm>
              <a:blipFill>
                <a:blip r:embed="rId2"/>
                <a:stretch>
                  <a:fillRect l="-1880" t="-2056" b="-4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2F4A095-C08E-D938-DABD-B124AF6A7D22}"/>
              </a:ext>
            </a:extLst>
          </p:cNvPr>
          <p:cNvGrpSpPr/>
          <p:nvPr/>
        </p:nvGrpSpPr>
        <p:grpSpPr>
          <a:xfrm>
            <a:off x="4736498" y="2497396"/>
            <a:ext cx="3473438" cy="1634954"/>
            <a:chOff x="4736498" y="2497396"/>
            <a:chExt cx="3473438" cy="16349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25D57149-1C40-9CEF-87FB-3D9F0CAFCFE0}"/>
                    </a:ext>
                  </a:extLst>
                </p:cNvPr>
                <p:cNvSpPr/>
                <p:nvPr/>
              </p:nvSpPr>
              <p:spPr bwMode="auto">
                <a:xfrm>
                  <a:off x="4736498" y="3318284"/>
                  <a:ext cx="3473438" cy="814066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Здесь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:r>
                    <a:rPr lang="ru-RU" sz="2000" b="1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все</a:t>
                  </a:r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solidFill>
                                <a:srgbClr val="745C9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rgbClr val="745C9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rgbClr val="745C97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могут быть 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= 0</a:t>
                  </a:r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:endParaRPr lang="en-US" sz="2000" dirty="0">
                    <a:solidFill>
                      <a:srgbClr val="745C97"/>
                    </a:solidFill>
                    <a:latin typeface="Calibri Light" panose="020F0302020204030204" pitchFamily="34" charset="0"/>
                    <a:ea typeface="Human Sans ExtraLight" charset="0"/>
                    <a:cs typeface="Human Sans ExtraLight" charset="0"/>
                  </a:endParaRPr>
                </a:p>
              </p:txBody>
            </p:sp>
          </mc:Choice>
          <mc:Fallback xmlns="">
            <p:sp>
              <p:nvSpPr>
                <p:cNvPr id="5" name="Rectangle: Rounded Corners 4">
                  <a:extLst>
                    <a:ext uri="{FF2B5EF4-FFF2-40B4-BE49-F238E27FC236}">
                      <a16:creationId xmlns:a16="http://schemas.microsoft.com/office/drawing/2014/main" id="{25D57149-1C40-9CEF-87FB-3D9F0CAFCFE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36498" y="3318284"/>
                  <a:ext cx="3473438" cy="81406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2C40337D-25BC-FAE3-ED2C-3EEFF419E5E1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586705" y="2647189"/>
              <a:ext cx="820888" cy="521302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17AEEA3-0315-FB35-6144-AE34A9CBC64A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rot="16200000" flipV="1">
              <a:off x="5761095" y="2606161"/>
              <a:ext cx="820888" cy="603357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9E143A14-F0DE-4A31-95F3-B93A9BDCF1B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109675" y="2729297"/>
              <a:ext cx="820887" cy="357085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271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9CBB-4263-A138-2F9B-52AC7C58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Базис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5CF748-9EAD-7183-8FB3-1EA9AA0AACB3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800735" cy="4255076"/>
              </a:xfrm>
            </p:spPr>
            <p:txBody>
              <a:bodyPr/>
              <a:lstStyle/>
              <a:p>
                <a:r>
                  <a:rPr lang="ru-RU" dirty="0"/>
                  <a:t>Максимальный </a:t>
                </a:r>
                <a:r>
                  <a:rPr lang="en-US" dirty="0"/>
                  <a:t>[</a:t>
                </a:r>
                <a:r>
                  <a:rPr lang="ru-RU" dirty="0"/>
                  <a:t>по включению</a:t>
                </a:r>
                <a:r>
                  <a:rPr lang="en-US" dirty="0"/>
                  <a:t>]</a:t>
                </a:r>
                <a:r>
                  <a:rPr lang="ru-RU" dirty="0"/>
                  <a:t> набор линейно независимых векторов –</a:t>
                </a:r>
                <a:r>
                  <a:rPr lang="en-US" dirty="0"/>
                  <a:t> </a:t>
                </a:r>
                <a:r>
                  <a:rPr lang="ru-RU" i="1" dirty="0">
                    <a:solidFill>
                      <a:srgbClr val="7030A0"/>
                    </a:solidFill>
                  </a:rPr>
                  <a:t>базис</a:t>
                </a:r>
              </a:p>
              <a:p>
                <a:pPr lvl="1"/>
                <a:r>
                  <a:rPr lang="ru-RU" dirty="0"/>
                  <a:t> Поэтому минор, который определяет ранг матрицы, называется </a:t>
                </a:r>
                <a:r>
                  <a:rPr lang="ru-RU" dirty="0">
                    <a:solidFill>
                      <a:srgbClr val="7030A0"/>
                    </a:solidFill>
                  </a:rPr>
                  <a:t>базисным</a:t>
                </a:r>
              </a:p>
              <a:p>
                <a:pPr lvl="1"/>
                <a:endParaRPr lang="ru-RU" dirty="0">
                  <a:solidFill>
                    <a:srgbClr val="7030A0"/>
                  </a:solidFill>
                </a:endParaRPr>
              </a:p>
              <a:p>
                <a:r>
                  <a:rPr lang="ru-RU" dirty="0"/>
                  <a:t>Стандартный базис</a:t>
                </a:r>
                <a:r>
                  <a:rPr lang="en-US" dirty="0"/>
                  <a:t> [</a:t>
                </a:r>
                <a:r>
                  <a:rPr lang="ru-RU" dirty="0"/>
                  <a:t>в трехмерном пространстве</a:t>
                </a:r>
                <a:r>
                  <a:rPr lang="en-US" dirty="0"/>
                  <a:t>]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  <a:p>
                <a:pPr lvl="1"/>
                <a:endParaRPr lang="en-US" dirty="0">
                  <a:solidFill>
                    <a:srgbClr val="7030A0"/>
                  </a:solidFill>
                </a:endParaRPr>
              </a:p>
              <a:p>
                <a:r>
                  <a:rPr lang="ru-RU" dirty="0">
                    <a:solidFill>
                      <a:srgbClr val="00B050"/>
                    </a:solidFill>
                  </a:rPr>
                  <a:t>Число векторов в базисе = размерности пространства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C5CF748-9EAD-7183-8FB3-1EA9AA0AA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800735" cy="4255076"/>
              </a:xfrm>
              <a:blipFill>
                <a:blip r:embed="rId2"/>
                <a:stretch>
                  <a:fillRect l="-1806" t="-2006" b="-4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682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0732-91A1-2350-1B9C-9C49A729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считать ранг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87515-125A-01BD-232D-D7513A9251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530928"/>
            <a:ext cx="11606981" cy="2589620"/>
          </a:xfrm>
        </p:spPr>
        <p:txBody>
          <a:bodyPr/>
          <a:lstStyle/>
          <a:p>
            <a:r>
              <a:rPr lang="ru-RU" dirty="0"/>
              <a:t>Метод окаймляющих миноров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ru-RU" dirty="0"/>
              <a:t>Метод Гаусса </a:t>
            </a:r>
          </a:p>
          <a:p>
            <a:pPr lvl="1"/>
            <a:r>
              <a:rPr lang="ru-RU" dirty="0"/>
              <a:t>точнее </a:t>
            </a:r>
            <a:r>
              <a:rPr lang="ru-RU" dirty="0">
                <a:solidFill>
                  <a:srgbClr val="0070C0"/>
                </a:solidFill>
              </a:rPr>
              <a:t>прямой ход метода Гаусса </a:t>
            </a:r>
            <a:r>
              <a:rPr lang="en-US" dirty="0"/>
              <a:t>a.k.a.</a:t>
            </a:r>
            <a:r>
              <a:rPr lang="ru-RU" dirty="0"/>
              <a:t> </a:t>
            </a:r>
            <a:r>
              <a:rPr lang="ru-RU" dirty="0">
                <a:solidFill>
                  <a:srgbClr val="0070C0"/>
                </a:solidFill>
              </a:rPr>
              <a:t>приведение матрицы к ступенчатому виду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84F87FC-B83A-1D34-AE91-3B903BB3017B}"/>
              </a:ext>
            </a:extLst>
          </p:cNvPr>
          <p:cNvSpPr txBox="1">
            <a:spLocks/>
          </p:cNvSpPr>
          <p:nvPr/>
        </p:nvSpPr>
        <p:spPr>
          <a:xfrm>
            <a:off x="457199" y="2419326"/>
            <a:ext cx="11036711" cy="2318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sz="28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 sz="24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20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lvl="1" indent="-342900"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8500"/>
                </a:solidFill>
              </a:rPr>
              <a:t>Так себе метод, хорош только для специально подобранных матриц</a:t>
            </a:r>
          </a:p>
          <a:p>
            <a:pPr marL="571500" lvl="1" indent="-342900">
              <a:buFont typeface="Wingdings" panose="05000000000000000000" pitchFamily="2" charset="2"/>
              <a:buChar char="§"/>
            </a:pPr>
            <a:endParaRPr lang="ru-RU" dirty="0">
              <a:solidFill>
                <a:srgbClr val="FF8500"/>
              </a:solidFill>
            </a:endParaRPr>
          </a:p>
          <a:p>
            <a:pPr marL="571500" lvl="1" indent="-342900">
              <a:buFont typeface="Wingdings" panose="05000000000000000000" pitchFamily="2" charset="2"/>
              <a:buChar char="§"/>
            </a:pPr>
            <a:endParaRPr lang="ru-RU" dirty="0">
              <a:solidFill>
                <a:srgbClr val="FF8500"/>
              </a:solidFill>
            </a:endParaRPr>
          </a:p>
          <a:p>
            <a:pPr marL="228600" lvl="1" indent="0">
              <a:buNone/>
            </a:pPr>
            <a:endParaRPr lang="ru-RU" dirty="0">
              <a:solidFill>
                <a:srgbClr val="FF8500"/>
              </a:solidFill>
            </a:endParaRPr>
          </a:p>
          <a:p>
            <a:pPr marL="571500" lvl="1" indent="-342900"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8500"/>
                </a:solidFill>
              </a:rPr>
              <a:t>Отличный метод, широко используется</a:t>
            </a:r>
            <a:endParaRPr lang="en-US" dirty="0">
              <a:solidFill>
                <a:srgbClr val="FF85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110ED7-EADE-1A34-012D-2DFA12BD7479}"/>
              </a:ext>
            </a:extLst>
          </p:cNvPr>
          <p:cNvGrpSpPr/>
          <p:nvPr/>
        </p:nvGrpSpPr>
        <p:grpSpPr>
          <a:xfrm>
            <a:off x="7747818" y="4428650"/>
            <a:ext cx="3983934" cy="2190456"/>
            <a:chOff x="7747818" y="4428650"/>
            <a:chExt cx="3983934" cy="2190456"/>
          </a:xfrm>
        </p:grpSpPr>
        <p:pic>
          <p:nvPicPr>
            <p:cNvPr id="6" name="Picture 5" descr="A picture containing text, person, person, wearing&#10;&#10;Description automatically generated">
              <a:extLst>
                <a:ext uri="{FF2B5EF4-FFF2-40B4-BE49-F238E27FC236}">
                  <a16:creationId xmlns:a16="http://schemas.microsoft.com/office/drawing/2014/main" id="{E1972D9E-033D-355D-8C38-F20A0325B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7818" y="4428650"/>
              <a:ext cx="1927123" cy="21904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2F3947-71AD-6F33-F9A3-456870F384A3}"/>
                </a:ext>
              </a:extLst>
            </p:cNvPr>
            <p:cNvSpPr txBox="1"/>
            <p:nvPr/>
          </p:nvSpPr>
          <p:spPr>
            <a:xfrm>
              <a:off x="9872269" y="5385379"/>
              <a:ext cx="1859483" cy="276999"/>
            </a:xfrm>
            <a:prstGeom prst="rect">
              <a:avLst/>
            </a:prstGeom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solidFill>
                    <a:srgbClr val="89608E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Carl Friedrich Gauss</a:t>
              </a:r>
              <a:endParaRPr lang="en-US" dirty="0">
                <a:solidFill>
                  <a:srgbClr val="89608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088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158D-B63B-4BE5-BA9B-AF11AF46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BCA389-E024-D82F-3A99-6892BE3BFD3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1" y="1530928"/>
                <a:ext cx="2807110" cy="456246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BCA389-E024-D82F-3A99-6892BE3BF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1" y="1530928"/>
                <a:ext cx="2807110" cy="456246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47F1B146-4025-78A5-828A-E69D8CF6E8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70787" y="1787793"/>
                <a:ext cx="2807110" cy="43056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  <a:defRPr sz="28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 Light" panose="020F03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  <a:defRPr sz="20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b="0" i="0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  <a:p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rgbClr val="745C97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=3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rgbClr val="745C97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</p:txBody>
          </p:sp>
        </mc:Choice>
        <mc:Fallback xmlns="">
          <p:sp>
            <p:nvSpPr>
              <p:cNvPr id="4" name="Text Placeholder 2">
                <a:extLst>
                  <a:ext uri="{FF2B5EF4-FFF2-40B4-BE49-F238E27FC236}">
                    <a16:creationId xmlns:a16="http://schemas.microsoft.com/office/drawing/2014/main" id="{47F1B146-4025-78A5-828A-E69D8CF6E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787" y="1787793"/>
                <a:ext cx="2807110" cy="43056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6712E980-315B-B1EE-4CC5-6F976700B3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4373" y="1422400"/>
                <a:ext cx="2807110" cy="456246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  <a:defRPr sz="28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 Light" panose="020F03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  <a:defRPr sz="20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6712E980-315B-B1EE-4CC5-6F976700B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73" y="1422400"/>
                <a:ext cx="2807110" cy="4562467"/>
              </a:xfrm>
              <a:prstGeom prst="rect">
                <a:avLst/>
              </a:prstGeom>
              <a:blipFill>
                <a:blip r:embed="rId4"/>
                <a:stretch>
                  <a:fillRect r="-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F0678C0B-DC9A-E37E-73B3-EAA59568F2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11032" y="1787793"/>
                <a:ext cx="2807110" cy="43056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457200" indent="-4572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q"/>
                  <a:defRPr sz="28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 Light" panose="020F030202020403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Ø"/>
                  <a:defRPr sz="24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Wingdings" panose="05000000000000000000" pitchFamily="2" charset="2"/>
                  <a:buChar char="§"/>
                  <a:defRPr sz="20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110000"/>
                  </a:lnSpc>
                  <a:spcBef>
                    <a:spcPts val="6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 sz="1200" b="0" i="0" kern="1200">
                    <a:solidFill>
                      <a:schemeClr val="tx1"/>
                    </a:solidFill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b="0" i="0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  <a:p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rgbClr val="745C97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=3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745C97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rgbClr val="745C97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rang</m:t>
                    </m:r>
                    <m:r>
                      <a:rPr lang="en-US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745C97"/>
                        </a:solidFill>
                        <a:latin typeface="Cambria Math" panose="02040503050406030204" pitchFamily="18" charset="0"/>
                      </a:rPr>
                      <m:t> =1</m:t>
                    </m:r>
                  </m:oMath>
                </a14:m>
                <a:endParaRPr lang="ru-RU" dirty="0">
                  <a:solidFill>
                    <a:srgbClr val="745C97"/>
                  </a:solidFill>
                </a:endParaRPr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F0678C0B-DC9A-E37E-73B3-EAA59568F2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032" y="1787793"/>
                <a:ext cx="2807110" cy="43056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84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7537-3257-C287-6922-D613B6AF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матрица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4DEED-C693-44DC-FB32-5725ADB9829C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908890" cy="4955203"/>
              </a:xfrm>
            </p:spPr>
            <p:txBody>
              <a:bodyPr/>
              <a:lstStyle/>
              <a:p>
                <a:r>
                  <a:rPr lang="ru-RU" dirty="0"/>
                  <a:t>Матрица, обратная к матрице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, обозначается</a:t>
                </a:r>
                <a:r>
                  <a:rPr lang="ru-RU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>
                  <a:solidFill>
                    <a:srgbClr val="7030A0"/>
                  </a:solidFill>
                </a:endParaRPr>
              </a:p>
              <a:p>
                <a:r>
                  <a:rPr lang="ru-RU" dirty="0"/>
                  <a:t>Определена только для </a:t>
                </a:r>
              </a:p>
              <a:p>
                <a:pPr lvl="1"/>
                <a:r>
                  <a:rPr lang="ru-RU" dirty="0"/>
                  <a:t>квадратных </a:t>
                </a:r>
              </a:p>
              <a:p>
                <a:pPr lvl="1"/>
                <a:r>
                  <a:rPr lang="ru-RU" i="1" dirty="0">
                    <a:solidFill>
                      <a:srgbClr val="89608E"/>
                    </a:solidFill>
                  </a:rPr>
                  <a:t>невырожденных</a:t>
                </a:r>
                <a:r>
                  <a:rPr lang="ru-RU" dirty="0"/>
                  <a:t> матриц (тех, у кого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ru-RU" dirty="0"/>
                  <a:t>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den>
                    </m:f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04DEED-C693-44DC-FB32-5725ADB98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0908890" cy="4955203"/>
              </a:xfrm>
              <a:blipFill>
                <a:blip r:embed="rId2"/>
                <a:stretch>
                  <a:fillRect l="-1788" t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2421EBB-DAA8-F799-6A32-555945FC69EF}"/>
              </a:ext>
            </a:extLst>
          </p:cNvPr>
          <p:cNvGrpSpPr/>
          <p:nvPr/>
        </p:nvGrpSpPr>
        <p:grpSpPr>
          <a:xfrm>
            <a:off x="6361471" y="4513006"/>
            <a:ext cx="4434348" cy="814066"/>
            <a:chOff x="6345683" y="4513006"/>
            <a:chExt cx="3010101" cy="8140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A9DC106D-6085-E8B0-CF5A-9160B37104DF}"/>
                    </a:ext>
                  </a:extLst>
                </p:cNvPr>
                <p:cNvSpPr/>
                <p:nvPr/>
              </p:nvSpPr>
              <p:spPr bwMode="auto">
                <a:xfrm>
                  <a:off x="6997963" y="4513006"/>
                  <a:ext cx="2357821" cy="814066"/>
                </a:xfrm>
                <a:prstGeom prst="roundRect">
                  <a:avLst/>
                </a:prstGeom>
                <a:noFill/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4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Матрица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,</a:t>
                  </a:r>
                  <a:r>
                    <a:rPr lang="ru-RU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союзная к матрице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745C97"/>
                          </a:solidFill>
                          <a:latin typeface="Cambria Math" panose="02040503050406030204" pitchFamily="18" charset="0"/>
                          <a:ea typeface="Human Sans ExtraLight" charset="0"/>
                          <a:cs typeface="Human Sans ExtraLight" charset="0"/>
                        </a:rPr>
                        <m:t>𝐴</m:t>
                      </m:r>
                    </m:oMath>
                  </a14:m>
                  <a:r>
                    <a:rPr lang="en-US" sz="2000" i="1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 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(</a:t>
                  </a:r>
                  <a:r>
                    <a:rPr lang="en-US" sz="2000" dirty="0">
                      <a:solidFill>
                        <a:srgbClr val="00B050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matrix of cofactors</a:t>
                  </a:r>
                  <a:r>
                    <a:rPr lang="en-US" sz="2000" dirty="0">
                      <a:solidFill>
                        <a:srgbClr val="745C97"/>
                      </a:solidFill>
                      <a:latin typeface="Calibri Light" panose="020F0302020204030204" pitchFamily="34" charset="0"/>
                      <a:ea typeface="Human Sans ExtraLight" charset="0"/>
                      <a:cs typeface="Human Sans ExtraLight" charset="0"/>
                    </a:rPr>
                    <a:t>) </a:t>
                  </a:r>
                </a:p>
              </p:txBody>
            </p:sp>
          </mc:Choice>
          <mc:Fallback xmlns=""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A9DC106D-6085-E8B0-CF5A-9160B37104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97963" y="4513006"/>
                  <a:ext cx="2357821" cy="814066"/>
                </a:xfrm>
                <a:prstGeom prst="roundRect">
                  <a:avLst/>
                </a:prstGeom>
                <a:blipFill>
                  <a:blip r:embed="rId3"/>
                  <a:stretch>
                    <a:fillRect l="-2273" r="-175" b="-5882"/>
                  </a:stretch>
                </a:blipFill>
                <a:ln w="9525" cap="flat" cmpd="sng" algn="ctr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F9D89CFF-49C6-27C6-C5C0-24B6F1C59D35}"/>
                </a:ext>
              </a:extLst>
            </p:cNvPr>
            <p:cNvCxnSpPr>
              <a:cxnSpLocks/>
              <a:stCxn id="4" idx="1"/>
            </p:cNvCxnSpPr>
            <p:nvPr/>
          </p:nvCxnSpPr>
          <p:spPr>
            <a:xfrm rot="10800000" flipV="1">
              <a:off x="6345683" y="4920039"/>
              <a:ext cx="652280" cy="281226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B2CEC8-D785-3D77-F1BD-2111F392D510}"/>
              </a:ext>
            </a:extLst>
          </p:cNvPr>
          <p:cNvGrpSpPr/>
          <p:nvPr/>
        </p:nvGrpSpPr>
        <p:grpSpPr>
          <a:xfrm>
            <a:off x="6361472" y="5327071"/>
            <a:ext cx="4576916" cy="986563"/>
            <a:chOff x="6248906" y="4340509"/>
            <a:chExt cx="3106878" cy="98656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AB4F060-AF77-E9A8-9A58-9006D1CC813B}"/>
                </a:ext>
              </a:extLst>
            </p:cNvPr>
            <p:cNvSpPr/>
            <p:nvPr/>
          </p:nvSpPr>
          <p:spPr bwMode="auto">
            <a:xfrm>
              <a:off x="6997963" y="4513006"/>
              <a:ext cx="2357821" cy="814066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ru-RU" sz="2000" dirty="0">
                  <a:solidFill>
                    <a:srgbClr val="745C97"/>
                  </a:solidFill>
                  <a:latin typeface="Calibri Light" panose="020F0302020204030204" pitchFamily="34" charset="0"/>
                  <a:ea typeface="Human Sans ExtraLight" charset="0"/>
                  <a:cs typeface="Human Sans ExtraLight" charset="0"/>
                </a:rPr>
                <a:t>Транспонированная матрица алгебраических дополнений</a:t>
              </a:r>
              <a:endParaRPr lang="en-US" sz="2000" dirty="0">
                <a:solidFill>
                  <a:srgbClr val="745C97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499A977F-88E4-F6D6-B900-2A8067F6AE2F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rot="10800000">
              <a:off x="6248906" y="4340509"/>
              <a:ext cx="749058" cy="579530"/>
            </a:xfrm>
            <a:prstGeom prst="curvedConnector3">
              <a:avLst>
                <a:gd name="adj1" fmla="val 50000"/>
              </a:avLst>
            </a:prstGeom>
            <a:ln w="63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522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07AD-76BA-1A2C-B295-2539467B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обратной матрицы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35314F-31E2-FA6C-6B3A-CC7D15C54E1A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732504" y="1540761"/>
                <a:ext cx="4704735" cy="301627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ru-RU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735314F-31E2-FA6C-6B3A-CC7D15C54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732504" y="1540761"/>
                <a:ext cx="4704735" cy="30162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67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5FBA-6BB3-D539-16E5-36D91493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Интересные обратные матрицы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DE97D7-46C4-602D-EF13-D4B361F93DDA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10486103" cy="3227102"/>
              </a:xfrm>
            </p:spPr>
            <p:txBody>
              <a:bodyPr/>
              <a:lstStyle/>
              <a:p>
                <a:r>
                  <a:rPr lang="ru-RU" dirty="0"/>
                  <a:t>Матрица поворота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Матрица отражения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DE97D7-46C4-602D-EF13-D4B361F93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199" y="1530928"/>
                <a:ext cx="10486103" cy="3227102"/>
              </a:xfrm>
              <a:blipFill>
                <a:blip r:embed="rId2"/>
                <a:stretch>
                  <a:fillRect l="-1860" t="-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2975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CE0732-91A1-2350-1B9C-9C49A729BE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Как найти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CE0732-91A1-2350-1B9C-9C49A729B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32" t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F87515-125A-01BD-232D-D7513A92517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606981" cy="4339971"/>
              </a:xfrm>
            </p:spPr>
            <p:txBody>
              <a:bodyPr/>
              <a:lstStyle/>
              <a:p>
                <a:r>
                  <a:rPr lang="ru-RU" dirty="0"/>
                  <a:t>Существует много методов…</a:t>
                </a:r>
              </a:p>
              <a:p>
                <a:r>
                  <a:rPr lang="ru-RU" dirty="0"/>
                  <a:t>Просто по формуле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den>
                    </m:f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Метод Гаусса </a:t>
                </a:r>
              </a:p>
              <a:p>
                <a:pPr lvl="1"/>
                <a:r>
                  <a:rPr lang="ru-RU" dirty="0"/>
                  <a:t>приписать к матрице справа единичную</a:t>
                </a:r>
              </a:p>
              <a:p>
                <a:pPr lvl="1"/>
                <a:r>
                  <a:rPr lang="ru-RU" dirty="0"/>
                  <a:t>элементарными преобразованиями получить слева единичную матрицу</a:t>
                </a:r>
              </a:p>
              <a:p>
                <a:pPr lvl="1"/>
                <a:r>
                  <a:rPr lang="ru-RU" dirty="0"/>
                  <a:t>тогда эти преобразования превратят приписанную матрицу в обратную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AF87515-125A-01BD-232D-D7513A9251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11606981" cy="4339971"/>
              </a:xfrm>
              <a:blipFill>
                <a:blip r:embed="rId3"/>
                <a:stretch>
                  <a:fillRect l="-1681" t="-1966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434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765E-D111-2F5C-9D2E-09AF7E58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11636477" cy="965200"/>
          </a:xfrm>
        </p:spPr>
        <p:txBody>
          <a:bodyPr/>
          <a:lstStyle/>
          <a:p>
            <a:r>
              <a:rPr lang="ru-RU" dirty="0"/>
              <a:t>Метод Гаусса нахождения обратной матрицы</a:t>
            </a:r>
            <a:br>
              <a:rPr lang="ru-RU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AF0606AF-C71B-3615-7529-0AF24FEA3BED}"/>
              </a:ext>
            </a:extLst>
          </p:cNvPr>
          <p:cNvSpPr/>
          <p:nvPr/>
        </p:nvSpPr>
        <p:spPr bwMode="auto">
          <a:xfrm rot="16200000" flipH="1">
            <a:off x="4808874" y="3874813"/>
            <a:ext cx="511348" cy="352090"/>
          </a:xfrm>
          <a:prstGeom prst="curvedUp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C87F9-CE1E-B052-841C-3126E5419584}"/>
                  </a:ext>
                </a:extLst>
              </p:cNvPr>
              <p:cNvSpPr txBox="1"/>
              <p:nvPr/>
            </p:nvSpPr>
            <p:spPr>
              <a:xfrm>
                <a:off x="5156620" y="3686655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×(−2)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C87F9-CE1E-B052-841C-3126E5419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620" y="3686655"/>
                <a:ext cx="831501" cy="369332"/>
              </a:xfrm>
              <a:prstGeom prst="rect">
                <a:avLst/>
              </a:prstGeom>
              <a:blipFill>
                <a:blip r:embed="rId3"/>
                <a:stretch>
                  <a:fillRect r="-95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A6B988C8-83A9-7029-2925-1EA690861BDA}"/>
              </a:ext>
            </a:extLst>
          </p:cNvPr>
          <p:cNvSpPr/>
          <p:nvPr/>
        </p:nvSpPr>
        <p:spPr bwMode="auto">
          <a:xfrm rot="16200000" flipH="1">
            <a:off x="4581949" y="4101741"/>
            <a:ext cx="965201" cy="352089"/>
          </a:xfrm>
          <a:prstGeom prst="curvedUpArrow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8B0738-F93B-AED2-F963-CC4379D23CFC}"/>
                  </a:ext>
                </a:extLst>
              </p:cNvPr>
              <p:cNvSpPr txBox="1"/>
              <p:nvPr/>
            </p:nvSpPr>
            <p:spPr>
              <a:xfrm>
                <a:off x="5010183" y="4293664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en-US" sz="1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8B0738-F93B-AED2-F963-CC4379D23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83" y="4293664"/>
                <a:ext cx="8315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27DFFAD5-CB8D-1AF9-6607-A040FA84AB2B}"/>
              </a:ext>
            </a:extLst>
          </p:cNvPr>
          <p:cNvSpPr/>
          <p:nvPr/>
        </p:nvSpPr>
        <p:spPr bwMode="auto">
          <a:xfrm>
            <a:off x="6094476" y="4048661"/>
            <a:ext cx="831501" cy="278252"/>
          </a:xfrm>
          <a:prstGeom prst="striped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/>
              <p:nvPr/>
            </p:nvSpPr>
            <p:spPr>
              <a:xfrm>
                <a:off x="6203881" y="3538031"/>
                <a:ext cx="6096000" cy="1479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881" y="3538031"/>
                <a:ext cx="6096000" cy="14795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86048B1-EB91-3BC1-C951-C750020CAC7E}"/>
              </a:ext>
            </a:extLst>
          </p:cNvPr>
          <p:cNvSpPr txBox="1"/>
          <p:nvPr/>
        </p:nvSpPr>
        <p:spPr>
          <a:xfrm>
            <a:off x="7767483" y="1892673"/>
            <a:ext cx="256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Calibri" panose="020F0502020204030204" pitchFamily="34" charset="0"/>
              </a:rPr>
              <a:t>прямой ход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593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765E-D111-2F5C-9D2E-09AF7E58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Гаусса нахождения обратной матрицы</a:t>
            </a:r>
            <a:br>
              <a:rPr lang="ru-RU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  <a:blipFill>
                <a:blip r:embed="rId2"/>
                <a:stretch>
                  <a:fillRect r="-3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C87F9-CE1E-B052-841C-3126E5419584}"/>
                  </a:ext>
                </a:extLst>
              </p:cNvPr>
              <p:cNvSpPr txBox="1"/>
              <p:nvPr/>
            </p:nvSpPr>
            <p:spPr>
              <a:xfrm>
                <a:off x="5156619" y="4048661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×(−1)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C87F9-CE1E-B052-841C-3126E5419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619" y="4048661"/>
                <a:ext cx="831501" cy="369332"/>
              </a:xfrm>
              <a:prstGeom prst="rect">
                <a:avLst/>
              </a:prstGeom>
              <a:blipFill>
                <a:blip r:embed="rId3"/>
                <a:stretch>
                  <a:fillRect r="-955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27DFFAD5-CB8D-1AF9-6607-A040FA84AB2B}"/>
              </a:ext>
            </a:extLst>
          </p:cNvPr>
          <p:cNvSpPr/>
          <p:nvPr/>
        </p:nvSpPr>
        <p:spPr bwMode="auto">
          <a:xfrm>
            <a:off x="6094476" y="4048661"/>
            <a:ext cx="831501" cy="278252"/>
          </a:xfrm>
          <a:prstGeom prst="striped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/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56B6F4-0FB3-3654-C5F9-A6980FC2FA98}"/>
              </a:ext>
            </a:extLst>
          </p:cNvPr>
          <p:cNvSpPr txBox="1"/>
          <p:nvPr/>
        </p:nvSpPr>
        <p:spPr>
          <a:xfrm>
            <a:off x="7767483" y="1892673"/>
            <a:ext cx="256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Calibri" panose="020F0502020204030204" pitchFamily="34" charset="0"/>
              </a:rPr>
              <a:t>прямой ход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88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765E-D111-2F5C-9D2E-09AF7E58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11459497" cy="965200"/>
          </a:xfrm>
        </p:spPr>
        <p:txBody>
          <a:bodyPr/>
          <a:lstStyle/>
          <a:p>
            <a:r>
              <a:rPr lang="ru-RU" dirty="0"/>
              <a:t>Метод Гаусса нахождения обратной матрицы</a:t>
            </a:r>
            <a:br>
              <a:rPr lang="ru-RU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27DFFAD5-CB8D-1AF9-6607-A040FA84AB2B}"/>
              </a:ext>
            </a:extLst>
          </p:cNvPr>
          <p:cNvSpPr/>
          <p:nvPr/>
        </p:nvSpPr>
        <p:spPr bwMode="auto">
          <a:xfrm>
            <a:off x="6094476" y="4048661"/>
            <a:ext cx="831501" cy="278252"/>
          </a:xfrm>
          <a:prstGeom prst="striped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/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sz="2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7080E47F-988E-5DA1-1F04-F6F8D5FB4EB3}"/>
              </a:ext>
            </a:extLst>
          </p:cNvPr>
          <p:cNvSpPr/>
          <p:nvPr/>
        </p:nvSpPr>
        <p:spPr bwMode="auto">
          <a:xfrm rot="16200000" flipH="1">
            <a:off x="4651557" y="4236819"/>
            <a:ext cx="511348" cy="352090"/>
          </a:xfrm>
          <a:prstGeom prst="curvedUp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582A9B-618D-737D-0D5A-24EFD51E074B}"/>
                  </a:ext>
                </a:extLst>
              </p:cNvPr>
              <p:cNvSpPr txBox="1"/>
              <p:nvPr/>
            </p:nvSpPr>
            <p:spPr>
              <a:xfrm>
                <a:off x="5083276" y="4228197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×(−1)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582A9B-618D-737D-0D5A-24EFD51E0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276" y="4228197"/>
                <a:ext cx="831501" cy="369332"/>
              </a:xfrm>
              <a:prstGeom prst="rect">
                <a:avLst/>
              </a:prstGeom>
              <a:blipFill>
                <a:blip r:embed="rId4"/>
                <a:stretch>
                  <a:fillRect r="-95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0182174-0B7B-E636-7A6A-2CA009FEA45B}"/>
              </a:ext>
            </a:extLst>
          </p:cNvPr>
          <p:cNvSpPr txBox="1"/>
          <p:nvPr/>
        </p:nvSpPr>
        <p:spPr>
          <a:xfrm>
            <a:off x="7767483" y="1892673"/>
            <a:ext cx="2566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Calibri" panose="020F0502020204030204" pitchFamily="34" charset="0"/>
              </a:rPr>
              <a:t>прямой ход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75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0765E-D111-2F5C-9D2E-09AF7E58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733276" cy="965200"/>
          </a:xfrm>
        </p:spPr>
        <p:txBody>
          <a:bodyPr/>
          <a:lstStyle/>
          <a:p>
            <a:r>
              <a:rPr lang="ru-RU" dirty="0"/>
              <a:t>Метод Гаусса нахождения обратной матрицы</a:t>
            </a:r>
            <a:br>
              <a:rPr lang="ru-RU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D159014-C751-B4D0-F9FA-65FA0DAA7F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6"/>
              </p:nvPr>
            </p:nvSpPr>
            <p:spPr>
              <a:xfrm>
                <a:off x="457200" y="1530928"/>
                <a:ext cx="4552983" cy="34040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27DFFAD5-CB8D-1AF9-6607-A040FA84AB2B}"/>
              </a:ext>
            </a:extLst>
          </p:cNvPr>
          <p:cNvSpPr/>
          <p:nvPr/>
        </p:nvSpPr>
        <p:spPr bwMode="auto">
          <a:xfrm>
            <a:off x="6094476" y="4048661"/>
            <a:ext cx="831501" cy="278252"/>
          </a:xfrm>
          <a:prstGeom prst="stripedRightArrow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/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ru-RU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0" lang="ru-RU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7030A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7030A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0" lang="en-US" sz="2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7030A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  <m:e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kumimoji="0" lang="ru-RU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7030A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8242D7-C285-D83C-9C23-2423D739B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76" y="3493573"/>
                <a:ext cx="6096000" cy="14795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582A9B-618D-737D-0D5A-24EFD51E074B}"/>
                  </a:ext>
                </a:extLst>
              </p:cNvPr>
              <p:cNvSpPr txBox="1"/>
              <p:nvPr/>
            </p:nvSpPr>
            <p:spPr>
              <a:xfrm>
                <a:off x="5212040" y="4244288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×(−</m:t>
                      </m:r>
                      <m:r>
                        <a:rPr lang="ru-RU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582A9B-618D-737D-0D5A-24EFD51E0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40" y="4244288"/>
                <a:ext cx="831501" cy="369332"/>
              </a:xfrm>
              <a:prstGeom prst="rect">
                <a:avLst/>
              </a:prstGeom>
              <a:blipFill>
                <a:blip r:embed="rId4"/>
                <a:stretch>
                  <a:fillRect r="-9559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85CB8CD-CB5F-77CB-705F-2A80306D4104}"/>
              </a:ext>
            </a:extLst>
          </p:cNvPr>
          <p:cNvSpPr txBox="1"/>
          <p:nvPr/>
        </p:nvSpPr>
        <p:spPr>
          <a:xfrm>
            <a:off x="7767483" y="1892673"/>
            <a:ext cx="3057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Calibri" panose="020F0502020204030204" pitchFamily="34" charset="0"/>
                <a:cs typeface="Calibri" panose="020F0502020204030204" pitchFamily="34" charset="0"/>
              </a:rPr>
              <a:t>обратный ход</a:t>
            </a:r>
            <a:endParaRPr lang="en-US" dirty="0"/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EBB177F6-2084-0FF6-2B9C-91BA83E31EF4}"/>
              </a:ext>
            </a:extLst>
          </p:cNvPr>
          <p:cNvSpPr/>
          <p:nvPr/>
        </p:nvSpPr>
        <p:spPr bwMode="auto">
          <a:xfrm rot="5400000" flipH="1" flipV="1">
            <a:off x="4608726" y="4000037"/>
            <a:ext cx="965201" cy="375499"/>
          </a:xfrm>
          <a:prstGeom prst="curvedUpArrow">
            <a:avLst/>
          </a:prstGeom>
          <a:solidFill>
            <a:srgbClr val="00B0F0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5DECD5-96AF-89DB-3CF5-9ED793B59F69}"/>
                  </a:ext>
                </a:extLst>
              </p:cNvPr>
              <p:cNvSpPr txBox="1"/>
              <p:nvPr/>
            </p:nvSpPr>
            <p:spPr>
              <a:xfrm>
                <a:off x="5222799" y="3679329"/>
                <a:ext cx="8315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ru-RU" sz="1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(−3)</m:t>
                      </m:r>
                    </m:oMath>
                  </m:oMathPara>
                </a14:m>
                <a:endParaRPr lang="en-US" sz="1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5DECD5-96AF-89DB-3CF5-9ED793B59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799" y="3679329"/>
                <a:ext cx="831501" cy="369332"/>
              </a:xfrm>
              <a:prstGeom prst="rect">
                <a:avLst/>
              </a:prstGeom>
              <a:blipFill>
                <a:blip r:embed="rId5"/>
                <a:stretch>
                  <a:fillRect r="-95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7080E47F-988E-5DA1-1F04-F6F8D5FB4EB3}"/>
              </a:ext>
            </a:extLst>
          </p:cNvPr>
          <p:cNvSpPr/>
          <p:nvPr/>
        </p:nvSpPr>
        <p:spPr bwMode="auto">
          <a:xfrm rot="5400000" flipH="1" flipV="1">
            <a:off x="4827602" y="4256310"/>
            <a:ext cx="511348" cy="289729"/>
          </a:xfrm>
          <a:prstGeom prst="curvedUpArrow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4B66F0-8980-DF4E-747E-4E5E088CA801}"/>
              </a:ext>
            </a:extLst>
          </p:cNvPr>
          <p:cNvGrpSpPr/>
          <p:nvPr/>
        </p:nvGrpSpPr>
        <p:grpSpPr>
          <a:xfrm>
            <a:off x="8937523" y="3493573"/>
            <a:ext cx="2133600" cy="2199304"/>
            <a:chOff x="8937523" y="3493573"/>
            <a:chExt cx="2133600" cy="219930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AB70749-8397-011E-A05F-3599FC0390D7}"/>
                </a:ext>
              </a:extLst>
            </p:cNvPr>
            <p:cNvSpPr/>
            <p:nvPr/>
          </p:nvSpPr>
          <p:spPr bwMode="auto">
            <a:xfrm>
              <a:off x="8937523" y="3493573"/>
              <a:ext cx="2133600" cy="2199304"/>
            </a:xfrm>
            <a:prstGeom prst="round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DA75CB6-7287-3CE8-B8DA-09B80AC0CA3D}"/>
                    </a:ext>
                  </a:extLst>
                </p:cNvPr>
                <p:cNvSpPr txBox="1"/>
                <p:nvPr/>
              </p:nvSpPr>
              <p:spPr>
                <a:xfrm>
                  <a:off x="9476600" y="5071369"/>
                  <a:ext cx="105544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DA75CB6-7287-3CE8-B8DA-09B80AC0C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6600" y="5071369"/>
                  <a:ext cx="105544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5667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E13583499748489E6E697426926B1B" ma:contentTypeVersion="7" ma:contentTypeDescription="Create a new document." ma:contentTypeScope="" ma:versionID="4698d029c720b22d9d5a5a82c4abea41">
  <xsd:schema xmlns:xsd="http://www.w3.org/2001/XMLSchema" xmlns:xs="http://www.w3.org/2001/XMLSchema" xmlns:p="http://schemas.microsoft.com/office/2006/metadata/properties" xmlns:ns2="f8d8e8b1-85bd-4cc8-ac20-30bdad921333" targetNamespace="http://schemas.microsoft.com/office/2006/metadata/properties" ma:root="true" ma:fieldsID="ef231db1fc3b01c159e64322650a0347" ns2:_="">
    <xsd:import namespace="f8d8e8b1-85bd-4cc8-ac20-30bdad921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d8e8b1-85bd-4cc8-ac20-30bdad921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C554BB-8BD9-4C77-AB4E-B6FB9DC29C66}"/>
</file>

<file path=customXml/itemProps3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cd2bce81-b418-4cd8-9935-4e402d3140b0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5c9ed8-4a47-4862-b7c0-361fb59caa7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</TotalTime>
  <Words>521</Words>
  <Application>Microsoft Office PowerPoint</Application>
  <PresentationFormat>Widescreen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1_EPAM Master 2021.3</vt:lpstr>
      <vt:lpstr>Rank and inverse of a matrix </vt:lpstr>
      <vt:lpstr>Линейно независимые векторы</vt:lpstr>
      <vt:lpstr>Вектор как линейная комбинация других векторов</vt:lpstr>
      <vt:lpstr>Базис</vt:lpstr>
      <vt:lpstr>Как считать ранг?</vt:lpstr>
      <vt:lpstr>Примеры</vt:lpstr>
      <vt:lpstr>Обратная матрица</vt:lpstr>
      <vt:lpstr>Свойства обратной матрицы</vt:lpstr>
      <vt:lpstr>Интересные обратные матрицы</vt:lpstr>
      <vt:lpstr>Как найти A^(-1)?</vt:lpstr>
      <vt:lpstr>Метод Гаусса нахождения обратной матрицы </vt:lpstr>
      <vt:lpstr>Метод Гаусса нахождения обратной матрицы </vt:lpstr>
      <vt:lpstr>Метод Гаусса нахождения обратной матрицы </vt:lpstr>
      <vt:lpstr>Метод Гаусса нахождения обратной матрицы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Alexey Gurevski</cp:lastModifiedBy>
  <cp:revision>132</cp:revision>
  <dcterms:created xsi:type="dcterms:W3CDTF">2020-10-27T12:12:11Z</dcterms:created>
  <dcterms:modified xsi:type="dcterms:W3CDTF">2024-10-08T17:21:28Z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0x0101002CE13583499748489E6E697426926B1B</vt:lpwstr>
  </property>
  <property fmtid="{D5CDD505-2E9C-101B-9397-08002B2CF9AE}" pid="3" name="MediaServiceImageTags">
    <vt:lpwstr/>
  </property>
</Properties>
</file>