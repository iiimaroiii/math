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theme" Target="theme/theme2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ustomXml" Target="../customXml/item6.xml"/><Relationship Id="rId2" Type="http://schemas.openxmlformats.org/officeDocument/2006/relationships/theme" Target="theme/theme1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ustomXml" Target="../customXml/item5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ustomXml" Target="../customXml/item4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35941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790276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26DA449-81D0-4C65-80FA-E84926361CC3}" type="datetimeFigureOut">
              <a:rPr lang="en-US"/>
              <a:t>10/4/2024</a:t>
            </a:fld>
            <a:endParaRPr lang="en-US"/>
          </a:p>
        </p:txBody>
      </p:sp>
      <p:sp>
        <p:nvSpPr>
          <p:cNvPr id="32052323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9088973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422878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913259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BA5C3A5-A464-4897-B884-BB9B35180A5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96D5D5-2081-CB00-8CD7-8DA0A41DA2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B2A7B-44B2-1E6E-1171-F4EB0D9AAE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3DEAD3-CAC1-7B43-E02E-5C3ED0E2F1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0FA4B-297F-154A-A2D3-1B522ECB1D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6A6BF-A442-CA4E-285C-44C72FDD98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E1EB7-6802-72D6-FC42-5EDAAF0721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392322-B7ED-3130-04B9-EE5AABC04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67F2E5-3292-7CC8-ED08-6C1DE2AC43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E79ED-B80C-CC5E-3B8A-21AA84101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C12A47-5572-41E0-5057-1AAC00FFB7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FAC421-E0AC-159C-E319-F527504E4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4C5E17-78C9-C8E4-BE13-A5177291B9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0B96CB-DDD2-C7F9-1F0F-BA2DFC283F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21E947-88F0-76C7-AAEE-83E84481B7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45303-1F0A-6764-25BE-DD2A6CCAE7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ver-Blac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903629" name="Rectangle 8"/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accent5">
                <a:lumMod val="50000"/>
              </a:schemeClr>
            </a:solidFill>
          </a:ln>
          <a:effectLst/>
        </p:spPr>
        <p:txBody>
          <a:bodyPr wrap="none" rtlCol="0" anchor="ctr"/>
          <a:lstStyle/>
          <a:p>
            <a:pPr algn="ctr">
              <a:defRPr/>
            </a:pPr>
            <a:endParaRPr lang="en-US" sz="2400">
              <a:solidFill>
                <a:schemeClr val="bg1"/>
              </a:solidFill>
              <a:latin typeface="Calibri Light"/>
              <a:ea typeface="Human Sans ExtraLight"/>
              <a:cs typeface="Human Sans ExtraLight"/>
            </a:endParaRPr>
          </a:p>
        </p:txBody>
      </p:sp>
      <p:sp>
        <p:nvSpPr>
          <p:cNvPr id="604850508" name="Text Placehold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372213" y="4479572"/>
            <a:ext cx="1447573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/>
                <a:cs typeface="Calibri Light"/>
              </a:defRPr>
            </a:lvl1pPr>
            <a:lvl2pPr>
              <a:buNone/>
              <a:defRPr/>
            </a:lvl2pPr>
          </a:lstStyle>
          <a:p>
            <a:pPr lvl="0">
              <a:defRPr/>
            </a:pPr>
            <a:r>
              <a:rPr lang="en-US"/>
              <a:t>Kiril Kuzmin</a:t>
            </a:r>
            <a:endParaRPr lang="en-US"/>
          </a:p>
        </p:txBody>
      </p:sp>
      <p:sp>
        <p:nvSpPr>
          <p:cNvPr id="1546296179" name="Text Placehold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133882" y="5228068"/>
            <a:ext cx="206458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>
              <a:defRPr/>
            </a:pPr>
            <a:r>
              <a:rPr lang="en-US"/>
              <a:t>October 4, 2022</a:t>
            </a:r>
            <a:endParaRPr lang="en-US"/>
          </a:p>
        </p:txBody>
      </p:sp>
      <p:sp>
        <p:nvSpPr>
          <p:cNvPr id="1671606086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3517977" y="2564930"/>
            <a:ext cx="5509290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/>
              <a:defRPr/>
            </a:pPr>
            <a:r>
              <a:rPr lang="en-US"/>
              <a:t>Presentation title</a:t>
            </a:r>
            <a:endParaRPr/>
          </a:p>
        </p:txBody>
      </p:sp>
      <p:pic>
        <p:nvPicPr>
          <p:cNvPr id="1672475224" name="Рисунок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10727" y="261914"/>
            <a:ext cx="3059722" cy="846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3-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338151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4552" cy="965200"/>
          </a:xfrm>
        </p:spPr>
        <p:txBody>
          <a:bodyPr/>
          <a:lstStyle>
            <a:lvl1pPr>
              <a:defRPr b="0">
                <a:solidFill>
                  <a:srgbClr val="00206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40663790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57200" y="1530928"/>
            <a:ext cx="4151745" cy="3349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200" indent="-457200">
              <a:buFont typeface="Wingdings"/>
              <a:buChar char="q"/>
              <a:defRPr sz="2800" b="0">
                <a:latin typeface="+mn-lt"/>
                <a:cs typeface="Calibri Light"/>
              </a:defRPr>
            </a:lvl1pPr>
            <a:lvl2pPr marL="685800" indent="-228600">
              <a:buFont typeface="Wingdings"/>
              <a:buChar char="Ø"/>
              <a:defRPr sz="2400"/>
            </a:lvl2pPr>
            <a:lvl3pPr marL="1143000" indent="-228600">
              <a:buFont typeface="Wingdings"/>
              <a:buChar char="§"/>
              <a:defRPr sz="2000"/>
            </a:lvl3pPr>
          </a:lstStyle>
          <a:p>
            <a:pPr lvl="0">
              <a:defRPr/>
            </a:pPr>
            <a:r>
              <a:rPr lang="en-US"/>
              <a:t>Main text</a:t>
            </a:r>
            <a:endParaRPr/>
          </a:p>
          <a:p>
            <a:pPr lvl="1">
              <a:defRPr/>
            </a:pPr>
            <a:r>
              <a:rPr lang="en-US"/>
              <a:t>bullet 1</a:t>
            </a:r>
            <a:endParaRPr/>
          </a:p>
          <a:p>
            <a:pPr lvl="1">
              <a:defRPr/>
            </a:pPr>
            <a:r>
              <a:rPr lang="en-US"/>
              <a:t>bullet 2</a:t>
            </a:r>
            <a:endParaRPr/>
          </a:p>
          <a:p>
            <a:pPr lvl="2">
              <a:defRPr/>
            </a:pPr>
            <a:r>
              <a:rPr lang="en-US"/>
              <a:t>sub-bullet</a:t>
            </a:r>
            <a:endParaRPr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0"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media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97226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557903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1" y="1208811"/>
            <a:ext cx="10672618" cy="42406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222222"/>
                </a:solidFill>
                <a:latin typeface="Calibri"/>
                <a:cs typeface="Calibri"/>
              </a:rPr>
              <a:t>It’s the main text</a:t>
            </a:r>
            <a:endParaRPr/>
          </a:p>
          <a:p>
            <a:pPr marL="182880" marR="0" lvl="1" indent="-182880" algn="l" defTabSz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/>
              <a:buChar char="•"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222222"/>
                </a:solidFill>
                <a:latin typeface="Calibri"/>
                <a:cs typeface="Calibri"/>
              </a:rPr>
              <a:t>Second level</a:t>
            </a:r>
            <a:endParaRPr/>
          </a:p>
          <a:p>
            <a:pPr marL="365760" marR="0" lvl="2" indent="-182880" algn="l" defTabSz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/>
              <a:buChar char="→"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222222"/>
                </a:solidFill>
                <a:latin typeface="Calibri"/>
                <a:cs typeface="Calibri"/>
              </a:rPr>
              <a:t>Third level</a:t>
            </a:r>
            <a:endParaRPr lang="en-US"/>
          </a:p>
        </p:txBody>
      </p:sp>
      <p:grpSp>
        <p:nvGrpSpPr>
          <p:cNvPr id="671606872" name="Group 2"/>
          <p:cNvGrpSpPr/>
          <p:nvPr userDrawn="1"/>
        </p:nvGrpSpPr>
        <p:grpSpPr bwMode="auto">
          <a:xfrm>
            <a:off x="375920" y="5990240"/>
            <a:ext cx="1532080" cy="756000"/>
            <a:chOff x="375920" y="5990240"/>
            <a:chExt cx="1532080" cy="756000"/>
          </a:xfrm>
        </p:grpSpPr>
        <p:sp>
          <p:nvSpPr>
            <p:cNvPr id="4" name="Rectangle 3"/>
            <p:cNvSpPr/>
            <p:nvPr/>
          </p:nvSpPr>
          <p:spPr bwMode="auto">
            <a:xfrm>
              <a:off x="375920" y="6421120"/>
              <a:ext cx="721360" cy="225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>
                <a:defRPr/>
              </a:pPr>
              <a:endParaRPr sz="2400">
                <a:solidFill>
                  <a:schemeClr val="bg1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  <p:pic>
          <p:nvPicPr>
            <p:cNvPr id="5" name="Graphic 4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-378" t="18514" r="-378" b="28589"/>
            <a:stretch/>
          </p:blipFill>
          <p:spPr bwMode="auto">
            <a:xfrm>
              <a:off x="468000" y="5990240"/>
              <a:ext cx="1440000" cy="75600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1" hdr="0" sldNum="1"/>
  <p:txStyles>
    <p:titleStyle>
      <a:lvl1pPr algn="l" defTabSz="914400" rtl="0">
        <a:lnSpc>
          <a:spcPct val="100000"/>
        </a:lnSpc>
        <a:spcBef>
          <a:spcPts val="0"/>
        </a:spcBef>
        <a:buNone/>
        <a:defRPr sz="3600" b="0" i="0">
          <a:solidFill>
            <a:schemeClr val="tx1"/>
          </a:solidFill>
          <a:latin typeface="+mj-lt"/>
          <a:ea typeface="Calibri"/>
          <a:cs typeface="Calibri"/>
        </a:defRPr>
      </a:lvl1pPr>
    </p:titleStyle>
    <p:bodyStyle>
      <a:lvl1pPr marL="0" indent="0" algn="l" defTabSz="914400" rtl="0">
        <a:lnSpc>
          <a:spcPct val="110000"/>
        </a:lnSpc>
        <a:spcBef>
          <a:spcPts val="600"/>
        </a:spcBef>
        <a:spcAft>
          <a:spcPts val="0"/>
        </a:spcAft>
        <a:buFont typeface="Arial"/>
        <a:buNone/>
        <a:defRPr sz="1600" b="0" i="0">
          <a:solidFill>
            <a:schemeClr val="tx1"/>
          </a:solidFill>
          <a:latin typeface="+mn-lt"/>
          <a:ea typeface="Calibri"/>
          <a:cs typeface="Calibri"/>
        </a:defRPr>
      </a:lvl1pPr>
      <a:lvl2pPr marL="685800" indent="-228600" algn="l" defTabSz="914400" rtl="0">
        <a:lnSpc>
          <a:spcPct val="110000"/>
        </a:lnSpc>
        <a:spcBef>
          <a:spcPts val="600"/>
        </a:spcBef>
        <a:spcAft>
          <a:spcPts val="0"/>
        </a:spcAft>
        <a:buFont typeface="Arial"/>
        <a:buChar char="•"/>
        <a:defRPr sz="1600" b="0" i="0">
          <a:solidFill>
            <a:schemeClr val="tx1"/>
          </a:solidFill>
          <a:latin typeface="+mn-lt"/>
          <a:ea typeface="Calibri"/>
          <a:cs typeface="Calibri"/>
        </a:defRPr>
      </a:lvl2pPr>
      <a:lvl3pPr marL="1143000" indent="-228600" algn="l" defTabSz="914400" rtl="0">
        <a:lnSpc>
          <a:spcPct val="110000"/>
        </a:lnSpc>
        <a:spcBef>
          <a:spcPts val="600"/>
        </a:spcBef>
        <a:spcAft>
          <a:spcPts val="0"/>
        </a:spcAft>
        <a:buFont typeface="Arial"/>
        <a:buChar char="•"/>
        <a:defRPr sz="1400" b="0" i="0">
          <a:solidFill>
            <a:schemeClr val="tx1"/>
          </a:solidFill>
          <a:latin typeface="+mn-lt"/>
          <a:ea typeface="Calibri"/>
          <a:cs typeface="Calibri"/>
        </a:defRPr>
      </a:lvl3pPr>
      <a:lvl4pPr marL="1600200" indent="-228600" algn="l" defTabSz="914400" rtl="0">
        <a:lnSpc>
          <a:spcPct val="110000"/>
        </a:lnSpc>
        <a:spcBef>
          <a:spcPts val="600"/>
        </a:spcBef>
        <a:spcAft>
          <a:spcPts val="0"/>
        </a:spcAft>
        <a:buFont typeface="Arial"/>
        <a:buChar char="•"/>
        <a:defRPr sz="1200" b="0" i="0">
          <a:solidFill>
            <a:schemeClr val="tx1"/>
          </a:solidFill>
          <a:latin typeface="+mn-lt"/>
          <a:ea typeface="Calibri"/>
          <a:cs typeface="Calibri"/>
        </a:defRPr>
      </a:lvl4pPr>
      <a:lvl5pPr marL="2057400" indent="-228600" algn="l" defTabSz="914400" rtl="0">
        <a:lnSpc>
          <a:spcPct val="110000"/>
        </a:lnSpc>
        <a:spcBef>
          <a:spcPts val="600"/>
        </a:spcBef>
        <a:spcAft>
          <a:spcPts val="0"/>
        </a:spcAft>
        <a:buFont typeface="Arial"/>
        <a:buChar char="•"/>
        <a:defRPr sz="1200" b="0" i="0">
          <a:solidFill>
            <a:schemeClr val="tx1"/>
          </a:solidFill>
          <a:latin typeface="+mn-lt"/>
          <a:ea typeface="Calibri"/>
          <a:cs typeface="Calibri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hyperlink" Target="https://www.youtube.com/playlist?app=desktop&amp;list=PLZHQObOWTQDPD3MizzM2xVFitgF8hE_ab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569301" name="Title 3"/>
          <p:cNvSpPr>
            <a:spLocks noGrp="1"/>
          </p:cNvSpPr>
          <p:nvPr>
            <p:ph type="title"/>
          </p:nvPr>
        </p:nvSpPr>
        <p:spPr bwMode="auto">
          <a:xfrm>
            <a:off x="3028335" y="2804029"/>
            <a:ext cx="6135330" cy="1477328"/>
          </a:xfrm>
        </p:spPr>
        <p:txBody>
          <a:bodyPr/>
          <a:lstStyle/>
          <a:p>
            <a:pPr>
              <a:defRPr/>
            </a:pPr>
            <a:r>
              <a:rPr lang="en-US" sz="4800"/>
              <a:t>Determinant properties</a:t>
            </a:r>
            <a:br>
              <a:rPr lang="ru-RU" sz="4800"/>
            </a:br>
            <a:r>
              <a:rPr lang="en-US" sz="4800"/>
              <a:t>Rank of a matrix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88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Повторение</a:t>
            </a:r>
            <a:r>
              <a:rPr lang="en-US"/>
              <a:t>:</a:t>
            </a:r>
            <a:r>
              <a:rPr lang="ru-RU"/>
              <a:t> матрицы как операторы</a:t>
            </a:r>
            <a:endParaRPr lang="en-US"/>
          </a:p>
        </p:txBody>
      </p:sp>
      <p:pic>
        <p:nvPicPr>
          <p:cNvPr id="187958459" name="Picture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79549" y="3032314"/>
            <a:ext cx="7305752" cy="790400"/>
          </a:xfrm>
          <a:prstGeom prst="rect">
            <a:avLst/>
          </a:prstGeom>
        </p:spPr>
      </p:pic>
      <p:grpSp>
        <p:nvGrpSpPr>
          <p:cNvPr id="2133652449" name="Group 19"/>
          <p:cNvGrpSpPr/>
          <p:nvPr/>
        </p:nvGrpSpPr>
        <p:grpSpPr bwMode="auto">
          <a:xfrm>
            <a:off x="1678713" y="1406790"/>
            <a:ext cx="2008384" cy="2415924"/>
            <a:chOff x="1747539" y="1313681"/>
            <a:chExt cx="2008384" cy="2415924"/>
          </a:xfrm>
        </p:grpSpPr>
        <p:sp>
          <p:nvSpPr>
            <p:cNvPr id="9" name="Rectangle: Rounded Corners 8"/>
            <p:cNvSpPr/>
            <p:nvPr/>
          </p:nvSpPr>
          <p:spPr bwMode="auto">
            <a:xfrm>
              <a:off x="1747539" y="1313681"/>
              <a:ext cx="2008384" cy="790399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4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r>
                <a:rPr lang="ru-RU" sz="2000">
                  <a:solidFill>
                    <a:srgbClr val="745C97"/>
                  </a:solidFill>
                  <a:latin typeface="Calibri Light"/>
                  <a:ea typeface="Human Sans ExtraLight"/>
                  <a:cs typeface="Human Sans ExtraLight"/>
                </a:rPr>
                <a:t>Вектор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ru-RU" sz="2000" i="1">
                                <a:solidFill>
                                  <a:srgbClr val="745C9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cGp/>
                                <m:cGpRule/>
                                <m:cSp/>
                                <m:mcs>
                                  <m:mc>
                                    <m:mcPr>
                                      <m:mcJc m:val="center"/>
                                      <m:count m:val="1"/>
                                    </m:mcPr>
                                  </m:mc>
                                </m:mcs>
                                <m:plcHide m:val="off"/>
                                <m:rSp/>
                                <m:rSpRule/>
                                <m:ctrlPr>
                                  <a:rPr lang="ru-RU" sz="2000" i="1">
                                    <a:solidFill>
                                      <a:srgbClr val="745C9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ru-RU" sz="2000" b="0" i="1">
                                      <a:solidFill>
                                        <a:srgbClr val="745C97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/>
                                    <a:rPr lang="ru-RU" sz="2000" b="0" i="1">
                                      <a:solidFill>
                                        <a:srgbClr val="745C97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mc:Choice>
                <mc:Fallback/>
              </mc:AlternateContent>
              <a:r>
                <a:rPr lang="ru-RU" sz="2000">
                  <a:solidFill>
                    <a:srgbClr val="745C97"/>
                  </a:solidFill>
                  <a:latin typeface="Calibri Light"/>
                  <a:ea typeface="Human Sans ExtraLight"/>
                  <a:cs typeface="Human Sans ExtraLight"/>
                </a:rPr>
                <a:t> преобразуется в </a:t>
              </a:r>
              <a:endParaRPr lang="en-US" sz="2000">
                <a:solidFill>
                  <a:srgbClr val="745C97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  <p:cxnSp>
          <p:nvCxnSpPr>
            <p:cNvPr id="10" name="Connector: Curved 9"/>
            <p:cNvCxnSpPr>
              <a:stCxn id="9" idx="2"/>
            </p:cNvCxnSpPr>
            <p:nvPr/>
          </p:nvCxnSpPr>
          <p:spPr bwMode="auto">
            <a:xfrm rot="16199999" flipH="1">
              <a:off x="2584696" y="2271114"/>
              <a:ext cx="856481" cy="522411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/>
            <p:cNvSpPr/>
            <p:nvPr/>
          </p:nvSpPr>
          <p:spPr bwMode="auto">
            <a:xfrm rot="5400000">
              <a:off x="2905438" y="3137108"/>
              <a:ext cx="790400" cy="394592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4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endParaRPr lang="en-US" sz="2000">
                <a:solidFill>
                  <a:srgbClr val="745C97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</p:grpSp>
      <p:grpSp>
        <p:nvGrpSpPr>
          <p:cNvPr id="987826803" name="Group 27"/>
          <p:cNvGrpSpPr/>
          <p:nvPr/>
        </p:nvGrpSpPr>
        <p:grpSpPr bwMode="auto">
          <a:xfrm>
            <a:off x="3531735" y="1406790"/>
            <a:ext cx="2602512" cy="2415924"/>
            <a:chOff x="3600561" y="1313681"/>
            <a:chExt cx="2602512" cy="2415924"/>
          </a:xfrm>
        </p:grpSpPr>
        <p:sp>
          <p:nvSpPr>
            <p:cNvPr id="22" name="Rectangle: Rounded Corners 21"/>
            <p:cNvSpPr/>
            <p:nvPr/>
          </p:nvSpPr>
          <p:spPr bwMode="auto">
            <a:xfrm>
              <a:off x="4194689" y="1313681"/>
              <a:ext cx="2008384" cy="790399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4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r>
                <a:rPr lang="ru-RU" sz="2000">
                  <a:solidFill>
                    <a:srgbClr val="745C97"/>
                  </a:solidFill>
                  <a:latin typeface="Calibri Light"/>
                  <a:ea typeface="Human Sans ExtraLight"/>
                  <a:cs typeface="Human Sans ExtraLight"/>
                </a:rPr>
                <a:t>Вектор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ru-RU" sz="2000" i="1">
                                <a:solidFill>
                                  <a:srgbClr val="745C9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cGp/>
                                <m:cGpRule/>
                                <m:cSp/>
                                <m:mcs>
                                  <m:mc>
                                    <m:mcPr>
                                      <m:mcJc m:val="center"/>
                                      <m:count m:val="1"/>
                                    </m:mcPr>
                                  </m:mc>
                                </m:mcs>
                                <m:plcHide m:val="off"/>
                                <m:rSp/>
                                <m:rSpRule/>
                                <m:ctrlPr>
                                  <a:rPr lang="ru-RU" sz="2000" i="1">
                                    <a:solidFill>
                                      <a:srgbClr val="745C9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/>
                                    <a:rPr lang="ru-RU" sz="2000" b="0" i="1">
                                      <a:solidFill>
                                        <a:srgbClr val="745C97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/>
                                    <a:rPr lang="ru-RU" sz="2000" b="0" i="1">
                                      <a:solidFill>
                                        <a:srgbClr val="745C97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mc:Choice>
                <mc:Fallback/>
              </mc:AlternateContent>
              <a:r>
                <a:rPr lang="ru-RU" sz="2000">
                  <a:solidFill>
                    <a:srgbClr val="745C97"/>
                  </a:solidFill>
                  <a:latin typeface="Calibri Light"/>
                  <a:ea typeface="Human Sans ExtraLight"/>
                  <a:cs typeface="Human Sans ExtraLight"/>
                </a:rPr>
                <a:t> преобразуется в </a:t>
              </a:r>
              <a:endParaRPr lang="en-US" sz="2000">
                <a:solidFill>
                  <a:srgbClr val="745C97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  <p:cxnSp>
          <p:nvCxnSpPr>
            <p:cNvPr id="23" name="Connector: Curved 22"/>
            <p:cNvCxnSpPr>
              <a:stCxn id="22" idx="2"/>
              <a:endCxn id="24" idx="1"/>
            </p:cNvCxnSpPr>
            <p:nvPr/>
          </p:nvCxnSpPr>
          <p:spPr bwMode="auto">
            <a:xfrm rot="5400000">
              <a:off x="4080807" y="1821129"/>
              <a:ext cx="835125" cy="1401024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: Rounded Corners 23"/>
            <p:cNvSpPr/>
            <p:nvPr/>
          </p:nvSpPr>
          <p:spPr bwMode="auto">
            <a:xfrm rot="5400000">
              <a:off x="3402657" y="3137108"/>
              <a:ext cx="790400" cy="394592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4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endParaRPr lang="en-US" sz="2000">
                <a:solidFill>
                  <a:srgbClr val="745C97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</p:grpSp>
      <p:grpSp>
        <p:nvGrpSpPr>
          <p:cNvPr id="1417007595" name="Group 67"/>
          <p:cNvGrpSpPr/>
          <p:nvPr/>
        </p:nvGrpSpPr>
        <p:grpSpPr bwMode="auto">
          <a:xfrm>
            <a:off x="2811399" y="3903407"/>
            <a:ext cx="6450588" cy="2882450"/>
            <a:chOff x="2811399" y="3903407"/>
            <a:chExt cx="6450588" cy="2882450"/>
          </a:xfrm>
        </p:grpSpPr>
        <p:grpSp>
          <p:nvGrpSpPr>
            <p:cNvPr id="66" name="Group 65"/>
            <p:cNvGrpSpPr/>
            <p:nvPr/>
          </p:nvGrpSpPr>
          <p:grpSpPr bwMode="auto">
            <a:xfrm>
              <a:off x="6817559" y="3903407"/>
              <a:ext cx="2444428" cy="2882450"/>
              <a:chOff x="6817559" y="3903407"/>
              <a:chExt cx="2444428" cy="2882450"/>
            </a:xfrm>
          </p:grpSpPr>
          <p:grpSp>
            <p:nvGrpSpPr>
              <p:cNvPr id="29" name="Group 28"/>
              <p:cNvGrpSpPr/>
              <p:nvPr/>
            </p:nvGrpSpPr>
            <p:grpSpPr bwMode="auto">
              <a:xfrm>
                <a:off x="6817559" y="3903407"/>
                <a:ext cx="2444428" cy="2882450"/>
                <a:chOff x="4522851" y="2840213"/>
                <a:chExt cx="3146348" cy="3609975"/>
              </a:xfrm>
            </p:grpSpPr>
            <p:pic>
              <p:nvPicPr>
                <p:cNvPr id="30" name="Picture 29" descr="A picture containing text, businesscard&#10;&#10;Description automatically generated"/>
                <p:cNvPicPr>
                  <a:picLocks noChangeAspect="1"/>
                </p:cNvPicPr>
                <p:nvPr/>
              </p:nvPicPr>
              <p:blipFill>
                <a:blip r:embed="rId4"/>
                <a:stretch/>
              </p:blipFill>
              <p:spPr bwMode="auto">
                <a:xfrm>
                  <a:off x="4522851" y="2840213"/>
                  <a:ext cx="3143250" cy="3609975"/>
                </a:xfrm>
                <a:prstGeom prst="rect">
                  <a:avLst/>
                </a:prstGeom>
              </p:spPr>
            </p:pic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5"/>
                <a:stretch/>
              </p:blipFill>
              <p:spPr bwMode="auto">
                <a:xfrm>
                  <a:off x="6483891" y="5567896"/>
                  <a:ext cx="438020" cy="221665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pic>
              <p:nvPicPr>
                <p:cNvPr id="32" name="Picture 31"/>
                <p:cNvPicPr>
                  <a:picLocks noChangeAspect="1"/>
                </p:cNvPicPr>
                <p:nvPr/>
              </p:nvPicPr>
              <p:blipFill>
                <a:blip r:embed="rId6"/>
                <a:stretch/>
              </p:blipFill>
              <p:spPr bwMode="auto">
                <a:xfrm>
                  <a:off x="5338433" y="3411252"/>
                  <a:ext cx="435365" cy="221665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pic>
              <p:nvPicPr>
                <p:cNvPr id="33" name="Picture 32"/>
                <p:cNvPicPr>
                  <a:picLocks noChangeAspect="1"/>
                </p:cNvPicPr>
                <p:nvPr/>
              </p:nvPicPr>
              <p:blipFill>
                <a:blip r:embed="rId7"/>
                <a:stretch/>
              </p:blipFill>
              <p:spPr bwMode="auto">
                <a:xfrm>
                  <a:off x="6483891" y="3083020"/>
                  <a:ext cx="1185308" cy="221665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pic>
              <p:nvPicPr>
                <p:cNvPr id="34" name="Picture 33"/>
                <p:cNvPicPr>
                  <a:picLocks noChangeAspect="1"/>
                </p:cNvPicPr>
                <p:nvPr/>
              </p:nvPicPr>
              <p:blipFill>
                <a:blip r:embed="rId8"/>
                <a:stretch/>
              </p:blipFill>
              <p:spPr bwMode="auto">
                <a:xfrm>
                  <a:off x="4539417" y="5924789"/>
                  <a:ext cx="478001" cy="236873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</p:grpSp>
          <p:sp>
            <p:nvSpPr>
              <p:cNvPr id="54" name="Isosceles Triangle 53"/>
              <p:cNvSpPr/>
              <p:nvPr/>
            </p:nvSpPr>
            <p:spPr bwMode="auto">
              <a:xfrm>
                <a:off x="7587992" y="4548508"/>
                <a:ext cx="135095" cy="12148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  <p:sp>
            <p:nvSpPr>
              <p:cNvPr id="58" name="Star: 5 Points 57"/>
              <p:cNvSpPr/>
              <p:nvPr/>
            </p:nvSpPr>
            <p:spPr bwMode="auto">
              <a:xfrm>
                <a:off x="7143888" y="6238557"/>
                <a:ext cx="181144" cy="176991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  <p:sp>
            <p:nvSpPr>
              <p:cNvPr id="59" name="Oval 58"/>
              <p:cNvSpPr/>
              <p:nvPr/>
            </p:nvSpPr>
            <p:spPr bwMode="auto">
              <a:xfrm>
                <a:off x="8730470" y="4274273"/>
                <a:ext cx="142156" cy="13637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  <p:sp>
            <p:nvSpPr>
              <p:cNvPr id="63" name="Rectangle 62"/>
              <p:cNvSpPr/>
              <p:nvPr/>
            </p:nvSpPr>
            <p:spPr bwMode="auto">
              <a:xfrm>
                <a:off x="8271919" y="6018327"/>
                <a:ext cx="133568" cy="12609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</p:grpSp>
        <p:grpSp>
          <p:nvGrpSpPr>
            <p:cNvPr id="65" name="Group 64"/>
            <p:cNvGrpSpPr/>
            <p:nvPr/>
          </p:nvGrpSpPr>
          <p:grpSpPr bwMode="auto">
            <a:xfrm>
              <a:off x="2811399" y="4038332"/>
              <a:ext cx="2208305" cy="2575202"/>
              <a:chOff x="2811399" y="4038332"/>
              <a:chExt cx="2208305" cy="2575202"/>
            </a:xfrm>
          </p:grpSpPr>
          <p:cxnSp>
            <p:nvCxnSpPr>
              <p:cNvPr id="36" name="Straight Connector 35"/>
              <p:cNvCxnSpPr/>
              <p:nvPr/>
            </p:nvCxnSpPr>
            <p:spPr bwMode="auto">
              <a:xfrm>
                <a:off x="3205316" y="4038332"/>
                <a:ext cx="9833" cy="2517147"/>
              </a:xfrm>
              <a:prstGeom prst="line">
                <a:avLst/>
              </a:prstGeom>
              <a:ln w="63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auto">
              <a:xfrm flipH="1">
                <a:off x="3112522" y="6378487"/>
                <a:ext cx="1907182" cy="0"/>
              </a:xfrm>
              <a:prstGeom prst="line">
                <a:avLst/>
              </a:prstGeom>
              <a:ln w="63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/>
              <p:cNvSpPr/>
              <p:nvPr/>
            </p:nvSpPr>
            <p:spPr bwMode="auto">
              <a:xfrm>
                <a:off x="3202909" y="5203585"/>
                <a:ext cx="1130705" cy="1174902"/>
              </a:xfrm>
              <a:prstGeom prst="rect">
                <a:avLst/>
              </a:prstGeom>
              <a:solidFill>
                <a:srgbClr val="E05EAB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  <p:pic>
            <p:nvPicPr>
              <p:cNvPr id="49" name="Picture 48"/>
              <p:cNvPicPr>
                <a:picLocks noChangeAspect="1"/>
              </p:cNvPicPr>
              <p:nvPr/>
            </p:nvPicPr>
            <p:blipFill>
              <a:blip r:embed="rId9"/>
              <a:stretch/>
            </p:blipFill>
            <p:spPr bwMode="auto">
              <a:xfrm>
                <a:off x="4345854" y="6436542"/>
                <a:ext cx="347521" cy="176992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>
              <a:blip r:embed="rId10"/>
              <a:stretch/>
            </p:blipFill>
            <p:spPr bwMode="auto">
              <a:xfrm>
                <a:off x="2811399" y="5048906"/>
                <a:ext cx="347520" cy="176992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>
              <a:blip r:embed="rId11"/>
              <a:stretch/>
            </p:blipFill>
            <p:spPr bwMode="auto">
              <a:xfrm>
                <a:off x="2833952" y="6400800"/>
                <a:ext cx="371364" cy="189136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52" name="Picture 51"/>
              <p:cNvPicPr>
                <a:picLocks noChangeAspect="1"/>
              </p:cNvPicPr>
              <p:nvPr/>
            </p:nvPicPr>
            <p:blipFill>
              <a:blip r:embed="rId12"/>
              <a:stretch/>
            </p:blipFill>
            <p:spPr bwMode="auto">
              <a:xfrm>
                <a:off x="4377605" y="5048906"/>
                <a:ext cx="347521" cy="176992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55" name="Oval 54"/>
              <p:cNvSpPr/>
              <p:nvPr/>
            </p:nvSpPr>
            <p:spPr bwMode="auto">
              <a:xfrm>
                <a:off x="4234630" y="5143558"/>
                <a:ext cx="142156" cy="13637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  <p:sp>
            <p:nvSpPr>
              <p:cNvPr id="60" name="Isosceles Triangle 59"/>
              <p:cNvSpPr/>
              <p:nvPr/>
            </p:nvSpPr>
            <p:spPr bwMode="auto">
              <a:xfrm>
                <a:off x="3158919" y="5151004"/>
                <a:ext cx="135095" cy="12148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  <p:sp>
            <p:nvSpPr>
              <p:cNvPr id="61" name="Star: 5 Points 60"/>
              <p:cNvSpPr/>
              <p:nvPr/>
            </p:nvSpPr>
            <p:spPr bwMode="auto">
              <a:xfrm>
                <a:off x="3136330" y="6288490"/>
                <a:ext cx="181144" cy="176991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  <p:sp>
            <p:nvSpPr>
              <p:cNvPr id="64" name="Rectangle 63"/>
              <p:cNvSpPr/>
              <p:nvPr/>
            </p:nvSpPr>
            <p:spPr bwMode="auto">
              <a:xfrm>
                <a:off x="4266625" y="6327052"/>
                <a:ext cx="133568" cy="12609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</p:grpSp>
        <p:sp>
          <p:nvSpPr>
            <p:cNvPr id="67" name="Arrow: Striped Right 66"/>
            <p:cNvSpPr/>
            <p:nvPr/>
          </p:nvSpPr>
          <p:spPr bwMode="auto">
            <a:xfrm>
              <a:off x="5743095" y="5155363"/>
              <a:ext cx="831901" cy="400711"/>
            </a:xfrm>
            <a:prstGeom prst="stripedRightArrow">
              <a:avLst>
                <a:gd name="adj1" fmla="val 50000"/>
                <a:gd name="adj2" fmla="val 50000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endParaRPr lang="en-US" sz="2400">
                <a:solidFill>
                  <a:schemeClr val="bg1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</p:grpSp>
      <p:sp>
        <p:nvSpPr>
          <p:cNvPr id="911309606" name="Rectangle: Rounded Corners 68"/>
          <p:cNvSpPr/>
          <p:nvPr/>
        </p:nvSpPr>
        <p:spPr bwMode="auto">
          <a:xfrm>
            <a:off x="9492929" y="4630634"/>
            <a:ext cx="2442021" cy="1644746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4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|"/>
                          <m:endChr m:val="|"/>
                          <m:ctrlPr>
                            <a:rPr lang="en-US" sz="2000" b="0" i="1">
                              <a:solidFill>
                                <a:srgbClr val="745C9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745C97"/>
                                  </a:solidFill>
                                  <a:latin typeface="Cambria Math"/>
                                  <a:ea typeface="Human Sans ExtraLight"/>
                                  <a:cs typeface="Human Sans ExtraLight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745C97"/>
                                  </a:solidFill>
                                  <a:latin typeface="Cambria Math"/>
                                  <a:ea typeface="Human Sans ExtraLight"/>
                                  <a:cs typeface="Human Sans ExtraLight"/>
                                </a:rPr>
                                <m:t>det</m:t>
                              </m:r>
                            </m:fName>
                            <m:e>
                              <m:r>
                                <m:rPr/>
                                <a:rPr lang="en-US" sz="2000" i="1">
                                  <a:solidFill>
                                    <a:srgbClr val="745C97"/>
                                  </a:solidFill>
                                  <a:latin typeface="Cambria Math"/>
                                  <a:ea typeface="Human Sans ExtraLight"/>
                                  <a:cs typeface="Human Sans ExtraLight"/>
                                </a:rPr>
                                <m:t>𝐴</m:t>
                              </m:r>
                            </m:e>
                          </m:func>
                        </m:e>
                      </m:d>
                      <m:r>
                        <m:rPr/>
                        <a:rPr lang="en-US" sz="2000" b="0" i="0">
                          <a:solidFill>
                            <a:srgbClr val="745C97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r>
              <a:rPr lang="en-US" sz="2000">
                <a:solidFill>
                  <a:srgbClr val="745C97"/>
                </a:solidFill>
                <a:latin typeface="Calibri Light"/>
                <a:ea typeface="Human Sans ExtraLight"/>
                <a:cs typeface="Human Sans ExtraLight"/>
              </a:rPr>
              <a:t> </a:t>
            </a:r>
            <a:r>
              <a:rPr lang="ru-RU" sz="2000">
                <a:solidFill>
                  <a:srgbClr val="745C97"/>
                </a:solidFill>
                <a:latin typeface="Calibri Light"/>
                <a:ea typeface="Human Sans ExtraLight"/>
                <a:cs typeface="Human Sans ExtraLight"/>
              </a:rPr>
              <a:t>во сколько раз увеличивается объем</a:t>
            </a:r>
            <a:r>
              <a:rPr lang="en-US" sz="2000">
                <a:solidFill>
                  <a:srgbClr val="745C97"/>
                </a:solidFill>
                <a:latin typeface="Calibri Light"/>
                <a:ea typeface="Human Sans ExtraLight"/>
                <a:cs typeface="Human Sans ExtraLight"/>
              </a:rPr>
              <a:t>/</a:t>
            </a:r>
            <a:r>
              <a:rPr lang="ru-RU" sz="2000">
                <a:solidFill>
                  <a:srgbClr val="745C97"/>
                </a:solidFill>
                <a:latin typeface="Calibri Light"/>
                <a:ea typeface="Human Sans ExtraLight"/>
                <a:cs typeface="Human Sans ExtraLight"/>
              </a:rPr>
              <a:t>площадь при воздействии матрицей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solidFill>
                            <a:srgbClr val="745C97"/>
                          </a:solidFill>
                          <a:latin typeface="Cambria Math"/>
                          <a:ea typeface="Human Sans ExtraLight"/>
                          <a:cs typeface="Human Sans ExtraLight"/>
                        </a:rPr>
                        <m:t>𝐴</m:t>
                      </m:r>
                    </m:oMath>
                  </m:oMathPara>
                </a14:m>
              </mc:Choice>
              <mc:Fallback/>
            </mc:AlternateContent>
            <a:endParaRPr lang="en-US" sz="2000">
              <a:solidFill>
                <a:srgbClr val="745C97"/>
              </a:solidFill>
              <a:latin typeface="Calibri Light"/>
              <a:ea typeface="Human Sans ExtraLight"/>
              <a:cs typeface="Human Sans ExtraLight"/>
            </a:endParaRPr>
          </a:p>
        </p:txBody>
      </p:sp>
      <p:sp>
        <p:nvSpPr>
          <p:cNvPr id="402262166" name="Rectangle: Rounded Corners 69"/>
          <p:cNvSpPr/>
          <p:nvPr/>
        </p:nvSpPr>
        <p:spPr bwMode="auto">
          <a:xfrm>
            <a:off x="6680764" y="1475047"/>
            <a:ext cx="4241567" cy="1341526"/>
          </a:xfrm>
          <a:prstGeom prst="roundRect">
            <a:avLst>
              <a:gd name="adj" fmla="val 16667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ru-RU" sz="2400">
                <a:solidFill>
                  <a:schemeClr val="accent5">
                    <a:lumMod val="50000"/>
                  </a:schemeClr>
                </a:solidFill>
                <a:latin typeface="Calibri Light"/>
                <a:ea typeface="Human Sans ExtraLight"/>
                <a:cs typeface="Human Sans ExtraLight"/>
              </a:rPr>
              <a:t>См. отличные короткие видео о сущности линейной алгебры от </a:t>
            </a:r>
            <a:r>
              <a:rPr lang="en-US" sz="2400" u="sng">
                <a:solidFill>
                  <a:schemeClr val="accent5">
                    <a:lumMod val="50000"/>
                  </a:schemeClr>
                </a:solidFill>
                <a:latin typeface="Calibri Light"/>
                <a:ea typeface="Human Sans ExtraLight"/>
                <a:cs typeface="Human Sans ExtraLight"/>
                <a:hlinkClick r:id="rId13" tooltip=""/>
              </a:rPr>
              <a:t>3Blue1Brown</a:t>
            </a:r>
            <a:r>
              <a:rPr lang="ru-RU" sz="2400">
                <a:solidFill>
                  <a:schemeClr val="accent5">
                    <a:lumMod val="50000"/>
                  </a:schemeClr>
                </a:solidFill>
                <a:latin typeface="Calibri Light"/>
                <a:ea typeface="Human Sans ExtraLight"/>
                <a:cs typeface="Human Sans ExtraLight"/>
              </a:rPr>
              <a:t> </a:t>
            </a:r>
            <a:endParaRPr lang="en-US" sz="2400">
              <a:solidFill>
                <a:schemeClr val="accent5">
                  <a:lumMod val="50000"/>
                </a:schemeClr>
              </a:solidFill>
              <a:latin typeface="Calibri Light"/>
              <a:ea typeface="Human Sans ExtraLight"/>
              <a:cs typeface="Human Sans Extra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65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82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00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26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2262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2262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09606" grpId="0" animBg="1"/>
      <p:bldP spid="40226216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4912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если матрица не квадратная</a:t>
            </a:r>
            <a:r>
              <a:rPr lang="en-US"/>
              <a:t>?</a:t>
            </a:r>
            <a:endParaRPr/>
          </a:p>
        </p:txBody>
      </p:sp>
      <p:sp>
        <p:nvSpPr>
          <p:cNvPr id="775979852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530928"/>
            <a:ext cx="11066206" cy="2377254"/>
          </a:xfrm>
        </p:spPr>
        <p:txBody>
          <a:bodyPr/>
          <a:lstStyle/>
          <a:p>
            <a:pPr>
              <a:defRPr/>
            </a:pPr>
            <a:r>
              <a:rPr lang="ru-RU"/>
              <a:t>Какой размерности должен быть вектор, чтобы на него можно было подействовать матрицей размера</a:t>
            </a:r>
            <a:endParaRPr/>
          </a:p>
          <a:p>
            <a:pPr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b="0" i="1">
                          <a:latin typeface="Cambria Math"/>
                        </a:rPr>
                        <m:t>3</m:t>
                      </m:r>
                      <m:r>
                        <m:rPr/>
                        <a:rPr lang="ru-RU" b="0" i="1">
                          <a:latin typeface="Cambria Math"/>
                          <a:ea typeface="Cambria Math"/>
                        </a:rPr>
                        <m:t>×2</m:t>
                      </m:r>
                    </m:oMath>
                  </m:oMathPara>
                </a14:m>
              </mc:Choice>
              <mc:Fallback/>
            </mc:AlternateContent>
            <a:endParaRPr lang="ru-RU"/>
          </a:p>
          <a:p>
            <a:pPr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i="1">
                          <a:latin typeface="Cambria Math"/>
                        </a:rPr>
                        <m:t>2</m:t>
                      </m:r>
                      <m:r>
                        <m:rPr/>
                        <a:rPr lang="ru-RU" b="0" i="1">
                          <a:latin typeface="Cambria Math"/>
                          <a:ea typeface="Cambria Math"/>
                        </a:rPr>
                        <m:t>×3</m:t>
                      </m:r>
                    </m:oMath>
                  </m:oMathPara>
                </a14:m>
              </mc:Choice>
              <mc:Fallback/>
            </mc:AlternateContent>
            <a:endParaRPr lang="en-US" i="1"/>
          </a:p>
          <a:p>
            <a:pPr lvl="1">
              <a:defRPr/>
            </a:pPr>
            <a:endParaRPr lang="en-US"/>
          </a:p>
        </p:txBody>
      </p:sp>
      <p:grpSp>
        <p:nvGrpSpPr>
          <p:cNvPr id="710207237" name="Group 21"/>
          <p:cNvGrpSpPr/>
          <p:nvPr/>
        </p:nvGrpSpPr>
        <p:grpSpPr bwMode="auto">
          <a:xfrm>
            <a:off x="1788168" y="4016709"/>
            <a:ext cx="3468647" cy="1679496"/>
            <a:chOff x="1788168" y="4016709"/>
            <a:chExt cx="3468647" cy="167949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1788168" y="4016709"/>
              <a:ext cx="3468647" cy="1184610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3719872" y="5420853"/>
              <a:ext cx="1333183" cy="275353"/>
            </a:xfrm>
            <a:prstGeom prst="rect">
              <a:avLst/>
            </a:prstGeom>
          </p:spPr>
        </p:pic>
      </p:grpSp>
      <p:grpSp>
        <p:nvGrpSpPr>
          <p:cNvPr id="1888810280" name="Group 22"/>
          <p:cNvGrpSpPr/>
          <p:nvPr/>
        </p:nvGrpSpPr>
        <p:grpSpPr bwMode="auto">
          <a:xfrm>
            <a:off x="6669885" y="4016709"/>
            <a:ext cx="3908418" cy="1672992"/>
            <a:chOff x="6669885" y="4016709"/>
            <a:chExt cx="3908418" cy="167299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>
              <a:off x="6669885" y="4016709"/>
              <a:ext cx="3908418" cy="118461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>
              <a:off x="9024375" y="5414349"/>
              <a:ext cx="1331202" cy="27535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20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8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811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Свойства определителя</a:t>
            </a:r>
            <a:endParaRPr lang="en-US"/>
          </a:p>
        </p:txBody>
      </p:sp>
      <p:sp>
        <p:nvSpPr>
          <p:cNvPr id="1539707926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530928"/>
            <a:ext cx="11616813" cy="499643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Определитель матрицы не меняется при ее транспонировании</a:t>
            </a:r>
            <a:endParaRPr/>
          </a:p>
          <a:p>
            <a:pPr marL="742950" lvl="1" indent="-514350">
              <a:defRPr/>
            </a:pPr>
            <a:r>
              <a:rPr lang="ru-RU"/>
              <a:t>Все свойства определителя, верные для строк, верны и для столбцов (и наоборот)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При перестановке </a:t>
            </a:r>
            <a:r>
              <a:rPr lang="ru-RU" i="1"/>
              <a:t>двух</a:t>
            </a:r>
            <a:r>
              <a:rPr lang="ru-RU"/>
              <a:t> строк</a:t>
            </a:r>
            <a:r>
              <a:rPr lang="en-US"/>
              <a:t>/</a:t>
            </a:r>
            <a:r>
              <a:rPr lang="ru-RU"/>
              <a:t>столбцов определитель меняет знак</a:t>
            </a:r>
            <a:endParaRPr lang="en-US"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Общий множитель в </a:t>
            </a:r>
            <a:r>
              <a:rPr lang="ru-RU" i="1"/>
              <a:t>какой-либо строке</a:t>
            </a:r>
            <a:r>
              <a:rPr lang="en-US" i="1"/>
              <a:t>/</a:t>
            </a:r>
            <a:r>
              <a:rPr lang="ru-RU" i="1"/>
              <a:t>столбце</a:t>
            </a:r>
            <a:r>
              <a:rPr lang="ru-RU"/>
              <a:t> можно вынести за знак определителя 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ru-RU"/>
              <a:t>Следующие определители </a:t>
            </a:r>
            <a:r>
              <a:rPr lang="ru-RU">
                <a:solidFill>
                  <a:schemeClr val="accent5"/>
                </a:solidFill>
              </a:rPr>
              <a:t>равны 0</a:t>
            </a:r>
            <a:r>
              <a:rPr lang="en-US"/>
              <a:t>:</a:t>
            </a:r>
            <a:endParaRPr/>
          </a:p>
          <a:p>
            <a:pPr marL="742950" lvl="1" indent="-514350">
              <a:defRPr/>
            </a:pPr>
            <a:r>
              <a:rPr lang="ru-RU"/>
              <a:t>с двумя равными строками</a:t>
            </a:r>
            <a:r>
              <a:rPr lang="en-US"/>
              <a:t>/</a:t>
            </a:r>
            <a:r>
              <a:rPr lang="ru-RU"/>
              <a:t>столбцами</a:t>
            </a:r>
            <a:endParaRPr lang="en-US"/>
          </a:p>
          <a:p>
            <a:pPr marL="742950" lvl="1" indent="-514350">
              <a:defRPr/>
            </a:pPr>
            <a:r>
              <a:rPr lang="ru-RU"/>
              <a:t>с двумя пропорциональными строками</a:t>
            </a:r>
            <a:r>
              <a:rPr lang="en-US"/>
              <a:t>/</a:t>
            </a:r>
            <a:r>
              <a:rPr lang="ru-RU"/>
              <a:t>столбцами</a:t>
            </a:r>
            <a:endParaRPr lang="en-US"/>
          </a:p>
          <a:p>
            <a:pPr marL="742950" lvl="1" indent="-514350">
              <a:buFont typeface="+mj-lt"/>
              <a:buAutoNum type="arabicPeriod"/>
              <a:defRPr/>
            </a:pPr>
            <a:endParaRPr lang="ru-RU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514350">
              <a:buFont typeface="+mj-lt"/>
              <a:buAutoNum type="arabicPeriod"/>
              <a:defRPr/>
            </a:pPr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07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07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07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079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079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079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079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5350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Свойства определителя</a:t>
            </a:r>
            <a:endParaRPr lang="en-US"/>
          </a:p>
        </p:txBody>
      </p:sp>
      <p:sp>
        <p:nvSpPr>
          <p:cNvPr id="976055253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530928"/>
            <a:ext cx="11616813" cy="4910255"/>
          </a:xfrm>
        </p:spPr>
        <p:txBody>
          <a:bodyPr/>
          <a:lstStyle/>
          <a:p>
            <a:pPr marL="514350" indent="-514350">
              <a:buFont typeface="+mj-lt"/>
              <a:buAutoNum type="arabicPeriod" startAt="5"/>
              <a:defRPr/>
            </a:pPr>
            <a:r>
              <a:rPr lang="ru-RU" sz="2400"/>
              <a:t>Если элементы какой-нибудь строки</a:t>
            </a:r>
            <a:r>
              <a:rPr lang="en-US" sz="2400"/>
              <a:t>/</a:t>
            </a:r>
            <a:r>
              <a:rPr lang="ru-RU" sz="2400"/>
              <a:t>столбца представляют собой суммы двух слагаемых, то определитель может быть разложен на сумму двух соответствующих определителей</a:t>
            </a:r>
            <a:endParaRPr/>
          </a:p>
          <a:p>
            <a:pPr marL="514350" indent="-514350">
              <a:buFont typeface="+mj-lt"/>
              <a:buAutoNum type="arabicPeriod" startAt="5"/>
              <a:defRPr/>
            </a:pPr>
            <a:endParaRPr lang="en-US" sz="2400"/>
          </a:p>
          <a:p>
            <a:pPr marL="514350" indent="-514350">
              <a:buFont typeface="+mj-lt"/>
              <a:buAutoNum type="arabicPeriod" startAt="5"/>
              <a:defRPr/>
            </a:pPr>
            <a:endParaRPr lang="ru-RU" sz="2400"/>
          </a:p>
          <a:p>
            <a:pPr marL="514350" indent="-514350">
              <a:buFont typeface="+mj-lt"/>
              <a:buAutoNum type="arabicPeriod" startAt="5"/>
              <a:defRPr/>
            </a:pPr>
            <a:endParaRPr lang="ru-RU" sz="2400"/>
          </a:p>
          <a:p>
            <a:pPr marL="514350" indent="-514350">
              <a:buFont typeface="+mj-lt"/>
              <a:buAutoNum type="arabicPeriod" startAt="5"/>
              <a:defRPr/>
            </a:pPr>
            <a:r>
              <a:rPr lang="ru-RU" sz="2400">
                <a:solidFill>
                  <a:srgbClr val="7030A0"/>
                </a:solidFill>
              </a:rPr>
              <a:t>Определитель не изменится, если к элементам какой-нибудь строки</a:t>
            </a:r>
            <a:r>
              <a:rPr lang="en-US" sz="2400">
                <a:solidFill>
                  <a:srgbClr val="7030A0"/>
                </a:solidFill>
              </a:rPr>
              <a:t>/</a:t>
            </a:r>
            <a:r>
              <a:rPr lang="ru-RU" sz="2400">
                <a:solidFill>
                  <a:srgbClr val="7030A0"/>
                </a:solidFill>
              </a:rPr>
              <a:t>столбца прибавить соответствующие элементы какой-либо </a:t>
            </a:r>
            <a:r>
              <a:rPr lang="ru-RU" sz="2400" b="1" i="1">
                <a:solidFill>
                  <a:srgbClr val="7030A0"/>
                </a:solidFill>
              </a:rPr>
              <a:t>другой</a:t>
            </a:r>
            <a:r>
              <a:rPr lang="ru-RU" sz="2400">
                <a:solidFill>
                  <a:srgbClr val="7030A0"/>
                </a:solidFill>
              </a:rPr>
              <a:t> строки</a:t>
            </a:r>
            <a:r>
              <a:rPr lang="en-US" sz="2400">
                <a:solidFill>
                  <a:srgbClr val="7030A0"/>
                </a:solidFill>
              </a:rPr>
              <a:t>/</a:t>
            </a:r>
            <a:r>
              <a:rPr lang="ru-RU" sz="2400">
                <a:solidFill>
                  <a:srgbClr val="7030A0"/>
                </a:solidFill>
              </a:rPr>
              <a:t>столбца, умноженные на любое число</a:t>
            </a:r>
            <a:r>
              <a:rPr lang="en-US" sz="2400">
                <a:solidFill>
                  <a:srgbClr val="7030A0"/>
                </a:solidFill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</mc:Choice>
              <mc:Fallback/>
            </mc:AlternateContent>
            <a:endParaRPr lang="en-US" sz="2400">
              <a:solidFill>
                <a:srgbClr val="7030A0"/>
              </a:solidFill>
            </a:endParaRPr>
          </a:p>
          <a:p>
            <a:pPr marL="742950" lvl="1" indent="-514350">
              <a:buFont typeface="+mj-lt"/>
              <a:buAutoNum type="arabicPeriod"/>
              <a:defRPr/>
            </a:pPr>
            <a:endParaRPr lang="ru-RU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514350">
              <a:buFont typeface="+mj-lt"/>
              <a:buAutoNum type="arabicPeriod"/>
              <a:defRPr/>
            </a:pPr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703301601" name="Picture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50410" y="2905581"/>
            <a:ext cx="7891180" cy="1073570"/>
          </a:xfrm>
          <a:prstGeom prst="rect">
            <a:avLst/>
          </a:prstGeom>
        </p:spPr>
      </p:pic>
      <p:pic>
        <p:nvPicPr>
          <p:cNvPr id="1449091871" name="Picture 1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167871" y="5566493"/>
            <a:ext cx="6195470" cy="11358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055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30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055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09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08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Доказательство свойства 6</a:t>
            </a:r>
            <a:endParaRPr lang="en-US"/>
          </a:p>
        </p:txBody>
      </p:sp>
      <p:pic>
        <p:nvPicPr>
          <p:cNvPr id="1785786034" name="Picture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7200" y="1422400"/>
            <a:ext cx="9204967" cy="1135836"/>
          </a:xfrm>
          <a:prstGeom prst="rect">
            <a:avLst/>
          </a:prstGeom>
        </p:spPr>
      </p:pic>
      <p:pic>
        <p:nvPicPr>
          <p:cNvPr id="667846763" name="Picture 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988863" y="3163929"/>
            <a:ext cx="3266702" cy="11358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01910" name="Rectangle: Rounded Corners 15"/>
          <p:cNvSpPr/>
          <p:nvPr/>
        </p:nvSpPr>
        <p:spPr bwMode="auto">
          <a:xfrm>
            <a:off x="6381137" y="1375669"/>
            <a:ext cx="441694" cy="1453155"/>
          </a:xfrm>
          <a:prstGeom prst="roundRect">
            <a:avLst>
              <a:gd name="adj" fmla="val 16667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endParaRPr lang="en-US" sz="2400">
              <a:solidFill>
                <a:schemeClr val="bg1"/>
              </a:solidFill>
              <a:latin typeface="Calibri Light"/>
              <a:ea typeface="Human Sans ExtraLight"/>
              <a:cs typeface="Human Sans ExtraLight"/>
            </a:endParaRPr>
          </a:p>
        </p:txBody>
      </p:sp>
      <p:sp>
        <p:nvSpPr>
          <p:cNvPr id="889215776" name="Rectangle: Rounded Corners 12"/>
          <p:cNvSpPr/>
          <p:nvPr/>
        </p:nvSpPr>
        <p:spPr bwMode="auto">
          <a:xfrm>
            <a:off x="6381137" y="1735685"/>
            <a:ext cx="2025444" cy="353460"/>
          </a:xfrm>
          <a:prstGeom prst="roundRect">
            <a:avLst>
              <a:gd name="adj" fmla="val 16667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endParaRPr lang="en-US" sz="2400">
              <a:solidFill>
                <a:schemeClr val="bg1"/>
              </a:solidFill>
              <a:latin typeface="Calibri Light"/>
              <a:ea typeface="Human Sans ExtraLight"/>
              <a:cs typeface="Human Sans ExtraLight"/>
            </a:endParaRPr>
          </a:p>
        </p:txBody>
      </p:sp>
      <p:sp>
        <p:nvSpPr>
          <p:cNvPr id="1477807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Вычислим определитель</a:t>
            </a:r>
            <a:endParaRPr lang="en-US"/>
          </a:p>
        </p:txBody>
      </p:sp>
      <p:sp>
        <p:nvSpPr>
          <p:cNvPr id="501604739" name="TextBox 3"/>
          <p:cNvSpPr txBox="1"/>
          <p:nvPr/>
        </p:nvSpPr>
        <p:spPr bwMode="auto">
          <a:xfrm>
            <a:off x="457200" y="1362568"/>
            <a:ext cx="2767782" cy="145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4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ru-RU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</p:txBody>
      </p:sp>
      <p:sp>
        <p:nvSpPr>
          <p:cNvPr id="1158079754" name="TextBox 4"/>
          <p:cNvSpPr txBox="1"/>
          <p:nvPr/>
        </p:nvSpPr>
        <p:spPr bwMode="auto">
          <a:xfrm>
            <a:off x="1801763" y="3259426"/>
            <a:ext cx="5680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ru-RU" sz="240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m:rPr/>
                        <a:rPr lang="en-US" sz="2400" b="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22</m:t>
                          </m:r>
                        </m:sub>
                      </m:sSub>
                      <m:r>
                        <m:rPr/>
                        <a:rPr lang="en-US" sz="24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23</m:t>
                          </m:r>
                        </m:sub>
                      </m:sSub>
                      <m:r>
                        <m:rPr/>
                        <a:rPr lang="en-US" sz="2400" b="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400" b="0" i="1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</p:txBody>
      </p:sp>
      <p:sp>
        <p:nvSpPr>
          <p:cNvPr id="383441181" name="TextBox 5"/>
          <p:cNvSpPr txBox="1"/>
          <p:nvPr/>
        </p:nvSpPr>
        <p:spPr bwMode="auto">
          <a:xfrm>
            <a:off x="3087329" y="1362568"/>
            <a:ext cx="3382297" cy="145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4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3+0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+2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+10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ru-RU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</p:txBody>
      </p:sp>
      <p:grpSp>
        <p:nvGrpSpPr>
          <p:cNvPr id="807032029" name="Group 10"/>
          <p:cNvGrpSpPr/>
          <p:nvPr/>
        </p:nvGrpSpPr>
        <p:grpSpPr bwMode="auto">
          <a:xfrm>
            <a:off x="766916" y="2815723"/>
            <a:ext cx="717756" cy="833857"/>
            <a:chOff x="766916" y="2815723"/>
            <a:chExt cx="717756" cy="833857"/>
          </a:xfrm>
        </p:grpSpPr>
        <p:sp>
          <p:nvSpPr>
            <p:cNvPr id="7" name="Arrow: Curved Up 6"/>
            <p:cNvSpPr/>
            <p:nvPr/>
          </p:nvSpPr>
          <p:spPr bwMode="auto">
            <a:xfrm>
              <a:off x="766916" y="2815723"/>
              <a:ext cx="717756" cy="251942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>
                <a:defRPr/>
              </a:pPr>
              <a:endParaRPr lang="en-US" sz="2400">
                <a:solidFill>
                  <a:schemeClr val="bg1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766916" y="2941694"/>
              <a:ext cx="63909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US" sz="40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</m:oMath>
                    </m:oMathPara>
                  </a14:m>
                </mc:Choice>
                <mc:Fallback/>
              </mc:AlternateContent>
              <a:endParaRPr lang="en-US" sz="4000">
                <a:solidFill>
                  <a:schemeClr val="tx1"/>
                </a:solidFill>
              </a:endParaRPr>
            </a:p>
          </p:txBody>
        </p:sp>
      </p:grpSp>
      <p:sp>
        <p:nvSpPr>
          <p:cNvPr id="461841928" name="TextBox 11"/>
          <p:cNvSpPr txBox="1"/>
          <p:nvPr/>
        </p:nvSpPr>
        <p:spPr bwMode="auto">
          <a:xfrm>
            <a:off x="6243484" y="1349458"/>
            <a:ext cx="3382297" cy="145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4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ru-RU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</p:txBody>
      </p:sp>
      <p:sp>
        <p:nvSpPr>
          <p:cNvPr id="474902656" name="TextBox 13"/>
          <p:cNvSpPr txBox="1"/>
          <p:nvPr/>
        </p:nvSpPr>
        <p:spPr bwMode="auto">
          <a:xfrm>
            <a:off x="7293231" y="3260124"/>
            <a:ext cx="4438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US" sz="2400" b="0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m:rPr/>
                        <a:rPr lang="en-US" sz="2400" b="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m:rPr/>
                        <a:rPr lang="en-US" sz="2400" i="1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22</m:t>
                          </m:r>
                        </m:sub>
                      </m:sSub>
                      <m:r>
                        <m:rPr/>
                        <a:rPr lang="en-US" sz="24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m:rPr/>
                        <a:rPr lang="en-US" sz="2400" i="1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23</m:t>
                          </m:r>
                        </m:sub>
                      </m:sSub>
                      <m:r>
                        <m:rPr/>
                        <a:rPr lang="en-US" sz="2400" b="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m:rPr/>
                        <a:rPr lang="en-US" sz="2400" i="1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400" b="0" i="1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</p:txBody>
      </p:sp>
      <p:sp>
        <p:nvSpPr>
          <p:cNvPr id="1306842650" name="TextBox 14"/>
          <p:cNvSpPr txBox="1"/>
          <p:nvPr/>
        </p:nvSpPr>
        <p:spPr bwMode="auto">
          <a:xfrm>
            <a:off x="929580" y="4055167"/>
            <a:ext cx="6275088" cy="1068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US" sz="2400" b="0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ru-RU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2+1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ru-RU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</p:txBody>
      </p:sp>
      <p:sp>
        <p:nvSpPr>
          <p:cNvPr id="70460937" name="TextBox 22"/>
          <p:cNvSpPr txBox="1"/>
          <p:nvPr/>
        </p:nvSpPr>
        <p:spPr bwMode="auto">
          <a:xfrm>
            <a:off x="6243484" y="4049611"/>
            <a:ext cx="5744146" cy="1068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  <a:ea typeface="Cambria Math"/>
                                  </a:rPr>
                                  <m:t>∙1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  <a:ea typeface="Cambria Math"/>
                                  </a:rPr>
                                  <m:t>∙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  <a:ea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11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  <a:ea typeface="Cambria Math"/>
                                  </a:rPr>
                                  <m:t>∙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  <a:ea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</p:txBody>
      </p:sp>
      <p:grpSp>
        <p:nvGrpSpPr>
          <p:cNvPr id="186146736" name="Group 24"/>
          <p:cNvGrpSpPr/>
          <p:nvPr/>
        </p:nvGrpSpPr>
        <p:grpSpPr bwMode="auto">
          <a:xfrm>
            <a:off x="4662363" y="4055167"/>
            <a:ext cx="1686902" cy="2003160"/>
            <a:chOff x="4662363" y="4055167"/>
            <a:chExt cx="1686902" cy="2003160"/>
          </a:xfrm>
        </p:grpSpPr>
        <p:grpSp>
          <p:nvGrpSpPr>
            <p:cNvPr id="17" name="Group 16"/>
            <p:cNvGrpSpPr/>
            <p:nvPr/>
          </p:nvGrpSpPr>
          <p:grpSpPr bwMode="auto">
            <a:xfrm flipH="1">
              <a:off x="4662363" y="5424739"/>
              <a:ext cx="1454157" cy="633588"/>
              <a:chOff x="595967" y="2815723"/>
              <a:chExt cx="980710" cy="595981"/>
            </a:xfrm>
          </p:grpSpPr>
          <p:sp>
            <p:nvSpPr>
              <p:cNvPr id="18" name="Arrow: Curved Up 17"/>
              <p:cNvSpPr/>
              <p:nvPr/>
            </p:nvSpPr>
            <p:spPr bwMode="auto">
              <a:xfrm>
                <a:off x="766916" y="2815723"/>
                <a:ext cx="717756" cy="251942"/>
              </a:xfrm>
              <a:prstGeom prst="curvedUpArrow">
                <a:avLst>
                  <a:gd name="adj1" fmla="val 25000"/>
                  <a:gd name="adj2" fmla="val 50000"/>
                  <a:gd name="adj3" fmla="val 25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 bwMode="auto">
              <a:xfrm>
                <a:off x="595967" y="2977440"/>
                <a:ext cx="980710" cy="434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>
                          <m:jc m:val="centerGroup"/>
                        </m:oMathParaPr>
                        <m:oMath>
                          <m:r>
                            <m:rPr/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</m:oMath>
                      </m:oMathPara>
                    </a14:m>
                  </mc:Choice>
                  <mc:Fallback/>
                </mc:AlternateContent>
                <a:endParaRPr lang="en-US" sz="24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TextBox 20"/>
            <p:cNvSpPr txBox="1"/>
            <p:nvPr/>
          </p:nvSpPr>
          <p:spPr bwMode="auto">
            <a:xfrm>
              <a:off x="5517765" y="5055407"/>
              <a:ext cx="8315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US" sz="1800" b="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×(−3)</m:t>
                        </m:r>
                      </m:oMath>
                    </m:oMathPara>
                  </a14:m>
                </mc:Choice>
                <mc:Fallback/>
              </mc:AlternateContent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/>
            <p:cNvSpPr/>
            <p:nvPr/>
          </p:nvSpPr>
          <p:spPr bwMode="auto">
            <a:xfrm>
              <a:off x="5712542" y="4055167"/>
              <a:ext cx="294968" cy="1068947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4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endParaRPr lang="en-US" sz="2400">
                <a:solidFill>
                  <a:schemeClr val="bg1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03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44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4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21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7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90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84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0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4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01910" grpId="0" animBg="1"/>
      <p:bldP spid="889215776" grpId="0" animBg="1"/>
      <p:bldP spid="1158079754" grpId="0"/>
      <p:bldP spid="383441181" grpId="0"/>
      <p:bldP spid="461841928" grpId="0"/>
      <p:bldP spid="474902656" grpId="0"/>
      <p:bldP spid="1306842650" grpId="0"/>
      <p:bldP spid="704609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2719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Вычислим определитель</a:t>
            </a:r>
            <a:endParaRPr lang="en-US"/>
          </a:p>
        </p:txBody>
      </p:sp>
      <p:sp>
        <p:nvSpPr>
          <p:cNvPr id="1809760731" name="TextBox 3"/>
          <p:cNvSpPr txBox="1"/>
          <p:nvPr/>
        </p:nvSpPr>
        <p:spPr bwMode="auto">
          <a:xfrm>
            <a:off x="457200" y="1362568"/>
            <a:ext cx="6386052" cy="145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4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m:rPr/>
                        <a:rPr lang="en-US" sz="2400">
                          <a:solidFill>
                            <a:srgbClr val="7030A0"/>
                          </a:solidFill>
                          <a:latin typeface="Cambria Math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40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</p:txBody>
      </p:sp>
      <p:sp>
        <p:nvSpPr>
          <p:cNvPr id="1795935171" name="TextBox 22"/>
          <p:cNvSpPr txBox="1"/>
          <p:nvPr/>
        </p:nvSpPr>
        <p:spPr bwMode="auto">
          <a:xfrm>
            <a:off x="5223621" y="1554671"/>
            <a:ext cx="3486589" cy="1068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  <a:ea typeface="Cambria Math"/>
                                  </a:rPr>
                                  <m:t>∙1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  <a:ea typeface="Cambria Math"/>
                                  </a:rPr>
                                  <m:t>∙4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  <a:ea typeface="Cambria Math"/>
                                  </a:rPr>
                                  <m:t>∙3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</p:txBody>
      </p:sp>
      <p:grpSp>
        <p:nvGrpSpPr>
          <p:cNvPr id="290641395" name="Group 2"/>
          <p:cNvGrpSpPr/>
          <p:nvPr/>
        </p:nvGrpSpPr>
        <p:grpSpPr bwMode="auto">
          <a:xfrm>
            <a:off x="3833123" y="1554823"/>
            <a:ext cx="1454157" cy="1944688"/>
            <a:chOff x="4954000" y="4055167"/>
            <a:chExt cx="1454157" cy="1944688"/>
          </a:xfrm>
        </p:grpSpPr>
        <p:grpSp>
          <p:nvGrpSpPr>
            <p:cNvPr id="8" name="Group 7"/>
            <p:cNvGrpSpPr/>
            <p:nvPr/>
          </p:nvGrpSpPr>
          <p:grpSpPr bwMode="auto">
            <a:xfrm flipH="1">
              <a:off x="4954000" y="5382071"/>
              <a:ext cx="1454157" cy="617784"/>
              <a:chOff x="399282" y="2775591"/>
              <a:chExt cx="980710" cy="581116"/>
            </a:xfrm>
          </p:grpSpPr>
          <p:sp>
            <p:nvSpPr>
              <p:cNvPr id="22" name="Arrow: Curved Up 21"/>
              <p:cNvSpPr/>
              <p:nvPr/>
            </p:nvSpPr>
            <p:spPr bwMode="auto">
              <a:xfrm>
                <a:off x="719389" y="2775591"/>
                <a:ext cx="363791" cy="228601"/>
              </a:xfrm>
              <a:prstGeom prst="curvedUpArrow">
                <a:avLst>
                  <a:gd name="adj1" fmla="val 25000"/>
                  <a:gd name="adj2" fmla="val 50000"/>
                  <a:gd name="adj3" fmla="val 25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>
                  <a:defRPr/>
                </a:pPr>
                <a:endParaRPr lang="en-US" sz="2400">
                  <a:solidFill>
                    <a:schemeClr val="bg1"/>
                  </a:solidFill>
                  <a:latin typeface="Calibri Light"/>
                  <a:ea typeface="Human Sans ExtraLight"/>
                  <a:cs typeface="Human Sans ExtraLight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 bwMode="auto">
              <a:xfrm>
                <a:off x="399282" y="2922444"/>
                <a:ext cx="980710" cy="434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>
                          <m:jc m:val="centerGroup"/>
                        </m:oMathParaPr>
                        <m:oMath>
                          <m:r>
                            <m:rPr/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</m:oMath>
                      </m:oMathPara>
                    </a14:m>
                  </mc:Choice>
                  <mc:Fallback/>
                </mc:AlternateContent>
                <a:endParaRPr lang="en-US" sz="24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 bwMode="auto">
            <a:xfrm>
              <a:off x="5517765" y="5055407"/>
              <a:ext cx="8315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US" sz="1800" b="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×(−2)</m:t>
                        </m:r>
                      </m:oMath>
                    </m:oMathPara>
                  </a14:m>
                </mc:Choice>
                <mc:Fallback/>
              </mc:AlternateContent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20" name="Rectangle: Rounded Corners 19"/>
            <p:cNvSpPr/>
            <p:nvPr/>
          </p:nvSpPr>
          <p:spPr bwMode="auto">
            <a:xfrm>
              <a:off x="5712542" y="4055167"/>
              <a:ext cx="294968" cy="1068947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4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endParaRPr lang="en-US" sz="2400">
                <a:solidFill>
                  <a:schemeClr val="bg1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</p:grpSp>
      <p:sp>
        <p:nvSpPr>
          <p:cNvPr id="1285122011" name="TextBox 26"/>
          <p:cNvSpPr txBox="1"/>
          <p:nvPr/>
        </p:nvSpPr>
        <p:spPr bwMode="auto">
          <a:xfrm>
            <a:off x="8109380" y="1554670"/>
            <a:ext cx="3288074" cy="1068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</p:txBody>
      </p:sp>
      <p:sp>
        <p:nvSpPr>
          <p:cNvPr id="1424670117" name="TextBox 27"/>
          <p:cNvSpPr txBox="1"/>
          <p:nvPr/>
        </p:nvSpPr>
        <p:spPr bwMode="auto">
          <a:xfrm>
            <a:off x="155083" y="3507803"/>
            <a:ext cx="3974465" cy="706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=−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ru-RU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/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m:rPr/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/>
                                  <a:rPr lang="en-US" sz="2400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</p:txBody>
      </p:sp>
      <p:sp>
        <p:nvSpPr>
          <p:cNvPr id="1899510413" name="Rectangle: Rounded Corners 28"/>
          <p:cNvSpPr/>
          <p:nvPr/>
        </p:nvSpPr>
        <p:spPr bwMode="auto">
          <a:xfrm>
            <a:off x="8961920" y="1554669"/>
            <a:ext cx="1582994" cy="353460"/>
          </a:xfrm>
          <a:prstGeom prst="roundRect">
            <a:avLst>
              <a:gd name="adj" fmla="val 16667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endParaRPr lang="en-US" sz="2400">
              <a:solidFill>
                <a:schemeClr val="bg1"/>
              </a:solidFill>
              <a:latin typeface="Calibri Light"/>
              <a:ea typeface="Human Sans ExtraLight"/>
              <a:cs typeface="Human Sans ExtraLight"/>
            </a:endParaRPr>
          </a:p>
        </p:txBody>
      </p:sp>
      <p:sp>
        <p:nvSpPr>
          <p:cNvPr id="1773808197" name="TextBox 29"/>
          <p:cNvSpPr txBox="1"/>
          <p:nvPr/>
        </p:nvSpPr>
        <p:spPr bwMode="auto">
          <a:xfrm>
            <a:off x="3699800" y="3603935"/>
            <a:ext cx="6673646" cy="509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−4</m:t>
                              </m:r>
                            </m:e>
                          </m:d>
                          <m:r>
                            <m:rPr/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−4</m:t>
                              </m:r>
                            </m:e>
                          </m:d>
                          <m:r>
                            <m:rPr/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−2</m:t>
                          </m:r>
                          <m:r>
                            <m:rPr/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−7</m:t>
                              </m:r>
                            </m:e>
                          </m:d>
                        </m:e>
                      </m:d>
                      <m:r>
                        <m:rPr/>
                        <a:rPr lang="en-US" sz="2400" i="1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sz="2400" b="0" i="0">
                          <a:solidFill>
                            <a:srgbClr val="7030A0"/>
                          </a:solidFill>
                          <a:latin typeface="Cambria Math"/>
                        </a:rPr>
                        <m:t>=−</m:t>
                      </m:r>
                      <m:d>
                        <m:dPr>
                          <m:ctrlP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16+14</m:t>
                          </m:r>
                        </m:e>
                      </m:d>
                      <m:r>
                        <m:rPr/>
                        <a:rPr lang="en-US" sz="2400" b="0" i="1">
                          <a:solidFill>
                            <a:srgbClr val="7030A0"/>
                          </a:solidFill>
                          <a:latin typeface="Cambria Math"/>
                        </a:rPr>
                        <m:t>=−30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64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9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7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1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80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5935171" grpId="0"/>
      <p:bldP spid="1285122011" grpId="0"/>
      <p:bldP spid="1424670117" grpId="0"/>
      <p:bldP spid="1899510413" grpId="0" animBg="1"/>
      <p:bldP spid="17738081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7201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Определитель хороших матриц</a:t>
            </a:r>
            <a:endParaRPr lang="en-US"/>
          </a:p>
        </p:txBody>
      </p:sp>
      <p:sp>
        <p:nvSpPr>
          <p:cNvPr id="667527497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199" y="1530930"/>
            <a:ext cx="11274552" cy="3411383"/>
          </a:xfrm>
        </p:spPr>
        <p:txBody>
          <a:bodyPr/>
          <a:lstStyle/>
          <a:p>
            <a:pPr>
              <a:defRPr/>
            </a:pPr>
            <a:r>
              <a:rPr lang="ru-RU"/>
              <a:t>Определитель = произведению элементов на </a:t>
            </a:r>
            <a:r>
              <a:rPr lang="ru-RU" i="1"/>
              <a:t>главной диагонали </a:t>
            </a:r>
            <a:r>
              <a:rPr lang="ru-RU"/>
              <a:t>у следующих матриц</a:t>
            </a:r>
            <a:r>
              <a:rPr lang="en-US"/>
              <a:t>:</a:t>
            </a:r>
            <a:endParaRPr/>
          </a:p>
          <a:p>
            <a:pPr>
              <a:defRPr/>
            </a:pPr>
            <a:endParaRPr lang="en-US"/>
          </a:p>
          <a:p>
            <a:pPr lvl="1">
              <a:defRPr/>
            </a:pPr>
            <a:r>
              <a:rPr lang="ru-RU"/>
              <a:t>диагональной</a:t>
            </a:r>
            <a:endParaRPr lang="en-US"/>
          </a:p>
          <a:p>
            <a:pPr marL="457200" lvl="1" indent="0">
              <a:buNone/>
              <a:defRPr/>
            </a:pPr>
            <a:endParaRPr lang="ru-RU"/>
          </a:p>
          <a:p>
            <a:pPr marL="457200" lvl="1" indent="0">
              <a:buNone/>
              <a:defRPr/>
            </a:pPr>
            <a:endParaRPr lang="ru-RU"/>
          </a:p>
          <a:p>
            <a:pPr lvl="1">
              <a:defRPr/>
            </a:pPr>
            <a:endParaRPr lang="en-US"/>
          </a:p>
        </p:txBody>
      </p:sp>
      <p:pic>
        <p:nvPicPr>
          <p:cNvPr id="450619560" name="Picture 4" descr="A picture containing tex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026137" y="4527421"/>
            <a:ext cx="1762188" cy="1599297"/>
          </a:xfrm>
          <a:prstGeom prst="rect">
            <a:avLst/>
          </a:prstGeom>
        </p:spPr>
      </p:pic>
      <p:pic>
        <p:nvPicPr>
          <p:cNvPr id="1216062231" name="Picture 6" descr="A picture containing text, computer&#10;&#10;Description automatically generated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626" y="4527421"/>
            <a:ext cx="1651126" cy="1599297"/>
          </a:xfrm>
          <a:prstGeom prst="rect">
            <a:avLst/>
          </a:prstGeom>
        </p:spPr>
      </p:pic>
      <p:pic>
        <p:nvPicPr>
          <p:cNvPr id="1201989182" name="Picture 8" descr="A picture containing text, computer, screen&#10;&#10;Description automatically generated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098757" y="2520539"/>
            <a:ext cx="1762188" cy="1599297"/>
          </a:xfrm>
          <a:prstGeom prst="rect">
            <a:avLst/>
          </a:prstGeom>
        </p:spPr>
      </p:pic>
      <p:sp>
        <p:nvSpPr>
          <p:cNvPr id="1355362564" name="TextBox 10"/>
          <p:cNvSpPr txBox="1"/>
          <p:nvPr/>
        </p:nvSpPr>
        <p:spPr bwMode="auto">
          <a:xfrm>
            <a:off x="239784" y="5026744"/>
            <a:ext cx="6341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/>
              <a:buChar char="Ø"/>
              <a:defRPr/>
            </a:pPr>
            <a:r>
              <a:rPr lang="ru-RU" sz="2400"/>
              <a:t>верхней треугольной</a:t>
            </a:r>
            <a:endParaRPr lang="en-US" sz="2400"/>
          </a:p>
        </p:txBody>
      </p:sp>
      <p:sp>
        <p:nvSpPr>
          <p:cNvPr id="468516435" name="TextBox 11"/>
          <p:cNvSpPr txBox="1"/>
          <p:nvPr/>
        </p:nvSpPr>
        <p:spPr bwMode="auto">
          <a:xfrm>
            <a:off x="6403677" y="5026744"/>
            <a:ext cx="42490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/>
              <a:buChar char="Ø"/>
              <a:defRPr/>
            </a:pPr>
            <a:r>
              <a:rPr lang="ru-RU" sz="2400"/>
              <a:t>нижней треугольной</a:t>
            </a:r>
            <a:endParaRPr/>
          </a:p>
        </p:txBody>
      </p:sp>
      <p:sp>
        <p:nvSpPr>
          <p:cNvPr id="137482012" name="Rectangle: Rounded Corners 12"/>
          <p:cNvSpPr/>
          <p:nvPr/>
        </p:nvSpPr>
        <p:spPr bwMode="auto">
          <a:xfrm>
            <a:off x="8052619" y="2330579"/>
            <a:ext cx="2028007" cy="1341526"/>
          </a:xfrm>
          <a:prstGeom prst="roundRect">
            <a:avLst>
              <a:gd name="adj" fmla="val 16667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just">
              <a:defRPr/>
            </a:pPr>
            <a:r>
              <a:rPr lang="ru-RU" sz="2400">
                <a:solidFill>
                  <a:schemeClr val="accent5">
                    <a:lumMod val="50000"/>
                  </a:schemeClr>
                </a:solidFill>
                <a:latin typeface="Calibri Light"/>
                <a:ea typeface="Human Sans ExtraLight"/>
                <a:cs typeface="Human Sans ExtraLight"/>
              </a:rPr>
              <a:t>В частности</a:t>
            </a:r>
            <a:r>
              <a:rPr lang="en-US" sz="2400">
                <a:solidFill>
                  <a:schemeClr val="accent5">
                    <a:lumMod val="50000"/>
                  </a:schemeClr>
                </a:solidFill>
                <a:latin typeface="Calibri Light"/>
                <a:ea typeface="Human Sans ExtraLight"/>
                <a:cs typeface="Human Sans ExtraLight"/>
              </a:rPr>
              <a:t>:</a:t>
            </a:r>
            <a:endParaRPr/>
          </a:p>
          <a:p>
            <a:pPr marL="342900" indent="-342900" algn="just">
              <a:buFont typeface="Wingdings"/>
              <a:buChar char="ü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US" sz="24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det</m:t>
                          </m:r>
                        </m:fName>
                        <m:e>
                          <m:r>
                            <m:rPr/>
                            <a:rPr lang="en-US" sz="24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𝐼</m:t>
                          </m:r>
                        </m:e>
                      </m:func>
                      <m:r>
                        <m:rPr/>
                        <a:rPr lang="en-US" sz="2400" b="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/>
                          <a:ea typeface="Human Sans ExtraLight"/>
                          <a:cs typeface="Human Sans ExtraLight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a:endParaRPr lang="en-US" sz="2400" b="0">
              <a:solidFill>
                <a:schemeClr val="accent5">
                  <a:lumMod val="50000"/>
                </a:schemeClr>
              </a:solidFill>
              <a:latin typeface="Calibri Light"/>
              <a:ea typeface="Human Sans ExtraLight"/>
              <a:cs typeface="Human Sans ExtraLight"/>
            </a:endParaRPr>
          </a:p>
          <a:p>
            <a:pPr marL="342900" indent="-342900" algn="just">
              <a:buFont typeface="Wingdings"/>
              <a:buChar char="ü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US" sz="24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det</m:t>
                          </m:r>
                        </m:fName>
                        <m:e>
                          <m:r>
                            <m:rPr/>
                            <a:rPr lang="en-US" sz="24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𝑂</m:t>
                          </m:r>
                        </m:e>
                      </m:func>
                      <m:r>
                        <m:rPr/>
                        <a:rPr lang="en-US" sz="2400" b="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/>
                          <a:ea typeface="Human Sans ExtraLight"/>
                          <a:cs typeface="Human Sans ExtraLight"/>
                        </a:rPr>
                        <m:t>=0</m:t>
                      </m:r>
                    </m:oMath>
                  </m:oMathPara>
                </a14:m>
              </mc:Choice>
              <mc:Fallback/>
            </mc:AlternateContent>
            <a:endParaRPr lang="en-US" sz="2400">
              <a:solidFill>
                <a:schemeClr val="accent5">
                  <a:lumMod val="50000"/>
                </a:schemeClr>
              </a:solidFill>
              <a:latin typeface="Calibri Light"/>
              <a:ea typeface="Human Sans ExtraLight"/>
              <a:cs typeface="Human Sans Extra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8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482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482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4820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0552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Еще одно свойство определителя</a:t>
            </a:r>
            <a:endParaRPr lang="en-US"/>
          </a:p>
        </p:txBody>
      </p:sp>
      <p:sp>
        <p:nvSpPr>
          <p:cNvPr id="1556991905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605292" y="1542021"/>
            <a:ext cx="11126460" cy="1475147"/>
          </a:xfrm>
        </p:spPr>
        <p:txBody>
          <a:bodyPr/>
          <a:lstStyle/>
          <a:p>
            <a:pPr marL="514350" indent="-514350">
              <a:buFont typeface="+mj-lt"/>
              <a:buAutoNum type="arabicParenR" startAt="7"/>
              <a:defRPr/>
            </a:pPr>
            <a:r>
              <a:rPr lang="ru-RU"/>
              <a:t>Определитель произведения матриц равен произведению определителей</a:t>
            </a:r>
            <a:endParaRPr lang="en-US"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US" sz="28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det</m:t>
                          </m:r>
                        </m:fName>
                        <m:e>
                          <m:r>
                            <m:rPr/>
                            <a:rPr lang="en-US" sz="28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(</m:t>
                          </m:r>
                          <m:r>
                            <m:rPr/>
                            <a:rPr lang="en-US" sz="28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𝐴</m:t>
                          </m:r>
                          <m:r>
                            <m:rPr/>
                            <a:rPr lang="en-US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Cambria Math"/>
                              <a:cs typeface="Human Sans ExtraLight"/>
                            </a:rPr>
                            <m:t>∙</m:t>
                          </m:r>
                          <m:r>
                            <m:rPr/>
                            <a:rPr lang="en-US" sz="28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𝐵</m:t>
                          </m:r>
                          <m:r>
                            <m:rPr/>
                            <a:rPr lang="en-US" sz="28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)</m:t>
                          </m:r>
                        </m:e>
                      </m:func>
                      <m:r>
                        <m:rPr/>
                        <a:rPr lang="en-US" sz="2800" b="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/>
                          <a:ea typeface="Human Sans ExtraLight"/>
                          <a:cs typeface="Human Sans ExtraLight"/>
                        </a:rPr>
                        <m:t>=</m:t>
                      </m:r>
                      <m:func>
                        <m:funcPr>
                          <m:ctrlPr>
                            <a:rPr lang="en-US" sz="28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det</m:t>
                          </m:r>
                        </m:fName>
                        <m:e>
                          <m:r>
                            <m:rPr/>
                            <a:rPr lang="en-US" sz="28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𝐴</m:t>
                          </m:r>
                        </m:e>
                      </m:func>
                      <m:func>
                        <m:funcPr>
                          <m:ctrlPr>
                            <a:rPr lang="en-US" sz="28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</m:ctrlPr>
                        </m:funcPr>
                        <m:fName>
                          <m:r>
                            <m:rPr/>
                            <a:rPr lang="en-US" sz="28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Cambria Math"/>
                              <a:cs typeface="Human Sans ExtraLight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det</m:t>
                          </m:r>
                        </m:fName>
                        <m:e>
                          <m:r>
                            <m:rPr/>
                            <a:rPr lang="en-US" sz="2800" b="0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/>
                              <a:ea typeface="Human Sans ExtraLight"/>
                              <a:cs typeface="Human Sans ExtraLight"/>
                            </a:rPr>
                            <m:t>𝐵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US"/>
          </a:p>
        </p:txBody>
      </p:sp>
      <p:grpSp>
        <p:nvGrpSpPr>
          <p:cNvPr id="174037515" name="Group 16"/>
          <p:cNvGrpSpPr/>
          <p:nvPr/>
        </p:nvGrpSpPr>
        <p:grpSpPr bwMode="auto">
          <a:xfrm>
            <a:off x="2764498" y="3673987"/>
            <a:ext cx="6120680" cy="2004545"/>
            <a:chOff x="3049634" y="3644490"/>
            <a:chExt cx="6120680" cy="2004545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3049634" y="4181687"/>
              <a:ext cx="7200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US" sz="3600" b="0" i="1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</mc:Choice>
                <mc:Fallback/>
              </mc:AlternateContent>
              <a:endParaRPr lang="en-GB" sz="3600"/>
            </a:p>
          </p:txBody>
        </p:sp>
        <p:sp>
          <p:nvSpPr>
            <p:cNvPr id="6" name="TextBox 5"/>
            <p:cNvSpPr txBox="1"/>
            <p:nvPr/>
          </p:nvSpPr>
          <p:spPr bwMode="auto">
            <a:xfrm>
              <a:off x="7874170" y="4181687"/>
              <a:ext cx="12961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3600" b="0" i="1">
                            <a:latin typeface="Cambria Math"/>
                          </a:rPr>
                          <m:t>𝐵𝐴</m:t>
                        </m:r>
                        <m:r>
                          <m:rPr/>
                          <a:rPr lang="en-US" sz="3600" b="0" i="1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</mc:Choice>
                <mc:Fallback/>
              </mc:AlternateContent>
              <a:endParaRPr lang="en-GB" sz="3600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966153" y="3644490"/>
              <a:ext cx="7200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3600" b="0" i="1"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</mc:Choice>
                <mc:Fallback/>
              </mc:AlternateContent>
              <a:endParaRPr lang="en-GB" sz="3600"/>
            </a:p>
          </p:txBody>
        </p:sp>
        <p:sp>
          <p:nvSpPr>
            <p:cNvPr id="8" name="TextBox 7"/>
            <p:cNvSpPr txBox="1"/>
            <p:nvPr/>
          </p:nvSpPr>
          <p:spPr bwMode="auto">
            <a:xfrm>
              <a:off x="6289994" y="3702547"/>
              <a:ext cx="7200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3600" b="0" i="1"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</mc:Choice>
                <mc:Fallback/>
              </mc:AlternateContent>
              <a:endParaRPr lang="en-GB" sz="3600"/>
            </a:p>
          </p:txBody>
        </p:sp>
        <p:sp>
          <p:nvSpPr>
            <p:cNvPr id="9" name="Freeform 30"/>
            <p:cNvSpPr/>
            <p:nvPr/>
          </p:nvSpPr>
          <p:spPr bwMode="auto">
            <a:xfrm>
              <a:off x="3694754" y="4273973"/>
              <a:ext cx="1291770" cy="275771"/>
            </a:xfrm>
            <a:custGeom>
              <a:avLst/>
              <a:gdLst>
                <a:gd name="connsiteX0" fmla="*/ 0 w 2032000"/>
                <a:gd name="connsiteY0" fmla="*/ 190970 h 219998"/>
                <a:gd name="connsiteX1" fmla="*/ 348343 w 2032000"/>
                <a:gd name="connsiteY1" fmla="*/ 60341 h 219998"/>
                <a:gd name="connsiteX2" fmla="*/ 870857 w 2032000"/>
                <a:gd name="connsiteY2" fmla="*/ 16798 h 219998"/>
                <a:gd name="connsiteX3" fmla="*/ 1465943 w 2032000"/>
                <a:gd name="connsiteY3" fmla="*/ 16798 h 219998"/>
                <a:gd name="connsiteX4" fmla="*/ 2032000 w 2032000"/>
                <a:gd name="connsiteY4" fmla="*/ 219998 h 21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2000" h="219998" fill="norm" stroke="1" extrusionOk="0">
                  <a:moveTo>
                    <a:pt x="0" y="190970"/>
                  </a:moveTo>
                  <a:cubicBezTo>
                    <a:pt x="101600" y="140170"/>
                    <a:pt x="203200" y="89370"/>
                    <a:pt x="348343" y="60341"/>
                  </a:cubicBezTo>
                  <a:cubicBezTo>
                    <a:pt x="493486" y="31312"/>
                    <a:pt x="684590" y="24055"/>
                    <a:pt x="870857" y="16798"/>
                  </a:cubicBezTo>
                  <a:cubicBezTo>
                    <a:pt x="1057124" y="9541"/>
                    <a:pt x="1272419" y="-17069"/>
                    <a:pt x="1465943" y="16798"/>
                  </a:cubicBezTo>
                  <a:cubicBezTo>
                    <a:pt x="1659467" y="50665"/>
                    <a:pt x="1845733" y="135331"/>
                    <a:pt x="2032000" y="219998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0" name="Freeform 32"/>
            <p:cNvSpPr/>
            <p:nvPr/>
          </p:nvSpPr>
          <p:spPr bwMode="auto">
            <a:xfrm>
              <a:off x="5927002" y="4358258"/>
              <a:ext cx="2032000" cy="219998"/>
            </a:xfrm>
            <a:custGeom>
              <a:avLst/>
              <a:gdLst>
                <a:gd name="connsiteX0" fmla="*/ 0 w 2032000"/>
                <a:gd name="connsiteY0" fmla="*/ 190970 h 219998"/>
                <a:gd name="connsiteX1" fmla="*/ 348343 w 2032000"/>
                <a:gd name="connsiteY1" fmla="*/ 60341 h 219998"/>
                <a:gd name="connsiteX2" fmla="*/ 870857 w 2032000"/>
                <a:gd name="connsiteY2" fmla="*/ 16798 h 219998"/>
                <a:gd name="connsiteX3" fmla="*/ 1465943 w 2032000"/>
                <a:gd name="connsiteY3" fmla="*/ 16798 h 219998"/>
                <a:gd name="connsiteX4" fmla="*/ 2032000 w 2032000"/>
                <a:gd name="connsiteY4" fmla="*/ 219998 h 21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2000" h="219998" fill="norm" stroke="1" extrusionOk="0">
                  <a:moveTo>
                    <a:pt x="0" y="190970"/>
                  </a:moveTo>
                  <a:cubicBezTo>
                    <a:pt x="101600" y="140170"/>
                    <a:pt x="203200" y="89370"/>
                    <a:pt x="348343" y="60341"/>
                  </a:cubicBezTo>
                  <a:cubicBezTo>
                    <a:pt x="493486" y="31312"/>
                    <a:pt x="684590" y="24055"/>
                    <a:pt x="870857" y="16798"/>
                  </a:cubicBezTo>
                  <a:cubicBezTo>
                    <a:pt x="1057124" y="9541"/>
                    <a:pt x="1272419" y="-17069"/>
                    <a:pt x="1465943" y="16798"/>
                  </a:cubicBezTo>
                  <a:cubicBezTo>
                    <a:pt x="1659467" y="50665"/>
                    <a:pt x="1845733" y="135331"/>
                    <a:pt x="2032000" y="219998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1" name="Freeform 33"/>
            <p:cNvSpPr/>
            <p:nvPr/>
          </p:nvSpPr>
          <p:spPr bwMode="auto">
            <a:xfrm flipV="1">
              <a:off x="3683485" y="4752943"/>
              <a:ext cx="4322012" cy="280527"/>
            </a:xfrm>
            <a:custGeom>
              <a:avLst/>
              <a:gdLst>
                <a:gd name="connsiteX0" fmla="*/ 0 w 2032000"/>
                <a:gd name="connsiteY0" fmla="*/ 190970 h 219998"/>
                <a:gd name="connsiteX1" fmla="*/ 348343 w 2032000"/>
                <a:gd name="connsiteY1" fmla="*/ 60341 h 219998"/>
                <a:gd name="connsiteX2" fmla="*/ 870857 w 2032000"/>
                <a:gd name="connsiteY2" fmla="*/ 16798 h 219998"/>
                <a:gd name="connsiteX3" fmla="*/ 1465943 w 2032000"/>
                <a:gd name="connsiteY3" fmla="*/ 16798 h 219998"/>
                <a:gd name="connsiteX4" fmla="*/ 2032000 w 2032000"/>
                <a:gd name="connsiteY4" fmla="*/ 219998 h 21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2000" h="219998" fill="norm" stroke="1" extrusionOk="0">
                  <a:moveTo>
                    <a:pt x="0" y="190970"/>
                  </a:moveTo>
                  <a:cubicBezTo>
                    <a:pt x="101600" y="140170"/>
                    <a:pt x="203200" y="89370"/>
                    <a:pt x="348343" y="60341"/>
                  </a:cubicBezTo>
                  <a:cubicBezTo>
                    <a:pt x="493486" y="31312"/>
                    <a:pt x="684590" y="24055"/>
                    <a:pt x="870857" y="16798"/>
                  </a:cubicBezTo>
                  <a:cubicBezTo>
                    <a:pt x="1057124" y="9541"/>
                    <a:pt x="1272419" y="-17069"/>
                    <a:pt x="1465943" y="16798"/>
                  </a:cubicBezTo>
                  <a:cubicBezTo>
                    <a:pt x="1659467" y="50665"/>
                    <a:pt x="1845733" y="135331"/>
                    <a:pt x="2032000" y="219998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5078732" y="4166792"/>
              <a:ext cx="7200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3600" b="0" i="1">
                            <a:latin typeface="Cambria Math"/>
                          </a:rPr>
                          <m:t>𝐴</m:t>
                        </m:r>
                        <m:r>
                          <m:rPr/>
                          <a:rPr lang="en-US" sz="3600" b="0" i="1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</mc:Choice>
                <mc:Fallback/>
              </mc:AlternateContent>
              <a:endParaRPr lang="en-GB" sz="3600"/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5368540" y="5002705"/>
              <a:ext cx="7200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3600" b="0" i="1">
                            <a:latin typeface="Cambria Math"/>
                          </a:rPr>
                          <m:t>𝐵𝐴</m:t>
                        </m:r>
                      </m:oMath>
                    </m:oMathPara>
                  </a14:m>
                </mc:Choice>
                <mc:Fallback/>
              </mc:AlternateContent>
              <a:endParaRPr lang="en-GB" sz="3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3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558310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066206" cy="965200"/>
          </a:xfrm>
        </p:spPr>
        <p:txBody>
          <a:bodyPr/>
          <a:lstStyle/>
          <a:p>
            <a:pPr>
              <a:defRPr/>
            </a:pPr>
            <a:r>
              <a:rPr lang="ru-RU"/>
              <a:t>Что делают с единичным квадратом следующие операторы</a:t>
            </a:r>
            <a:r>
              <a:rPr lang="en-US"/>
              <a:t>?</a:t>
            </a:r>
            <a:endParaRPr/>
          </a:p>
        </p:txBody>
      </p:sp>
      <p:sp>
        <p:nvSpPr>
          <p:cNvPr id="778891003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865225"/>
            <a:ext cx="4151745" cy="3293081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 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lnSpc>
                <a:spcPct val="15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 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lnSpc>
                <a:spcPct val="15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1304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Ранг матрицы</a:t>
            </a:r>
            <a:endParaRPr lang="en-US"/>
          </a:p>
        </p:txBody>
      </p:sp>
      <p:sp>
        <p:nvSpPr>
          <p:cNvPr id="1337256373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530928"/>
            <a:ext cx="10997381" cy="5060744"/>
          </a:xfrm>
        </p:spPr>
        <p:txBody>
          <a:bodyPr/>
          <a:lstStyle/>
          <a:p>
            <a:pPr>
              <a:defRPr/>
            </a:pPr>
            <a:r>
              <a:rPr lang="ru-RU"/>
              <a:t>Обозначается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7030A0"/>
                          </a:solidFill>
                          <a:latin typeface="Cambria Math"/>
                        </a:rPr>
                        <m:t>rang</m:t>
                      </m:r>
                      <m:r>
                        <m:rPr/>
                        <a:rPr lang="en-US" b="0" i="1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solidFill>
                            <a:srgbClr val="7030A0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,</a:t>
            </a:r>
            <a:r>
              <a:rPr lang="en-US">
                <a:solidFill>
                  <a:srgbClr val="7030A0"/>
                </a:solidFill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7030A0"/>
                          </a:solidFill>
                          <a:latin typeface="Cambria Math"/>
                        </a:rPr>
                        <m:t>ran</m:t>
                      </m:r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7030A0"/>
                          </a:solidFill>
                          <a:latin typeface="Cambria Math"/>
                        </a:rPr>
                        <m:t>k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7030A0"/>
                          </a:solidFill>
                          <a:latin typeface="Cambria Math"/>
                        </a:rPr>
                        <m:t>rg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7030A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7030A0"/>
                          </a:solidFill>
                          <a:latin typeface="Cambria Math"/>
                        </a:rPr>
                        <m:t>k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ru-RU"/>
              <a:t>Определен для </a:t>
            </a:r>
            <a:r>
              <a:rPr lang="ru-RU" i="1"/>
              <a:t>любых</a:t>
            </a:r>
            <a:r>
              <a:rPr lang="ru-RU"/>
              <a:t> прямоугольных матриц</a:t>
            </a:r>
            <a:endParaRPr/>
          </a:p>
          <a:p>
            <a:pPr>
              <a:defRPr/>
            </a:pPr>
            <a:r>
              <a:rPr lang="ru-RU"/>
              <a:t>Равен </a:t>
            </a:r>
            <a:endParaRPr/>
          </a:p>
          <a:p>
            <a:pPr lvl="1">
              <a:defRPr/>
            </a:pPr>
            <a:r>
              <a:rPr lang="ru-RU"/>
              <a:t>Наивысшему из порядков всевозможных ненулевых миноров</a:t>
            </a:r>
            <a:endParaRPr lang="en-US"/>
          </a:p>
          <a:p>
            <a:pPr lvl="1">
              <a:defRPr/>
            </a:pPr>
            <a:r>
              <a:rPr lang="ru-RU"/>
              <a:t>Размерности пространства в которое матрица трансформирует единичный куб</a:t>
            </a:r>
            <a:r>
              <a:rPr lang="en-US"/>
              <a:t>/</a:t>
            </a:r>
            <a:r>
              <a:rPr lang="ru-RU"/>
              <a:t>квадрат</a:t>
            </a:r>
            <a:endParaRPr/>
          </a:p>
          <a:p>
            <a:pPr lvl="1">
              <a:defRPr/>
            </a:pPr>
            <a:r>
              <a:rPr lang="ru-RU"/>
              <a:t>Максимальному числу линейно независимых строк</a:t>
            </a:r>
            <a:r>
              <a:rPr lang="en-US"/>
              <a:t>/</a:t>
            </a:r>
            <a:r>
              <a:rPr lang="ru-RU"/>
              <a:t>столбцов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7030A0"/>
                          </a:solidFill>
                          <a:latin typeface="Cambria Math"/>
                        </a:rPr>
                        <m:t>rang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𝐴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≥</m:t>
                      </m:r>
                      <m:r>
                        <m:rPr/>
                        <a:rPr lang="ru-RU" b="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 (только у нулевой матрицы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7030A0"/>
                          </a:solidFill>
                          <a:latin typeface="Cambria Math"/>
                        </a:rPr>
                        <m:t>rang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𝐴</m:t>
                      </m:r>
                      <m:r>
                        <m:rPr/>
                        <a:rPr lang="ru-RU" b="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m:rPr/>
                        <a:rPr lang="ru-RU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)</a:t>
            </a: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7030A0"/>
                          </a:solidFill>
                          <a:latin typeface="Cambria Math"/>
                        </a:rPr>
                        <m:t>rang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𝐴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/>
                        <a:rPr lang="en-US" b="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𝑚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</a:t>
            </a:r>
            <a:r>
              <a:rPr lang="ru-RU"/>
              <a:t>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7030A0"/>
                          </a:solidFill>
                          <a:latin typeface="Cambria Math"/>
                        </a:rPr>
                        <m:t>rang</m:t>
                      </m:r>
                      <m:r>
                        <m:rPr/>
                        <a:rPr lang="ru-RU" b="0" i="1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𝐴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/>
                        <a:rPr lang="en-US" b="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</a:t>
            </a:r>
            <a:r>
              <a:rPr lang="ru-RU"/>
              <a:t>для любой матрицы размера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</a:rPr>
                        <m:t>𝑛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m:rPr/>
                        <a:rPr lang="en-US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𝑚</m:t>
                      </m:r>
                    </m:oMath>
                  </m:oMathPara>
                </a14:m>
              </mc:Choice>
              <mc:Fallback/>
            </mc:AlternateContent>
            <a:endParaRPr lang="ru-RU"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682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Линейно независимые векторы</a:t>
            </a:r>
            <a:endParaRPr lang="en-US"/>
          </a:p>
        </p:txBody>
      </p:sp>
      <p:sp>
        <p:nvSpPr>
          <p:cNvPr id="229673297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530928"/>
            <a:ext cx="11656142" cy="3457228"/>
          </a:xfrm>
        </p:spPr>
        <p:txBody>
          <a:bodyPr/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b="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b="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b="1" i="0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b="0" i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b="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b="1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b="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b="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b="0" i="1">
                              <a:latin typeface="Cambria Math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b="1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b="0" i="1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/>
              <a:t> </a:t>
            </a:r>
            <a:r>
              <a:rPr lang="ru-RU"/>
              <a:t>–</a:t>
            </a:r>
            <a:r>
              <a:rPr lang="en-US"/>
              <a:t> </a:t>
            </a:r>
            <a:r>
              <a:rPr lang="ru-RU" i="1">
                <a:solidFill>
                  <a:srgbClr val="7030A0"/>
                </a:solidFill>
              </a:rPr>
              <a:t>линейная комбинация </a:t>
            </a:r>
            <a:r>
              <a:rPr lang="ru-RU"/>
              <a:t>векторов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b="1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b="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b="1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b="0" i="1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b="1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br>
              <a:rPr lang="en-US"/>
            </a:b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b="0" i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i="1">
                          <a:latin typeface="Cambria Math"/>
                        </a:rPr>
                        <m:t>,</m:t>
                      </m:r>
                      <m:r>
                        <m:rPr/>
                        <a:rPr lang="en-US" b="0" i="1">
                          <a:latin typeface="Cambria Math"/>
                        </a:rPr>
                        <m:t>…,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/>
              <a:t> </a:t>
            </a:r>
            <a:r>
              <a:rPr lang="ru-RU"/>
              <a:t>–</a:t>
            </a:r>
            <a:r>
              <a:rPr lang="en-US"/>
              <a:t> </a:t>
            </a:r>
            <a:r>
              <a:rPr lang="ru-RU"/>
              <a:t>числа</a:t>
            </a:r>
            <a:endParaRPr/>
          </a:p>
          <a:p>
            <a:pPr>
              <a:defRPr/>
            </a:pPr>
            <a:r>
              <a:rPr lang="ru-RU"/>
              <a:t>Векторы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b="1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b="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b="1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b="0" i="1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b="1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/>
              <a:t> </a:t>
            </a:r>
            <a:r>
              <a:rPr lang="ru-RU" i="1">
                <a:solidFill>
                  <a:srgbClr val="7030A0"/>
                </a:solidFill>
              </a:rPr>
              <a:t>линейно независимы</a:t>
            </a:r>
            <a:r>
              <a:rPr lang="ru-RU"/>
              <a:t>, если их линейная комбинация </a:t>
            </a:r>
            <a:r>
              <a:rPr lang="ru-RU" b="1"/>
              <a:t>не</a:t>
            </a:r>
            <a:r>
              <a:rPr lang="ru-RU"/>
              <a:t> равна нуль-вектору</a:t>
            </a:r>
            <a:br>
              <a:rPr lang="ru-RU"/>
            </a:br>
            <a:r>
              <a:rPr lang="ru-RU" sz="2400">
                <a:solidFill>
                  <a:srgbClr val="264553"/>
                </a:solidFill>
              </a:rPr>
              <a:t>(за исключением случая, когда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i="1">
                              <a:solidFill>
                                <a:srgbClr val="26455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26455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sz="2400" i="1">
                              <a:solidFill>
                                <a:srgbClr val="26455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ru-RU" sz="2400" b="0" i="0">
                          <a:solidFill>
                            <a:srgbClr val="264553"/>
                          </a:solidFill>
                          <a:latin typeface="Cambria Math"/>
                        </a:rPr>
                        <m:t>=</m:t>
                      </m:r>
                      <m:r>
                        <m:rPr/>
                        <a:rPr lang="en-US" sz="2400" i="1">
                          <a:solidFill>
                            <a:srgbClr val="264553"/>
                          </a:solidFill>
                          <a:latin typeface="Cambria Math"/>
                        </a:rPr>
                        <m:t>…</m:t>
                      </m:r>
                      <m:r>
                        <m:rPr/>
                        <a:rPr lang="ru-RU" sz="2400" b="0" i="1">
                          <a:solidFill>
                            <a:srgbClr val="264553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26455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i="1">
                              <a:solidFill>
                                <a:srgbClr val="26455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m:rPr/>
                            <a:rPr lang="en-US" sz="2400" i="1">
                              <a:solidFill>
                                <a:srgbClr val="264553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m:rPr/>
                        <a:rPr lang="ru-RU" sz="2400" b="0" i="0">
                          <a:solidFill>
                            <a:srgbClr val="264553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</mc:Choice>
              <mc:Fallback/>
            </mc:AlternateContent>
            <a:r>
              <a:rPr lang="ru-RU" sz="2400">
                <a:solidFill>
                  <a:srgbClr val="264553"/>
                </a:solidFill>
              </a:rPr>
              <a:t>)</a:t>
            </a:r>
            <a:endParaRPr/>
          </a:p>
          <a:p>
            <a:pPr>
              <a:defRPr/>
            </a:pPr>
            <a:r>
              <a:rPr lang="ru-RU"/>
              <a:t>В противном случае векторы называют </a:t>
            </a:r>
            <a:r>
              <a:rPr lang="ru-RU" i="1">
                <a:solidFill>
                  <a:srgbClr val="7030A0"/>
                </a:solidFill>
              </a:rPr>
              <a:t>линейно зависимыми</a:t>
            </a:r>
            <a:endParaRPr/>
          </a:p>
          <a:p>
            <a:pPr marL="0" indent="0">
              <a:buNone/>
              <a:defRPr/>
            </a:pPr>
            <a:endParaRPr lang="en-US"/>
          </a:p>
        </p:txBody>
      </p:sp>
      <p:sp>
        <p:nvSpPr>
          <p:cNvPr id="363806009" name="Rectangle: Rounded Corners 12"/>
          <p:cNvSpPr/>
          <p:nvPr/>
        </p:nvSpPr>
        <p:spPr bwMode="auto">
          <a:xfrm>
            <a:off x="2656577" y="5755688"/>
            <a:ext cx="8996516" cy="997731"/>
          </a:xfrm>
          <a:prstGeom prst="roundRect">
            <a:avLst>
              <a:gd name="adj" fmla="val 16667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indent="-228600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2400"/>
              <a:t>Трехмерные векторы</a:t>
            </a: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sz="24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240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ru-RU" sz="240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24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sz="240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2400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ru-RU" sz="2400"/>
              <a:t>линейно зависимы, если они компланарны</a:t>
            </a:r>
            <a:r>
              <a:rPr lang="en-US" sz="2400"/>
              <a:t>/</a:t>
            </a:r>
            <a:r>
              <a:rPr lang="ru-RU" sz="2400"/>
              <a:t>лежат в одной плоскости</a:t>
            </a:r>
            <a:endParaRPr lang="en-US" sz="2400"/>
          </a:p>
        </p:txBody>
      </p:sp>
      <p:sp>
        <p:nvSpPr>
          <p:cNvPr id="1991012857" name="Rectangle: Rounded Corners 13"/>
          <p:cNvSpPr/>
          <p:nvPr/>
        </p:nvSpPr>
        <p:spPr bwMode="auto">
          <a:xfrm>
            <a:off x="1052052" y="4597818"/>
            <a:ext cx="8996516" cy="997731"/>
          </a:xfrm>
          <a:prstGeom prst="roundRect">
            <a:avLst>
              <a:gd name="adj" fmla="val 16667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indent="-228600">
              <a:lnSpc>
                <a:spcPct val="107000"/>
              </a:lnSpc>
              <a:spcAft>
                <a:spcPts val="800"/>
              </a:spcAft>
              <a:defRPr/>
            </a:pPr>
            <a:r>
              <a:rPr lang="ru-RU" sz="2400"/>
              <a:t>Двумерные векторы</a:t>
            </a: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en-US" sz="240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400"/>
              <a:t> 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>
                              <a:latin typeface="Cambria Math"/>
                            </a:rPr>
                            <m:t>𝐱</m:t>
                          </m:r>
                        </m:e>
                        <m:sub>
                          <m:r>
                            <m:rPr/>
                            <a:rPr lang="ru-RU" sz="240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400"/>
              <a:t> </a:t>
            </a:r>
            <a:r>
              <a:rPr lang="ru-RU" sz="2400"/>
              <a:t>линейно зависимы, если они коллинеарны</a:t>
            </a:r>
            <a:r>
              <a:rPr lang="en-US" sz="2400"/>
              <a:t>/</a:t>
            </a:r>
            <a:r>
              <a:rPr lang="ru-RU" sz="2400"/>
              <a:t>пропорциональны</a:t>
            </a:r>
            <a:r>
              <a:rPr lang="en-US" sz="2400"/>
              <a:t>/</a:t>
            </a:r>
            <a:r>
              <a:rPr lang="ru-RU" sz="2400"/>
              <a:t>лежат на одной прямой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01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1012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1012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3806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3806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806009" grpId="0" animBg="1"/>
      <p:bldP spid="19910128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7279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Свойства ранга</a:t>
            </a:r>
            <a:endParaRPr lang="en-US"/>
          </a:p>
        </p:txBody>
      </p:sp>
      <p:sp>
        <p:nvSpPr>
          <p:cNvPr id="1991874343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530928"/>
            <a:ext cx="10918723" cy="4725589"/>
          </a:xfrm>
        </p:spPr>
        <p:txBody>
          <a:bodyPr/>
          <a:lstStyle/>
          <a:p>
            <a:pPr>
              <a:defRPr/>
            </a:pPr>
            <a:r>
              <a:rPr lang="ru-RU"/>
              <a:t>Ранг не изменится при</a:t>
            </a:r>
            <a:endParaRPr/>
          </a:p>
          <a:p>
            <a:pPr lvl="1">
              <a:defRPr/>
            </a:pPr>
            <a:r>
              <a:rPr lang="ru-RU"/>
              <a:t>транспонировании</a:t>
            </a:r>
            <a:endParaRPr/>
          </a:p>
          <a:p>
            <a:pPr lvl="1">
              <a:defRPr/>
            </a:pPr>
            <a:r>
              <a:rPr lang="ru-RU" sz="2400"/>
              <a:t>вычеркивании из матрицы </a:t>
            </a:r>
            <a:endParaRPr/>
          </a:p>
          <a:p>
            <a:pPr lvl="2">
              <a:defRPr/>
            </a:pPr>
            <a:r>
              <a:rPr lang="ru-RU"/>
              <a:t>нулевой строки</a:t>
            </a:r>
            <a:r>
              <a:rPr lang="en-US"/>
              <a:t>/</a:t>
            </a:r>
            <a:r>
              <a:rPr lang="ru-RU"/>
              <a:t>столбца</a:t>
            </a:r>
            <a:endParaRPr lang="en-US" sz="2800"/>
          </a:p>
          <a:p>
            <a:pPr lvl="2">
              <a:defRPr/>
            </a:pPr>
            <a:r>
              <a:rPr lang="ru-RU"/>
              <a:t>строки</a:t>
            </a:r>
            <a:r>
              <a:rPr lang="en-US"/>
              <a:t>/</a:t>
            </a:r>
            <a:r>
              <a:rPr lang="ru-RU"/>
              <a:t>столбца, пропорциональной другой строке</a:t>
            </a:r>
            <a:r>
              <a:rPr lang="en-US"/>
              <a:t>/</a:t>
            </a:r>
            <a:r>
              <a:rPr lang="ru-RU"/>
              <a:t>столбцу</a:t>
            </a:r>
            <a:endParaRPr/>
          </a:p>
          <a:p>
            <a:pPr lvl="1">
              <a:defRPr/>
            </a:pPr>
            <a:r>
              <a:rPr lang="ru-RU"/>
              <a:t>элементарных преобразованиях матрицы</a:t>
            </a:r>
            <a:r>
              <a:rPr lang="en-US"/>
              <a:t>:</a:t>
            </a:r>
            <a:endParaRPr lang="ru-RU"/>
          </a:p>
          <a:p>
            <a:pPr marL="1371600" lvl="2" indent="-457200">
              <a:buFont typeface="+mj-lt"/>
              <a:buAutoNum type="arabicParenR"/>
              <a:defRPr/>
            </a:pPr>
            <a:r>
              <a:rPr lang="ru-RU" sz="2400"/>
              <a:t>перестановке местами строк</a:t>
            </a:r>
            <a:r>
              <a:rPr lang="en-US" sz="2400"/>
              <a:t>/</a:t>
            </a:r>
            <a:r>
              <a:rPr lang="ru-RU" sz="2400"/>
              <a:t>столбцов</a:t>
            </a:r>
            <a:endParaRPr/>
          </a:p>
          <a:p>
            <a:pPr marL="1371600" lvl="2" indent="-457200">
              <a:buFont typeface="+mj-lt"/>
              <a:buAutoNum type="arabicParenR"/>
              <a:defRPr/>
            </a:pPr>
            <a:r>
              <a:rPr lang="ru-RU" sz="2400"/>
              <a:t>умножении всех элементов строки</a:t>
            </a:r>
            <a:r>
              <a:rPr lang="en-US" sz="2400"/>
              <a:t>/</a:t>
            </a:r>
            <a:r>
              <a:rPr lang="ru-RU" sz="2400"/>
              <a:t>столбца на число, отличное от 0</a:t>
            </a:r>
            <a:endParaRPr/>
          </a:p>
          <a:p>
            <a:pPr marL="1371600" lvl="2" indent="-457200">
              <a:buFont typeface="+mj-lt"/>
              <a:buAutoNum type="arabicParenR"/>
              <a:defRPr/>
            </a:pPr>
            <a:r>
              <a:rPr lang="ru-RU" sz="2400"/>
              <a:t>прибавлении ко всем элементам строки</a:t>
            </a:r>
            <a:r>
              <a:rPr lang="en-US" sz="2400"/>
              <a:t>/</a:t>
            </a:r>
            <a:r>
              <a:rPr lang="ru-RU" sz="2400"/>
              <a:t>столбца соответствующих элементов другой строки</a:t>
            </a:r>
            <a:r>
              <a:rPr lang="en-US" sz="2400"/>
              <a:t>/</a:t>
            </a:r>
            <a:r>
              <a:rPr lang="ru-RU" sz="2400"/>
              <a:t>столбца, умноженных на одно и то же число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0537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Примеры</a:t>
            </a:r>
            <a:endParaRPr lang="en-US"/>
          </a:p>
        </p:txBody>
      </p:sp>
      <p:sp>
        <p:nvSpPr>
          <p:cNvPr id="731248663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206464"/>
            <a:ext cx="10712245" cy="4834465"/>
          </a:xfrm>
        </p:spPr>
        <p:txBody>
          <a:bodyPr/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i="0">
                          <a:latin typeface="Cambria Math"/>
                        </a:rPr>
                        <m:t>rang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</a:rPr>
                        <m:t>0:</m:t>
                      </m:r>
                    </m:oMath>
                  </m:oMathPara>
                </a14:m>
              </mc:Choice>
              <mc:Fallback/>
            </mc:AlternateContent>
            <a:r>
              <a:rPr lang="en-US" i="0">
                <a:latin typeface="Cambri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b="0" i="1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i="0">
              <a:latin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i="0">
                          <a:latin typeface="Cambria Math"/>
                        </a:rPr>
                        <m:t>rang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</a:rPr>
                        <m:t>1:</m:t>
                      </m:r>
                    </m:oMath>
                  </m:oMathPara>
                </a14:m>
              </mc:Choice>
              <mc:Fallback/>
            </mc:AlternateContent>
            <a:r>
              <a:rPr lang="en-US">
                <a:latin typeface="Cambri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>
                <a:latin typeface="Cambri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>
                <a:latin typeface="Cambri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>
              <a:latin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i="0">
                          <a:latin typeface="Cambria Math"/>
                        </a:rPr>
                        <m:t>rang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</a:rPr>
                        <m:t>2: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rang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  <m:r>
                        <m:rPr/>
                        <a:rPr lang="en-US" b="0" i="1">
                          <a:latin typeface="Cambria Math"/>
                        </a:rPr>
                        <m:t>3</m:t>
                      </m:r>
                      <m:r>
                        <m:rPr/>
                        <a:rPr lang="en-US" i="1">
                          <a:latin typeface="Cambria Math"/>
                        </a:rPr>
                        <m:t>: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3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/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/>
                                  <a:rPr lang="en-US" b="0" i="1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EPAM Master 2021.3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1"/>
        </a:solidFill>
        <a:ln>
          <a:noFill/>
        </a:ln>
        <a:effectLst/>
      </a:spPr>
      <a:bodyPr/>
      <a:lstStyle/>
    </a:spDef>
    <a:lnDef>
      <a:spPr bwMode="auto">
        <a:prstGeom prst="rect">
          <a:avLst/>
        </a:prstGeom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/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5c9ed8-4a47-4862-b7c0-361fb59caa7d">
      <Terms xmlns="http://schemas.microsoft.com/office/infopath/2007/PartnerControls"/>
    </lcf76f155ced4ddcb4097134ff3c332f>
    <TaxCatchAll xmlns="cd2bce81-b418-4cd8-9935-4e402d3140b0" xsi:nil="true"/>
    <SharedWithUsers xmlns="cd2bce81-b418-4cd8-9935-4e402d3140b0">
      <UserInfo>
        <DisplayName>Elizaveta An</DisplayName>
        <AccountId>646</AccountId>
        <AccountType/>
      </UserInfo>
      <UserInfo>
        <DisplayName>Oksana Pelekhata</DisplayName>
        <AccountId>159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B9ED9C4810624CBA6425FEDBF45585" ma:contentTypeVersion="16" ma:contentTypeDescription="Create a new document." ma:contentTypeScope="" ma:versionID="824be8ff7317d9be023f1584bda9d6f9">
  <xsd:schema xmlns:xsd="http://www.w3.org/2001/XMLSchema" xmlns:xs="http://www.w3.org/2001/XMLSchema" xmlns:p="http://schemas.microsoft.com/office/2006/metadata/properties" xmlns:ns2="cd2bce81-b418-4cd8-9935-4e402d3140b0" xmlns:ns3="735c9ed8-4a47-4862-b7c0-361fb59caa7d" targetNamespace="http://schemas.microsoft.com/office/2006/metadata/properties" ma:root="true" ma:fieldsID="a3f2903b10cf6cd28a1b93c336d02566" ns2:_="" ns3:_="">
    <xsd:import namespace="cd2bce81-b418-4cd8-9935-4e402d3140b0"/>
    <xsd:import namespace="735c9ed8-4a47-4862-b7c0-361fb59caa7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2bce81-b418-4cd8-9935-4e402d3140b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0d2e220-805a-4bc8-9a85-1f3ceb62e78e}" ma:internalName="TaxCatchAll" ma:showField="CatchAllData" ma:web="cd2bce81-b418-4cd8-9935-4e402d3140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5c9ed8-4a47-4862-b7c0-361fb59caa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E13583499748489E6E697426926B1B" ma:contentTypeVersion="7" ma:contentTypeDescription="Create a new document." ma:contentTypeScope="" ma:versionID="4698d029c720b22d9d5a5a82c4abea41">
  <xsd:schema xmlns:xsd="http://www.w3.org/2001/XMLSchema" xmlns:xs="http://www.w3.org/2001/XMLSchema" xmlns:p="http://schemas.microsoft.com/office/2006/metadata/properties" xmlns:ns2="f8d8e8b1-85bd-4cc8-ac20-30bdad921333" targetNamespace="http://schemas.microsoft.com/office/2006/metadata/properties" ma:root="true" ma:fieldsID="ef231db1fc3b01c159e64322650a0347" ns2:_="">
    <xsd:import namespace="f8d8e8b1-85bd-4cc8-ac20-30bdad921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d8e8b1-85bd-4cc8-ac20-30bdad921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2E3419-B313-4514-AD24-D56E1F80A63A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cd2bce81-b418-4cd8-9935-4e402d3140b0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35c9ed8-4a47-4862-b7c0-361fb59caa7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7CA341C-74C1-4577-8C96-EF2605DC52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B629E0-D164-4DE9-9960-BBCB03FE2C40}">
  <ds:schemaRefs>
    <ds:schemaRef ds:uri="735c9ed8-4a47-4862-b7c0-361fb59caa7d"/>
    <ds:schemaRef ds:uri="cd2bce81-b418-4cd8-9935-4e402d3140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6A7E40E1-D152-4CCB-BAAC-C38A2A98F852}"/>
</file>

<file path=customXml/itemProps5.xml><?xml version="1.0" encoding="utf-8"?>
<ds:datastoreItem xmlns:ds="http://schemas.openxmlformats.org/officeDocument/2006/customXml" ds:itemID="{8FBEF563-E45A-445C-91E9-AD299953A9F4}"/>
</file>

<file path=customXml/itemProps6.xml><?xml version="1.0" encoding="utf-8"?>
<ds:datastoreItem xmlns:ds="http://schemas.openxmlformats.org/officeDocument/2006/customXml" ds:itemID="{A77ACDF0-C158-4681-B149-010C629755C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ONLYOFFICE/9.0.0.172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/>
  <cp:revision>115</cp:revision>
  <dcterms:created xsi:type="dcterms:W3CDTF">2020-10-27T12:12:11Z</dcterms:created>
  <dcterms:modified xsi:type="dcterms:W3CDTF">2025-10-17T07:09:26Z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0x0101002CE13583499748489E6E697426926B1B</vt:lpwstr>
  </property>
  <property fmtid="{D5CDD505-2E9C-101B-9397-08002B2CF9AE}" pid="3" name="MediaServiceImageTags">
    <vt:lpwstr/>
  </property>
</Properties>
</file>